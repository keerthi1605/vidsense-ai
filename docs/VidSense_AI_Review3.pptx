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Title slide. Fill in your name/team, guide name, and review date before presenting.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Framing the whole talk around the panel's own 7 criteria signals organization and makes it easy for them to score each section as you go.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MUST be edited with your real Review 2 comments and what you actually did about each one -- do not present the placeholder text as-is.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your department's approved plan has different milestone names/dates, swap this table for those exact milestones.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six modules are live and demonstrable right now on the running system, not mocked.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independent pipelines feed a common retrieval + RAG layer. Emphasize the timestamp-preservation invariant.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choice here was made after checking this machine's actual hardware constraints, not by defaulting to the biggest available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four decisions are the ones most worth being able to explain unprompted in Q&amp;A.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number here came from a real run against real models -- point out that mocked tests were used only where a real model call would make the suite slow/nondeterministic, and real end-to-end runs cover the rest.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exact Q&amp;A was run live on the working frontend during preparation for this review, against a real downloaded YouTube lecture. If time allows, switch to a live demo instead of this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real bugs hit and fixed during this project, each diagnosed from actual logs/evidence rather than guessed at -- a strong, concrete answer if the panel asks 'what was hard'.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honest here: the content exists and is accurate, but confirm whether your department wants it repackaged into a specific chapter template.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Volunteering limitations before being asked demonstrates maturity and heads off panel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Frame this as a continuation of an already-tested foundation, not a restart.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specific and honest about individual contribution -- panels probe this directly.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Closing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2163A"/>
        </a:solidFill>
      </p:bgPr>
    </p:bg>
    <p:spTree>
      <p:nvGrpSpPr>
        <p:cNvPr id="1" name=""/>
        <p:cNvGrpSpPr/>
        <p:nvPr/>
      </p:nvGrpSpPr>
      <p:grpSpPr>
        <a:xfrm>
          <a:off x="0" y="0"/>
          <a:ext cx="0" cy="0"/>
          <a:chOff x="0" y="0"/>
          <a:chExt cx="0" cy="0"/>
        </a:xfrm>
      </p:grpSpPr>
      <p:sp>
        <p:nvSpPr>
          <p:cNvPr id="2" name="Shape 0"/>
          <p:cNvSpPr/>
          <p:nvPr/>
        </p:nvSpPr>
        <p:spPr>
          <a:xfrm>
            <a:off x="9418320" y="-1645920"/>
            <a:ext cx="4572000" cy="4572000"/>
          </a:xfrm>
          <a:prstGeom prst="ellipse">
            <a:avLst/>
          </a:prstGeom>
          <a:solidFill>
            <a:srgbClr val="1B2050"/>
          </a:solidFill>
          <a:ln/>
        </p:spPr>
      </p:sp>
      <p:sp>
        <p:nvSpPr>
          <p:cNvPr id="3" name="Shape 1"/>
          <p:cNvSpPr/>
          <p:nvPr/>
        </p:nvSpPr>
        <p:spPr>
          <a:xfrm>
            <a:off x="-1371600" y="4754880"/>
            <a:ext cx="3657600" cy="3657600"/>
          </a:xfrm>
          <a:prstGeom prst="ellipse">
            <a:avLst/>
          </a:prstGeom>
          <a:solidFill>
            <a:srgbClr val="1B2050"/>
          </a:solidFill>
          <a:ln/>
        </p:spPr>
      </p:sp>
      <p:sp>
        <p:nvSpPr>
          <p:cNvPr id="4" name="Text 2"/>
          <p:cNvSpPr txBox="1"/>
          <p:nvPr/>
        </p:nvSpPr>
        <p:spPr>
          <a:xfrm>
            <a:off x="822960" y="2148840"/>
            <a:ext cx="10058400" cy="1005840"/>
          </a:xfrm>
          <a:prstGeom prst="rect">
            <a:avLst/>
          </a:prstGeom>
          <a:noFill/>
          <a:ln/>
        </p:spPr>
        <p:txBody>
          <a:bodyPr wrap="square" lIns="0" tIns="0" rIns="0" bIns="0" rtlCol="0" anchor="ctr"/>
          <a:lstStyle/>
          <a:p>
            <a:pPr indent="0" marL="0">
              <a:buNone/>
            </a:pPr>
            <a:r>
              <a:rPr lang="en-US" sz="5400" b="1" dirty="0">
                <a:solidFill>
                  <a:srgbClr val="FFFFFF"/>
                </a:solidFill>
                <a:latin typeface="Cambria" pitchFamily="34" charset="0"/>
                <a:ea typeface="Cambria" pitchFamily="34" charset="-122"/>
                <a:cs typeface="Cambria" pitchFamily="34" charset="-120"/>
              </a:rPr>
              <a:t>VidSense AI</a:t>
            </a:r>
            <a:endParaRPr lang="en-US" sz="5400" dirty="0"/>
          </a:p>
        </p:txBody>
      </p:sp>
      <p:sp>
        <p:nvSpPr>
          <p:cNvPr id="5" name="Text 3"/>
          <p:cNvSpPr txBox="1"/>
          <p:nvPr/>
        </p:nvSpPr>
        <p:spPr>
          <a:xfrm>
            <a:off x="868680" y="3063240"/>
            <a:ext cx="9601200" cy="502920"/>
          </a:xfrm>
          <a:prstGeom prst="rect">
            <a:avLst/>
          </a:prstGeom>
          <a:noFill/>
          <a:ln/>
        </p:spPr>
        <p:txBody>
          <a:bodyPr wrap="square" lIns="0" tIns="0" rIns="0" bIns="0" rtlCol="0" anchor="ctr"/>
          <a:lstStyle/>
          <a:p>
            <a:pPr indent="0" marL="0">
              <a:buNone/>
            </a:pPr>
            <a:r>
              <a:rPr lang="en-US" sz="2000" dirty="0">
                <a:solidFill>
                  <a:srgbClr val="C7D0F5"/>
                </a:solidFill>
                <a:latin typeface="Calibri" pitchFamily="34" charset="0"/>
                <a:ea typeface="Calibri" pitchFamily="34" charset="-122"/>
                <a:cs typeface="Calibri" pitchFamily="34" charset="-120"/>
              </a:rPr>
              <a:t>Multi-Modal Semantic Video Search &amp; Question Answering using RAG</a:t>
            </a:r>
            <a:endParaRPr lang="en-US" sz="2000" dirty="0"/>
          </a:p>
        </p:txBody>
      </p:sp>
      <p:sp>
        <p:nvSpPr>
          <p:cNvPr id="6" name="Shape 4"/>
          <p:cNvSpPr/>
          <p:nvPr/>
        </p:nvSpPr>
        <p:spPr>
          <a:xfrm>
            <a:off x="868680" y="3794760"/>
            <a:ext cx="3246120" cy="457200"/>
          </a:xfrm>
          <a:prstGeom prst="roundRect">
            <a:avLst>
              <a:gd name="adj" fmla="val 16000"/>
            </a:avLst>
          </a:prstGeom>
          <a:solidFill>
            <a:srgbClr val="6D8DFF"/>
          </a:solidFill>
          <a:ln/>
        </p:spPr>
      </p:sp>
      <p:sp>
        <p:nvSpPr>
          <p:cNvPr id="7" name="Text 5"/>
          <p:cNvSpPr txBox="1"/>
          <p:nvPr/>
        </p:nvSpPr>
        <p:spPr>
          <a:xfrm>
            <a:off x="868680" y="3794760"/>
            <a:ext cx="324612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REVIEW 3 — PROGRESS PRESENTATION</a:t>
            </a:r>
            <a:endParaRPr lang="en-US" sz="1300" dirty="0"/>
          </a:p>
        </p:txBody>
      </p:sp>
      <p:sp>
        <p:nvSpPr>
          <p:cNvPr id="8" name="Text 6"/>
          <p:cNvSpPr txBox="1"/>
          <p:nvPr/>
        </p:nvSpPr>
        <p:spPr>
          <a:xfrm>
            <a:off x="868680" y="4617720"/>
            <a:ext cx="7315200" cy="36576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Presented by: </a:t>
            </a:r>
            <a:pPr indent="0" marL="0">
              <a:buNone/>
            </a:pPr>
            <a:r>
              <a:rPr lang="en-US" sz="1500" i="1" dirty="0">
                <a:solidFill>
                  <a:srgbClr val="FF8A80"/>
                </a:solidFill>
                <a:latin typeface="Calibri" pitchFamily="34" charset="0"/>
                <a:ea typeface="Calibri" pitchFamily="34" charset="-122"/>
                <a:cs typeface="Calibri" pitchFamily="34" charset="-120"/>
              </a:rPr>
              <a:t>[Your Name / Team Members]</a:t>
            </a:r>
            <a:endParaRPr lang="en-US" sz="1500" dirty="0"/>
          </a:p>
        </p:txBody>
      </p:sp>
      <p:sp>
        <p:nvSpPr>
          <p:cNvPr id="9" name="Text 7"/>
          <p:cNvSpPr txBox="1"/>
          <p:nvPr/>
        </p:nvSpPr>
        <p:spPr>
          <a:xfrm>
            <a:off x="868680" y="4983480"/>
            <a:ext cx="7315200" cy="36576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Guide: </a:t>
            </a:r>
            <a:pPr indent="0" marL="0">
              <a:buNone/>
            </a:pPr>
            <a:r>
              <a:rPr lang="en-US" sz="1500" i="1" dirty="0">
                <a:solidFill>
                  <a:srgbClr val="FF8A80"/>
                </a:solidFill>
                <a:latin typeface="Calibri" pitchFamily="34" charset="0"/>
                <a:ea typeface="Calibri" pitchFamily="34" charset="-122"/>
                <a:cs typeface="Calibri" pitchFamily="34" charset="-120"/>
              </a:rPr>
              <a:t>[Guide Name]</a:t>
            </a:r>
            <a:pPr indent="0" marL="0">
              <a:buNone/>
            </a:pPr>
            <a:r>
              <a:rPr lang="en-US" sz="1500" b="1" dirty="0">
                <a:solidFill>
                  <a:srgbClr val="FFFFFF"/>
                </a:solidFill>
                <a:latin typeface="Calibri" pitchFamily="34" charset="0"/>
                <a:ea typeface="Calibri" pitchFamily="34" charset="-122"/>
                <a:cs typeface="Calibri" pitchFamily="34" charset="-120"/>
              </a:rPr>
              <a:t>     Date: </a:t>
            </a:r>
            <a:pPr indent="0" marL="0">
              <a:buNone/>
            </a:pPr>
            <a:r>
              <a:rPr lang="en-US" sz="1500" i="1" dirty="0">
                <a:solidFill>
                  <a:srgbClr val="FF8A80"/>
                </a:solidFill>
                <a:latin typeface="Calibri" pitchFamily="34" charset="0"/>
                <a:ea typeface="Calibri" pitchFamily="34" charset="-122"/>
                <a:cs typeface="Calibri" pitchFamily="34" charset="-120"/>
              </a:rPr>
              <a:t>[Review Date]</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EF2FA"/>
        </a:solidFill>
      </p:bgPr>
    </p:bg>
    <p:spTree>
      <p:nvGrpSpPr>
        <p:cNvPr id="1" name=""/>
        <p:cNvGrpSpPr/>
        <p:nvPr/>
      </p:nvGrpSpPr>
      <p:grpSpPr>
        <a:xfrm>
          <a:off x="0" y="0"/>
          <a:ext cx="0" cy="0"/>
          <a:chOff x="0" y="0"/>
          <a:chExt cx="0" cy="0"/>
        </a:xfrm>
      </p:grpSpPr>
      <p:sp>
        <p:nvSpPr>
          <p:cNvPr id="2" name="Text 0"/>
          <p:cNvSpPr txBox="1"/>
          <p:nvPr/>
        </p:nvSpPr>
        <p:spPr>
          <a:xfrm>
            <a:off x="548640" y="320040"/>
            <a:ext cx="7315200" cy="320040"/>
          </a:xfrm>
          <a:prstGeom prst="rect">
            <a:avLst/>
          </a:prstGeom>
          <a:noFill/>
          <a:ln/>
        </p:spPr>
        <p:txBody>
          <a:bodyPr wrap="square" lIns="0" tIns="0" rIns="0" bIns="0" rtlCol="0" anchor="ctr"/>
          <a:lstStyle/>
          <a:p>
            <a:pPr indent="0" marL="0">
              <a:buNone/>
            </a:pPr>
            <a:r>
              <a:rPr lang="en-US" sz="1300" b="1" spc="200" kern="0" dirty="0">
                <a:solidFill>
                  <a:srgbClr val="6D8DFF"/>
                </a:solidFill>
                <a:latin typeface="Calibri" pitchFamily="34" charset="0"/>
                <a:ea typeface="Calibri" pitchFamily="34" charset="-122"/>
                <a:cs typeface="Calibri" pitchFamily="34" charset="-120"/>
              </a:rPr>
              <a:t>AGENDA</a:t>
            </a:r>
            <a:endParaRPr lang="en-US" sz="1300" dirty="0"/>
          </a:p>
        </p:txBody>
      </p:sp>
      <p:sp>
        <p:nvSpPr>
          <p:cNvPr id="3" name="Text 1"/>
          <p:cNvSpPr txBox="1"/>
          <p:nvPr/>
        </p:nvSpPr>
        <p:spPr>
          <a:xfrm>
            <a:off x="548640" y="621792"/>
            <a:ext cx="10515600" cy="640080"/>
          </a:xfrm>
          <a:prstGeom prst="rect">
            <a:avLst/>
          </a:prstGeom>
          <a:noFill/>
          <a:ln/>
        </p:spPr>
        <p:txBody>
          <a:bodyPr wrap="square" lIns="0" tIns="0" rIns="0" bIns="0" rtlCol="0" anchor="ctr"/>
          <a:lstStyle/>
          <a:p>
            <a:pPr indent="0" marL="0">
              <a:buNone/>
            </a:pPr>
            <a:r>
              <a:rPr lang="en-US" sz="3000" b="1" dirty="0">
                <a:solidFill>
                  <a:srgbClr val="1A1D29"/>
                </a:solidFill>
                <a:latin typeface="Cambria" pitchFamily="34" charset="0"/>
                <a:ea typeface="Cambria" pitchFamily="34" charset="-122"/>
                <a:cs typeface="Cambria" pitchFamily="34" charset="-120"/>
              </a:rPr>
              <a:t>Structured Around Today's Evaluation Criteria</a:t>
            </a:r>
            <a:endParaRPr lang="en-US" sz="3000" dirty="0"/>
          </a:p>
        </p:txBody>
      </p:sp>
      <p:sp>
        <p:nvSpPr>
          <p:cNvPr id="4" name="Shape 2"/>
          <p:cNvSpPr/>
          <p:nvPr/>
        </p:nvSpPr>
        <p:spPr>
          <a:xfrm>
            <a:off x="548640" y="1600200"/>
            <a:ext cx="5074920" cy="658368"/>
          </a:xfrm>
          <a:prstGeom prst="roundRect">
            <a:avLst>
              <a:gd name="adj" fmla="val 9722"/>
            </a:avLst>
          </a:prstGeom>
          <a:solidFill>
            <a:srgbClr val="FFFFFF"/>
          </a:solidFill>
          <a:ln/>
          <a:effectLst>
            <a:outerShdw sx="100000" sy="100000" kx="0" ky="0" algn="bl" rotWithShape="0" blurRad="76200" dist="25400" dir="5400000">
              <a:srgbClr val="9AA3C2">
                <a:alpha val="30000"/>
              </a:srgbClr>
            </a:outerShdw>
          </a:effectLst>
        </p:spPr>
      </p:sp>
      <p:sp>
        <p:nvSpPr>
          <p:cNvPr id="5" name="Text 3"/>
          <p:cNvSpPr txBox="1"/>
          <p:nvPr/>
        </p:nvSpPr>
        <p:spPr>
          <a:xfrm>
            <a:off x="685800" y="1600200"/>
            <a:ext cx="640080" cy="658368"/>
          </a:xfrm>
          <a:prstGeom prst="rect">
            <a:avLst/>
          </a:prstGeom>
          <a:noFill/>
          <a:ln/>
        </p:spPr>
        <p:txBody>
          <a:bodyPr wrap="square" lIns="0" tIns="0" rIns="0" bIns="0" rtlCol="0" anchor="ctr"/>
          <a:lstStyle/>
          <a:p>
            <a:pPr indent="0" marL="0">
              <a:buNone/>
            </a:pPr>
            <a:r>
              <a:rPr lang="en-US" sz="2200" b="1" dirty="0">
                <a:solidFill>
                  <a:srgbClr val="6D8DFF"/>
                </a:solidFill>
                <a:latin typeface="Cambria" pitchFamily="34" charset="0"/>
                <a:ea typeface="Cambria" pitchFamily="34" charset="-122"/>
                <a:cs typeface="Cambria" pitchFamily="34" charset="-120"/>
              </a:rPr>
              <a:t>01</a:t>
            </a:r>
            <a:endParaRPr lang="en-US" sz="2200" dirty="0"/>
          </a:p>
        </p:txBody>
      </p:sp>
      <p:sp>
        <p:nvSpPr>
          <p:cNvPr id="6" name="Text 4"/>
          <p:cNvSpPr txBox="1"/>
          <p:nvPr/>
        </p:nvSpPr>
        <p:spPr>
          <a:xfrm>
            <a:off x="1371600" y="1673352"/>
            <a:ext cx="4069080" cy="320040"/>
          </a:xfrm>
          <a:prstGeom prst="rect">
            <a:avLst/>
          </a:prstGeom>
          <a:noFill/>
          <a:ln/>
        </p:spPr>
        <p:txBody>
          <a:bodyPr wrap="square" lIns="0" tIns="0" rIns="0" bIns="0" rtlCol="0" anchor="ctr"/>
          <a:lstStyle/>
          <a:p>
            <a:pPr indent="0" marL="0">
              <a:buNone/>
            </a:pPr>
            <a:r>
              <a:rPr lang="en-US" sz="1400" b="1" dirty="0">
                <a:solidFill>
                  <a:srgbClr val="1A1D29"/>
                </a:solidFill>
                <a:latin typeface="Calibri" pitchFamily="34" charset="0"/>
                <a:ea typeface="Calibri" pitchFamily="34" charset="-122"/>
                <a:cs typeface="Calibri" pitchFamily="34" charset="-120"/>
              </a:rPr>
              <a:t>Review 2 Feedback &amp; Progress vs. Plan</a:t>
            </a:r>
            <a:endParaRPr lang="en-US" sz="1400" dirty="0"/>
          </a:p>
        </p:txBody>
      </p:sp>
      <p:sp>
        <p:nvSpPr>
          <p:cNvPr id="7" name="Text 5"/>
          <p:cNvSpPr txBox="1"/>
          <p:nvPr/>
        </p:nvSpPr>
        <p:spPr>
          <a:xfrm>
            <a:off x="1371600" y="1947672"/>
            <a:ext cx="4069080" cy="256032"/>
          </a:xfrm>
          <a:prstGeom prst="rect">
            <a:avLst/>
          </a:prstGeom>
          <a:noFill/>
          <a:ln/>
        </p:spPr>
        <p:txBody>
          <a:bodyPr wrap="square" lIns="0" tIns="0" rIns="0" bIns="0" rtlCol="0" anchor="ctr"/>
          <a:lstStyle/>
          <a:p>
            <a:pPr indent="0" marL="0">
              <a:buNone/>
            </a:pPr>
            <a:r>
              <a:rPr lang="en-US" sz="1100" dirty="0">
                <a:solidFill>
                  <a:srgbClr val="5B6072"/>
                </a:solidFill>
                <a:latin typeface="Calibri" pitchFamily="34" charset="0"/>
                <a:ea typeface="Calibri" pitchFamily="34" charset="-122"/>
                <a:cs typeface="Calibri" pitchFamily="34" charset="-120"/>
              </a:rPr>
              <a:t>Criterion 1 · 3 marks</a:t>
            </a:r>
            <a:endParaRPr lang="en-US" sz="1100" dirty="0"/>
          </a:p>
        </p:txBody>
      </p:sp>
      <p:sp>
        <p:nvSpPr>
          <p:cNvPr id="8" name="Shape 6"/>
          <p:cNvSpPr/>
          <p:nvPr/>
        </p:nvSpPr>
        <p:spPr>
          <a:xfrm>
            <a:off x="548640" y="2368296"/>
            <a:ext cx="5074920" cy="658368"/>
          </a:xfrm>
          <a:prstGeom prst="roundRect">
            <a:avLst>
              <a:gd name="adj" fmla="val 9722"/>
            </a:avLst>
          </a:prstGeom>
          <a:solidFill>
            <a:srgbClr val="FFFFFF"/>
          </a:solidFill>
          <a:ln/>
          <a:effectLst>
            <a:outerShdw sx="100000" sy="100000" kx="0" ky="0" algn="bl" rotWithShape="0" blurRad="76200" dist="25400" dir="5400000">
              <a:srgbClr val="9AA3C2">
                <a:alpha val="30000"/>
              </a:srgbClr>
            </a:outerShdw>
          </a:effectLst>
        </p:spPr>
      </p:sp>
      <p:sp>
        <p:nvSpPr>
          <p:cNvPr id="9" name="Text 7"/>
          <p:cNvSpPr txBox="1"/>
          <p:nvPr/>
        </p:nvSpPr>
        <p:spPr>
          <a:xfrm>
            <a:off x="685800" y="2368296"/>
            <a:ext cx="640080" cy="658368"/>
          </a:xfrm>
          <a:prstGeom prst="rect">
            <a:avLst/>
          </a:prstGeom>
          <a:noFill/>
          <a:ln/>
        </p:spPr>
        <p:txBody>
          <a:bodyPr wrap="square" lIns="0" tIns="0" rIns="0" bIns="0" rtlCol="0" anchor="ctr"/>
          <a:lstStyle/>
          <a:p>
            <a:pPr indent="0" marL="0">
              <a:buNone/>
            </a:pPr>
            <a:r>
              <a:rPr lang="en-US" sz="2200" b="1" dirty="0">
                <a:solidFill>
                  <a:srgbClr val="6D8DFF"/>
                </a:solidFill>
                <a:latin typeface="Cambria" pitchFamily="34" charset="0"/>
                <a:ea typeface="Cambria" pitchFamily="34" charset="-122"/>
                <a:cs typeface="Cambria" pitchFamily="34" charset="-120"/>
              </a:rPr>
              <a:t>02</a:t>
            </a:r>
            <a:endParaRPr lang="en-US" sz="2200" dirty="0"/>
          </a:p>
        </p:txBody>
      </p:sp>
      <p:sp>
        <p:nvSpPr>
          <p:cNvPr id="10" name="Text 8"/>
          <p:cNvSpPr txBox="1"/>
          <p:nvPr/>
        </p:nvSpPr>
        <p:spPr>
          <a:xfrm>
            <a:off x="1371600" y="2441448"/>
            <a:ext cx="4069080" cy="320040"/>
          </a:xfrm>
          <a:prstGeom prst="rect">
            <a:avLst/>
          </a:prstGeom>
          <a:noFill/>
          <a:ln/>
        </p:spPr>
        <p:txBody>
          <a:bodyPr wrap="square" lIns="0" tIns="0" rIns="0" bIns="0" rtlCol="0" anchor="ctr"/>
          <a:lstStyle/>
          <a:p>
            <a:pPr indent="0" marL="0">
              <a:buNone/>
            </a:pPr>
            <a:r>
              <a:rPr lang="en-US" sz="1400" b="1" dirty="0">
                <a:solidFill>
                  <a:srgbClr val="1A1D29"/>
                </a:solidFill>
                <a:latin typeface="Calibri" pitchFamily="34" charset="0"/>
                <a:ea typeface="Calibri" pitchFamily="34" charset="-122"/>
                <a:cs typeface="Calibri" pitchFamily="34" charset="-120"/>
              </a:rPr>
              <a:t>Implementation &amp; Functional Progress</a:t>
            </a:r>
            <a:endParaRPr lang="en-US" sz="1400" dirty="0"/>
          </a:p>
        </p:txBody>
      </p:sp>
      <p:sp>
        <p:nvSpPr>
          <p:cNvPr id="11" name="Text 9"/>
          <p:cNvSpPr txBox="1"/>
          <p:nvPr/>
        </p:nvSpPr>
        <p:spPr>
          <a:xfrm>
            <a:off x="1371600" y="2715768"/>
            <a:ext cx="4069080" cy="256032"/>
          </a:xfrm>
          <a:prstGeom prst="rect">
            <a:avLst/>
          </a:prstGeom>
          <a:noFill/>
          <a:ln/>
        </p:spPr>
        <p:txBody>
          <a:bodyPr wrap="square" lIns="0" tIns="0" rIns="0" bIns="0" rtlCol="0" anchor="ctr"/>
          <a:lstStyle/>
          <a:p>
            <a:pPr indent="0" marL="0">
              <a:buNone/>
            </a:pPr>
            <a:r>
              <a:rPr lang="en-US" sz="1100" dirty="0">
                <a:solidFill>
                  <a:srgbClr val="5B6072"/>
                </a:solidFill>
                <a:latin typeface="Calibri" pitchFamily="34" charset="0"/>
                <a:ea typeface="Calibri" pitchFamily="34" charset="-122"/>
                <a:cs typeface="Calibri" pitchFamily="34" charset="-120"/>
              </a:rPr>
              <a:t>Criterion 2 · 3 marks</a:t>
            </a:r>
            <a:endParaRPr lang="en-US" sz="1100" dirty="0"/>
          </a:p>
        </p:txBody>
      </p:sp>
      <p:sp>
        <p:nvSpPr>
          <p:cNvPr id="12" name="Shape 10"/>
          <p:cNvSpPr/>
          <p:nvPr/>
        </p:nvSpPr>
        <p:spPr>
          <a:xfrm>
            <a:off x="548640" y="3136392"/>
            <a:ext cx="5074920" cy="658368"/>
          </a:xfrm>
          <a:prstGeom prst="roundRect">
            <a:avLst>
              <a:gd name="adj" fmla="val 9722"/>
            </a:avLst>
          </a:prstGeom>
          <a:solidFill>
            <a:srgbClr val="FFFFFF"/>
          </a:solidFill>
          <a:ln/>
          <a:effectLst>
            <a:outerShdw sx="100000" sy="100000" kx="0" ky="0" algn="bl" rotWithShape="0" blurRad="76200" dist="25400" dir="5400000">
              <a:srgbClr val="9AA3C2">
                <a:alpha val="30000"/>
              </a:srgbClr>
            </a:outerShdw>
          </a:effectLst>
        </p:spPr>
      </p:sp>
      <p:sp>
        <p:nvSpPr>
          <p:cNvPr id="13" name="Text 11"/>
          <p:cNvSpPr txBox="1"/>
          <p:nvPr/>
        </p:nvSpPr>
        <p:spPr>
          <a:xfrm>
            <a:off x="685800" y="3136392"/>
            <a:ext cx="640080" cy="658368"/>
          </a:xfrm>
          <a:prstGeom prst="rect">
            <a:avLst/>
          </a:prstGeom>
          <a:noFill/>
          <a:ln/>
        </p:spPr>
        <p:txBody>
          <a:bodyPr wrap="square" lIns="0" tIns="0" rIns="0" bIns="0" rtlCol="0" anchor="ctr"/>
          <a:lstStyle/>
          <a:p>
            <a:pPr indent="0" marL="0">
              <a:buNone/>
            </a:pPr>
            <a:r>
              <a:rPr lang="en-US" sz="2200" b="1" dirty="0">
                <a:solidFill>
                  <a:srgbClr val="6D8DFF"/>
                </a:solidFill>
                <a:latin typeface="Cambria" pitchFamily="34" charset="0"/>
                <a:ea typeface="Cambria" pitchFamily="34" charset="-122"/>
                <a:cs typeface="Cambria" pitchFamily="34" charset="-120"/>
              </a:rPr>
              <a:t>03</a:t>
            </a:r>
            <a:endParaRPr lang="en-US" sz="2200" dirty="0"/>
          </a:p>
        </p:txBody>
      </p:sp>
      <p:sp>
        <p:nvSpPr>
          <p:cNvPr id="14" name="Text 12"/>
          <p:cNvSpPr txBox="1"/>
          <p:nvPr/>
        </p:nvSpPr>
        <p:spPr>
          <a:xfrm>
            <a:off x="1371600" y="3209544"/>
            <a:ext cx="4069080" cy="320040"/>
          </a:xfrm>
          <a:prstGeom prst="rect">
            <a:avLst/>
          </a:prstGeom>
          <a:noFill/>
          <a:ln/>
        </p:spPr>
        <p:txBody>
          <a:bodyPr wrap="square" lIns="0" tIns="0" rIns="0" bIns="0" rtlCol="0" anchor="ctr"/>
          <a:lstStyle/>
          <a:p>
            <a:pPr indent="0" marL="0">
              <a:buNone/>
            </a:pPr>
            <a:r>
              <a:rPr lang="en-US" sz="1400" b="1" dirty="0">
                <a:solidFill>
                  <a:srgbClr val="1A1D29"/>
                </a:solidFill>
                <a:latin typeface="Calibri" pitchFamily="34" charset="0"/>
                <a:ea typeface="Calibri" pitchFamily="34" charset="-122"/>
                <a:cs typeface="Calibri" pitchFamily="34" charset="-120"/>
              </a:rPr>
              <a:t>Technical Accuracy &amp; Best Practices</a:t>
            </a:r>
            <a:endParaRPr lang="en-US" sz="1400" dirty="0"/>
          </a:p>
        </p:txBody>
      </p:sp>
      <p:sp>
        <p:nvSpPr>
          <p:cNvPr id="15" name="Text 13"/>
          <p:cNvSpPr txBox="1"/>
          <p:nvPr/>
        </p:nvSpPr>
        <p:spPr>
          <a:xfrm>
            <a:off x="1371600" y="3483864"/>
            <a:ext cx="4069080" cy="256032"/>
          </a:xfrm>
          <a:prstGeom prst="rect">
            <a:avLst/>
          </a:prstGeom>
          <a:noFill/>
          <a:ln/>
        </p:spPr>
        <p:txBody>
          <a:bodyPr wrap="square" lIns="0" tIns="0" rIns="0" bIns="0" rtlCol="0" anchor="ctr"/>
          <a:lstStyle/>
          <a:p>
            <a:pPr indent="0" marL="0">
              <a:buNone/>
            </a:pPr>
            <a:r>
              <a:rPr lang="en-US" sz="1100" dirty="0">
                <a:solidFill>
                  <a:srgbClr val="5B6072"/>
                </a:solidFill>
                <a:latin typeface="Calibri" pitchFamily="34" charset="0"/>
                <a:ea typeface="Calibri" pitchFamily="34" charset="-122"/>
                <a:cs typeface="Calibri" pitchFamily="34" charset="-120"/>
              </a:rPr>
              <a:t>Criterion 3 · 3 marks</a:t>
            </a:r>
            <a:endParaRPr lang="en-US" sz="1100" dirty="0"/>
          </a:p>
        </p:txBody>
      </p:sp>
      <p:sp>
        <p:nvSpPr>
          <p:cNvPr id="16" name="Shape 14"/>
          <p:cNvSpPr/>
          <p:nvPr/>
        </p:nvSpPr>
        <p:spPr>
          <a:xfrm>
            <a:off x="548640" y="3904488"/>
            <a:ext cx="5074920" cy="658368"/>
          </a:xfrm>
          <a:prstGeom prst="roundRect">
            <a:avLst>
              <a:gd name="adj" fmla="val 9722"/>
            </a:avLst>
          </a:prstGeom>
          <a:solidFill>
            <a:srgbClr val="FFFFFF"/>
          </a:solidFill>
          <a:ln/>
          <a:effectLst>
            <a:outerShdw sx="100000" sy="100000" kx="0" ky="0" algn="bl" rotWithShape="0" blurRad="76200" dist="25400" dir="5400000">
              <a:srgbClr val="9AA3C2">
                <a:alpha val="30000"/>
              </a:srgbClr>
            </a:outerShdw>
          </a:effectLst>
        </p:spPr>
      </p:sp>
      <p:sp>
        <p:nvSpPr>
          <p:cNvPr id="17" name="Text 15"/>
          <p:cNvSpPr txBox="1"/>
          <p:nvPr/>
        </p:nvSpPr>
        <p:spPr>
          <a:xfrm>
            <a:off x="685800" y="3904488"/>
            <a:ext cx="640080" cy="658368"/>
          </a:xfrm>
          <a:prstGeom prst="rect">
            <a:avLst/>
          </a:prstGeom>
          <a:noFill/>
          <a:ln/>
        </p:spPr>
        <p:txBody>
          <a:bodyPr wrap="square" lIns="0" tIns="0" rIns="0" bIns="0" rtlCol="0" anchor="ctr"/>
          <a:lstStyle/>
          <a:p>
            <a:pPr indent="0" marL="0">
              <a:buNone/>
            </a:pPr>
            <a:r>
              <a:rPr lang="en-US" sz="2200" b="1" dirty="0">
                <a:solidFill>
                  <a:srgbClr val="6D8DFF"/>
                </a:solidFill>
                <a:latin typeface="Cambria" pitchFamily="34" charset="0"/>
                <a:ea typeface="Cambria" pitchFamily="34" charset="-122"/>
                <a:cs typeface="Cambria" pitchFamily="34" charset="-120"/>
              </a:rPr>
              <a:t>04</a:t>
            </a:r>
            <a:endParaRPr lang="en-US" sz="2200" dirty="0"/>
          </a:p>
        </p:txBody>
      </p:sp>
      <p:sp>
        <p:nvSpPr>
          <p:cNvPr id="18" name="Text 16"/>
          <p:cNvSpPr txBox="1"/>
          <p:nvPr/>
        </p:nvSpPr>
        <p:spPr>
          <a:xfrm>
            <a:off x="1371600" y="3977640"/>
            <a:ext cx="4069080" cy="320040"/>
          </a:xfrm>
          <a:prstGeom prst="rect">
            <a:avLst/>
          </a:prstGeom>
          <a:noFill/>
          <a:ln/>
        </p:spPr>
        <p:txBody>
          <a:bodyPr wrap="square" lIns="0" tIns="0" rIns="0" bIns="0" rtlCol="0" anchor="ctr"/>
          <a:lstStyle/>
          <a:p>
            <a:pPr indent="0" marL="0">
              <a:buNone/>
            </a:pPr>
            <a:r>
              <a:rPr lang="en-US" sz="1400" b="1" dirty="0">
                <a:solidFill>
                  <a:srgbClr val="1A1D29"/>
                </a:solidFill>
                <a:latin typeface="Calibri" pitchFamily="34" charset="0"/>
                <a:ea typeface="Calibri" pitchFamily="34" charset="-122"/>
                <a:cs typeface="Calibri" pitchFamily="34" charset="-120"/>
              </a:rPr>
              <a:t>Interim Testing, Results &amp; Analysis</a:t>
            </a:r>
            <a:endParaRPr lang="en-US" sz="1400" dirty="0"/>
          </a:p>
        </p:txBody>
      </p:sp>
      <p:sp>
        <p:nvSpPr>
          <p:cNvPr id="19" name="Text 17"/>
          <p:cNvSpPr txBox="1"/>
          <p:nvPr/>
        </p:nvSpPr>
        <p:spPr>
          <a:xfrm>
            <a:off x="1371600" y="4251960"/>
            <a:ext cx="4069080" cy="256032"/>
          </a:xfrm>
          <a:prstGeom prst="rect">
            <a:avLst/>
          </a:prstGeom>
          <a:noFill/>
          <a:ln/>
        </p:spPr>
        <p:txBody>
          <a:bodyPr wrap="square" lIns="0" tIns="0" rIns="0" bIns="0" rtlCol="0" anchor="ctr"/>
          <a:lstStyle/>
          <a:p>
            <a:pPr indent="0" marL="0">
              <a:buNone/>
            </a:pPr>
            <a:r>
              <a:rPr lang="en-US" sz="1100" dirty="0">
                <a:solidFill>
                  <a:srgbClr val="5B6072"/>
                </a:solidFill>
                <a:latin typeface="Calibri" pitchFamily="34" charset="0"/>
                <a:ea typeface="Calibri" pitchFamily="34" charset="-122"/>
                <a:cs typeface="Calibri" pitchFamily="34" charset="-120"/>
              </a:rPr>
              <a:t>Criterion 4 · 3 marks</a:t>
            </a:r>
            <a:endParaRPr lang="en-US" sz="1100" dirty="0"/>
          </a:p>
        </p:txBody>
      </p:sp>
      <p:sp>
        <p:nvSpPr>
          <p:cNvPr id="20" name="Shape 18"/>
          <p:cNvSpPr/>
          <p:nvPr/>
        </p:nvSpPr>
        <p:spPr>
          <a:xfrm>
            <a:off x="5989320" y="1600200"/>
            <a:ext cx="5074920" cy="658368"/>
          </a:xfrm>
          <a:prstGeom prst="roundRect">
            <a:avLst>
              <a:gd name="adj" fmla="val 9722"/>
            </a:avLst>
          </a:prstGeom>
          <a:solidFill>
            <a:srgbClr val="FFFFFF"/>
          </a:solidFill>
          <a:ln/>
          <a:effectLst>
            <a:outerShdw sx="100000" sy="100000" kx="0" ky="0" algn="bl" rotWithShape="0" blurRad="76200" dist="25400" dir="5400000">
              <a:srgbClr val="9AA3C2">
                <a:alpha val="30000"/>
              </a:srgbClr>
            </a:outerShdw>
          </a:effectLst>
        </p:spPr>
      </p:sp>
      <p:sp>
        <p:nvSpPr>
          <p:cNvPr id="21" name="Text 19"/>
          <p:cNvSpPr txBox="1"/>
          <p:nvPr/>
        </p:nvSpPr>
        <p:spPr>
          <a:xfrm>
            <a:off x="6126480" y="1600200"/>
            <a:ext cx="640080" cy="658368"/>
          </a:xfrm>
          <a:prstGeom prst="rect">
            <a:avLst/>
          </a:prstGeom>
          <a:noFill/>
          <a:ln/>
        </p:spPr>
        <p:txBody>
          <a:bodyPr wrap="square" lIns="0" tIns="0" rIns="0" bIns="0" rtlCol="0" anchor="ctr"/>
          <a:lstStyle/>
          <a:p>
            <a:pPr indent="0" marL="0">
              <a:buNone/>
            </a:pPr>
            <a:r>
              <a:rPr lang="en-US" sz="2200" b="1" dirty="0">
                <a:solidFill>
                  <a:srgbClr val="6D8DFF"/>
                </a:solidFill>
                <a:latin typeface="Cambria" pitchFamily="34" charset="0"/>
                <a:ea typeface="Cambria" pitchFamily="34" charset="-122"/>
                <a:cs typeface="Cambria" pitchFamily="34" charset="-120"/>
              </a:rPr>
              <a:t>05</a:t>
            </a:r>
            <a:endParaRPr lang="en-US" sz="2200" dirty="0"/>
          </a:p>
        </p:txBody>
      </p:sp>
      <p:sp>
        <p:nvSpPr>
          <p:cNvPr id="22" name="Text 20"/>
          <p:cNvSpPr txBox="1"/>
          <p:nvPr/>
        </p:nvSpPr>
        <p:spPr>
          <a:xfrm>
            <a:off x="6812280" y="1673352"/>
            <a:ext cx="4069080" cy="320040"/>
          </a:xfrm>
          <a:prstGeom prst="rect">
            <a:avLst/>
          </a:prstGeom>
          <a:noFill/>
          <a:ln/>
        </p:spPr>
        <p:txBody>
          <a:bodyPr wrap="square" lIns="0" tIns="0" rIns="0" bIns="0" rtlCol="0" anchor="ctr"/>
          <a:lstStyle/>
          <a:p>
            <a:pPr indent="0" marL="0">
              <a:buNone/>
            </a:pPr>
            <a:r>
              <a:rPr lang="en-US" sz="1400" b="1" dirty="0">
                <a:solidFill>
                  <a:srgbClr val="1A1D29"/>
                </a:solidFill>
                <a:latin typeface="Calibri" pitchFamily="34" charset="0"/>
                <a:ea typeface="Calibri" pitchFamily="34" charset="-122"/>
                <a:cs typeface="Calibri" pitchFamily="34" charset="-120"/>
              </a:rPr>
              <a:t>Problem-Solving &amp; Technical Refinement</a:t>
            </a:r>
            <a:endParaRPr lang="en-US" sz="1400" dirty="0"/>
          </a:p>
        </p:txBody>
      </p:sp>
      <p:sp>
        <p:nvSpPr>
          <p:cNvPr id="23" name="Text 21"/>
          <p:cNvSpPr txBox="1"/>
          <p:nvPr/>
        </p:nvSpPr>
        <p:spPr>
          <a:xfrm>
            <a:off x="6812280" y="1947672"/>
            <a:ext cx="4069080" cy="256032"/>
          </a:xfrm>
          <a:prstGeom prst="rect">
            <a:avLst/>
          </a:prstGeom>
          <a:noFill/>
          <a:ln/>
        </p:spPr>
        <p:txBody>
          <a:bodyPr wrap="square" lIns="0" tIns="0" rIns="0" bIns="0" rtlCol="0" anchor="ctr"/>
          <a:lstStyle/>
          <a:p>
            <a:pPr indent="0" marL="0">
              <a:buNone/>
            </a:pPr>
            <a:r>
              <a:rPr lang="en-US" sz="1100" dirty="0">
                <a:solidFill>
                  <a:srgbClr val="5B6072"/>
                </a:solidFill>
                <a:latin typeface="Calibri" pitchFamily="34" charset="0"/>
                <a:ea typeface="Calibri" pitchFamily="34" charset="-122"/>
                <a:cs typeface="Calibri" pitchFamily="34" charset="-120"/>
              </a:rPr>
              <a:t>Criterion 5 · 2 marks</a:t>
            </a:r>
            <a:endParaRPr lang="en-US" sz="1100" dirty="0"/>
          </a:p>
        </p:txBody>
      </p:sp>
      <p:sp>
        <p:nvSpPr>
          <p:cNvPr id="24" name="Shape 22"/>
          <p:cNvSpPr/>
          <p:nvPr/>
        </p:nvSpPr>
        <p:spPr>
          <a:xfrm>
            <a:off x="5989320" y="2368296"/>
            <a:ext cx="5074920" cy="658368"/>
          </a:xfrm>
          <a:prstGeom prst="roundRect">
            <a:avLst>
              <a:gd name="adj" fmla="val 9722"/>
            </a:avLst>
          </a:prstGeom>
          <a:solidFill>
            <a:srgbClr val="FFFFFF"/>
          </a:solidFill>
          <a:ln/>
          <a:effectLst>
            <a:outerShdw sx="100000" sy="100000" kx="0" ky="0" algn="bl" rotWithShape="0" blurRad="76200" dist="25400" dir="5400000">
              <a:srgbClr val="9AA3C2">
                <a:alpha val="30000"/>
              </a:srgbClr>
            </a:outerShdw>
          </a:effectLst>
        </p:spPr>
      </p:sp>
      <p:sp>
        <p:nvSpPr>
          <p:cNvPr id="25" name="Text 23"/>
          <p:cNvSpPr txBox="1"/>
          <p:nvPr/>
        </p:nvSpPr>
        <p:spPr>
          <a:xfrm>
            <a:off x="6126480" y="2368296"/>
            <a:ext cx="640080" cy="658368"/>
          </a:xfrm>
          <a:prstGeom prst="rect">
            <a:avLst/>
          </a:prstGeom>
          <a:noFill/>
          <a:ln/>
        </p:spPr>
        <p:txBody>
          <a:bodyPr wrap="square" lIns="0" tIns="0" rIns="0" bIns="0" rtlCol="0" anchor="ctr"/>
          <a:lstStyle/>
          <a:p>
            <a:pPr indent="0" marL="0">
              <a:buNone/>
            </a:pPr>
            <a:r>
              <a:rPr lang="en-US" sz="2200" b="1" dirty="0">
                <a:solidFill>
                  <a:srgbClr val="6D8DFF"/>
                </a:solidFill>
                <a:latin typeface="Cambria" pitchFamily="34" charset="0"/>
                <a:ea typeface="Cambria" pitchFamily="34" charset="-122"/>
                <a:cs typeface="Cambria" pitchFamily="34" charset="-120"/>
              </a:rPr>
              <a:t>06</a:t>
            </a:r>
            <a:endParaRPr lang="en-US" sz="2200" dirty="0"/>
          </a:p>
        </p:txBody>
      </p:sp>
      <p:sp>
        <p:nvSpPr>
          <p:cNvPr id="26" name="Text 24"/>
          <p:cNvSpPr txBox="1"/>
          <p:nvPr/>
        </p:nvSpPr>
        <p:spPr>
          <a:xfrm>
            <a:off x="6812280" y="2441448"/>
            <a:ext cx="4069080" cy="320040"/>
          </a:xfrm>
          <a:prstGeom prst="rect">
            <a:avLst/>
          </a:prstGeom>
          <a:noFill/>
          <a:ln/>
        </p:spPr>
        <p:txBody>
          <a:bodyPr wrap="square" lIns="0" tIns="0" rIns="0" bIns="0" rtlCol="0" anchor="ctr"/>
          <a:lstStyle/>
          <a:p>
            <a:pPr indent="0" marL="0">
              <a:buNone/>
            </a:pPr>
            <a:r>
              <a:rPr lang="en-US" sz="1400" b="1" dirty="0">
                <a:solidFill>
                  <a:srgbClr val="1A1D29"/>
                </a:solidFill>
                <a:latin typeface="Calibri" pitchFamily="34" charset="0"/>
                <a:ea typeface="Calibri" pitchFamily="34" charset="-122"/>
                <a:cs typeface="Calibri" pitchFamily="34" charset="-120"/>
              </a:rPr>
              <a:t>Documentation Progress</a:t>
            </a:r>
            <a:endParaRPr lang="en-US" sz="1400" dirty="0"/>
          </a:p>
        </p:txBody>
      </p:sp>
      <p:sp>
        <p:nvSpPr>
          <p:cNvPr id="27" name="Text 25"/>
          <p:cNvSpPr txBox="1"/>
          <p:nvPr/>
        </p:nvSpPr>
        <p:spPr>
          <a:xfrm>
            <a:off x="6812280" y="2715768"/>
            <a:ext cx="4069080" cy="256032"/>
          </a:xfrm>
          <a:prstGeom prst="rect">
            <a:avLst/>
          </a:prstGeom>
          <a:noFill/>
          <a:ln/>
        </p:spPr>
        <p:txBody>
          <a:bodyPr wrap="square" lIns="0" tIns="0" rIns="0" bIns="0" rtlCol="0" anchor="ctr"/>
          <a:lstStyle/>
          <a:p>
            <a:pPr indent="0" marL="0">
              <a:buNone/>
            </a:pPr>
            <a:r>
              <a:rPr lang="en-US" sz="1100" dirty="0">
                <a:solidFill>
                  <a:srgbClr val="5B6072"/>
                </a:solidFill>
                <a:latin typeface="Calibri" pitchFamily="34" charset="0"/>
                <a:ea typeface="Calibri" pitchFamily="34" charset="-122"/>
                <a:cs typeface="Calibri" pitchFamily="34" charset="-120"/>
              </a:rPr>
              <a:t>Criterion 6 · 3 marks</a:t>
            </a:r>
            <a:endParaRPr lang="en-US" sz="1100" dirty="0"/>
          </a:p>
        </p:txBody>
      </p:sp>
      <p:sp>
        <p:nvSpPr>
          <p:cNvPr id="28" name="Shape 26"/>
          <p:cNvSpPr/>
          <p:nvPr/>
        </p:nvSpPr>
        <p:spPr>
          <a:xfrm>
            <a:off x="5989320" y="3136392"/>
            <a:ext cx="5074920" cy="658368"/>
          </a:xfrm>
          <a:prstGeom prst="roundRect">
            <a:avLst>
              <a:gd name="adj" fmla="val 9722"/>
            </a:avLst>
          </a:prstGeom>
          <a:solidFill>
            <a:srgbClr val="FFFFFF"/>
          </a:solidFill>
          <a:ln/>
          <a:effectLst>
            <a:outerShdw sx="100000" sy="100000" kx="0" ky="0" algn="bl" rotWithShape="0" blurRad="76200" dist="25400" dir="5400000">
              <a:srgbClr val="9AA3C2">
                <a:alpha val="30000"/>
              </a:srgbClr>
            </a:outerShdw>
          </a:effectLst>
        </p:spPr>
      </p:sp>
      <p:sp>
        <p:nvSpPr>
          <p:cNvPr id="29" name="Text 27"/>
          <p:cNvSpPr txBox="1"/>
          <p:nvPr/>
        </p:nvSpPr>
        <p:spPr>
          <a:xfrm>
            <a:off x="6126480" y="3136392"/>
            <a:ext cx="640080" cy="658368"/>
          </a:xfrm>
          <a:prstGeom prst="rect">
            <a:avLst/>
          </a:prstGeom>
          <a:noFill/>
          <a:ln/>
        </p:spPr>
        <p:txBody>
          <a:bodyPr wrap="square" lIns="0" tIns="0" rIns="0" bIns="0" rtlCol="0" anchor="ctr"/>
          <a:lstStyle/>
          <a:p>
            <a:pPr indent="0" marL="0">
              <a:buNone/>
            </a:pPr>
            <a:r>
              <a:rPr lang="en-US" sz="2200" b="1" dirty="0">
                <a:solidFill>
                  <a:srgbClr val="6D8DFF"/>
                </a:solidFill>
                <a:latin typeface="Cambria" pitchFamily="34" charset="0"/>
                <a:ea typeface="Cambria" pitchFamily="34" charset="-122"/>
                <a:cs typeface="Cambria" pitchFamily="34" charset="-120"/>
              </a:rPr>
              <a:t>07</a:t>
            </a:r>
            <a:endParaRPr lang="en-US" sz="2200" dirty="0"/>
          </a:p>
        </p:txBody>
      </p:sp>
      <p:sp>
        <p:nvSpPr>
          <p:cNvPr id="30" name="Text 28"/>
          <p:cNvSpPr txBox="1"/>
          <p:nvPr/>
        </p:nvSpPr>
        <p:spPr>
          <a:xfrm>
            <a:off x="6812280" y="3209544"/>
            <a:ext cx="4069080" cy="320040"/>
          </a:xfrm>
          <a:prstGeom prst="rect">
            <a:avLst/>
          </a:prstGeom>
          <a:noFill/>
          <a:ln/>
        </p:spPr>
        <p:txBody>
          <a:bodyPr wrap="square" lIns="0" tIns="0" rIns="0" bIns="0" rtlCol="0" anchor="ctr"/>
          <a:lstStyle/>
          <a:p>
            <a:pPr indent="0" marL="0">
              <a:buNone/>
            </a:pPr>
            <a:r>
              <a:rPr lang="en-US" sz="1400" b="1" dirty="0">
                <a:solidFill>
                  <a:srgbClr val="1A1D29"/>
                </a:solidFill>
                <a:latin typeface="Calibri" pitchFamily="34" charset="0"/>
                <a:ea typeface="Calibri" pitchFamily="34" charset="-122"/>
                <a:cs typeface="Calibri" pitchFamily="34" charset="-120"/>
              </a:rPr>
              <a:t>Next Steps, Team &amp; Q&amp;A</a:t>
            </a:r>
            <a:endParaRPr lang="en-US" sz="1400" dirty="0"/>
          </a:p>
        </p:txBody>
      </p:sp>
      <p:sp>
        <p:nvSpPr>
          <p:cNvPr id="31" name="Text 29"/>
          <p:cNvSpPr txBox="1"/>
          <p:nvPr/>
        </p:nvSpPr>
        <p:spPr>
          <a:xfrm>
            <a:off x="6812280" y="3483864"/>
            <a:ext cx="4069080" cy="256032"/>
          </a:xfrm>
          <a:prstGeom prst="rect">
            <a:avLst/>
          </a:prstGeom>
          <a:noFill/>
          <a:ln/>
        </p:spPr>
        <p:txBody>
          <a:bodyPr wrap="square" lIns="0" tIns="0" rIns="0" bIns="0" rtlCol="0" anchor="ctr"/>
          <a:lstStyle/>
          <a:p>
            <a:pPr indent="0" marL="0">
              <a:buNone/>
            </a:pPr>
            <a:r>
              <a:rPr lang="en-US" sz="1100" dirty="0">
                <a:solidFill>
                  <a:srgbClr val="5B6072"/>
                </a:solidFill>
                <a:latin typeface="Calibri" pitchFamily="34" charset="0"/>
                <a:ea typeface="Calibri" pitchFamily="34" charset="-122"/>
                <a:cs typeface="Calibri" pitchFamily="34" charset="-120"/>
              </a:rPr>
              <a:t>Criterion 7 · 3 marks</a:t>
            </a:r>
            <a:endParaRPr lang="en-US" sz="1100" dirty="0"/>
          </a:p>
        </p:txBody>
      </p:sp>
      <p:sp>
        <p:nvSpPr>
          <p:cNvPr id="32" name="Text 30"/>
          <p:cNvSpPr txBox="1"/>
          <p:nvPr/>
        </p:nvSpPr>
        <p:spPr>
          <a:xfrm>
            <a:off x="11658600" y="6473952"/>
            <a:ext cx="457200" cy="274320"/>
          </a:xfrm>
          <a:prstGeom prst="rect">
            <a:avLst/>
          </a:prstGeom>
          <a:noFill/>
          <a:ln/>
        </p:spPr>
        <p:txBody>
          <a:bodyPr wrap="square" lIns="0" tIns="0" rIns="0" bIns="0" rtlCol="0" anchor="ctr"/>
          <a:lstStyle/>
          <a:p>
            <a:pPr algn="r" indent="0" marL="0">
              <a:buNone/>
            </a:pPr>
            <a:r>
              <a:rPr lang="en-US" sz="1000" dirty="0">
                <a:solidFill>
                  <a:srgbClr val="5B6072"/>
                </a:solidFill>
                <a:latin typeface="Calibri" pitchFamily="34" charset="0"/>
                <a:ea typeface="Calibri" pitchFamily="34" charset="-122"/>
                <a:cs typeface="Calibri"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EF2FA"/>
        </a:solidFill>
      </p:bgPr>
    </p:bg>
    <p:spTree>
      <p:nvGrpSpPr>
        <p:cNvPr id="1" name=""/>
        <p:cNvGrpSpPr/>
        <p:nvPr/>
      </p:nvGrpSpPr>
      <p:grpSpPr>
        <a:xfrm>
          <a:off x="0" y="0"/>
          <a:ext cx="0" cy="0"/>
          <a:chOff x="0" y="0"/>
          <a:chExt cx="0" cy="0"/>
        </a:xfrm>
      </p:grpSpPr>
      <p:sp>
        <p:nvSpPr>
          <p:cNvPr id="2" name="Shape 0"/>
          <p:cNvSpPr/>
          <p:nvPr/>
        </p:nvSpPr>
        <p:spPr>
          <a:xfrm>
            <a:off x="8869680" y="320040"/>
            <a:ext cx="2788920" cy="384048"/>
          </a:xfrm>
          <a:prstGeom prst="roundRect">
            <a:avLst>
              <a:gd name="adj" fmla="val 19048"/>
            </a:avLst>
          </a:prstGeom>
          <a:solidFill>
            <a:srgbClr val="12163A"/>
          </a:solidFill>
          <a:ln/>
        </p:spPr>
      </p:sp>
      <p:sp>
        <p:nvSpPr>
          <p:cNvPr id="3" name="Text 1"/>
          <p:cNvSpPr txBox="1"/>
          <p:nvPr/>
        </p:nvSpPr>
        <p:spPr>
          <a:xfrm>
            <a:off x="8869680" y="320040"/>
            <a:ext cx="2788920"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CRITERION 1 · 3 MARKS</a:t>
            </a:r>
            <a:endParaRPr lang="en-US" sz="1100" dirty="0"/>
          </a:p>
        </p:txBody>
      </p:sp>
      <p:sp>
        <p:nvSpPr>
          <p:cNvPr id="4" name="Text 2"/>
          <p:cNvSpPr txBox="1"/>
          <p:nvPr/>
        </p:nvSpPr>
        <p:spPr>
          <a:xfrm>
            <a:off x="548640" y="320040"/>
            <a:ext cx="7315200" cy="320040"/>
          </a:xfrm>
          <a:prstGeom prst="rect">
            <a:avLst/>
          </a:prstGeom>
          <a:noFill/>
          <a:ln/>
        </p:spPr>
        <p:txBody>
          <a:bodyPr wrap="square" lIns="0" tIns="0" rIns="0" bIns="0" rtlCol="0" anchor="ctr"/>
          <a:lstStyle/>
          <a:p>
            <a:pPr indent="0" marL="0">
              <a:buNone/>
            </a:pPr>
            <a:r>
              <a:rPr lang="en-US" sz="1300" b="1" spc="200" kern="0" dirty="0">
                <a:solidFill>
                  <a:srgbClr val="6D8DFF"/>
                </a:solidFill>
                <a:latin typeface="Calibri" pitchFamily="34" charset="0"/>
                <a:ea typeface="Calibri" pitchFamily="34" charset="-122"/>
                <a:cs typeface="Calibri" pitchFamily="34" charset="-120"/>
              </a:rPr>
              <a:t>FOLLOW-UP ON PREVIOUS REVIEW</a:t>
            </a:r>
            <a:endParaRPr lang="en-US" sz="1300" dirty="0"/>
          </a:p>
        </p:txBody>
      </p:sp>
      <p:sp>
        <p:nvSpPr>
          <p:cNvPr id="5" name="Text 3"/>
          <p:cNvSpPr txBox="1"/>
          <p:nvPr/>
        </p:nvSpPr>
        <p:spPr>
          <a:xfrm>
            <a:off x="548640" y="621792"/>
            <a:ext cx="10515600" cy="640080"/>
          </a:xfrm>
          <a:prstGeom prst="rect">
            <a:avLst/>
          </a:prstGeom>
          <a:noFill/>
          <a:ln/>
        </p:spPr>
        <p:txBody>
          <a:bodyPr wrap="square" lIns="0" tIns="0" rIns="0" bIns="0" rtlCol="0" anchor="ctr"/>
          <a:lstStyle/>
          <a:p>
            <a:pPr indent="0" marL="0">
              <a:buNone/>
            </a:pPr>
            <a:r>
              <a:rPr lang="en-US" sz="3000" b="1" dirty="0">
                <a:solidFill>
                  <a:srgbClr val="1A1D29"/>
                </a:solidFill>
                <a:latin typeface="Cambria" pitchFamily="34" charset="0"/>
                <a:ea typeface="Cambria" pitchFamily="34" charset="-122"/>
                <a:cs typeface="Cambria" pitchFamily="34" charset="-120"/>
              </a:rPr>
              <a:t>Review 2 Feedback &amp; Actions Taken</a:t>
            </a:r>
            <a:endParaRPr lang="en-US" sz="3000" dirty="0"/>
          </a:p>
        </p:txBody>
      </p:sp>
      <p:sp>
        <p:nvSpPr>
          <p:cNvPr id="6" name="Shape 4"/>
          <p:cNvSpPr/>
          <p:nvPr/>
        </p:nvSpPr>
        <p:spPr>
          <a:xfrm>
            <a:off x="548640" y="1463040"/>
            <a:ext cx="11064240" cy="502920"/>
          </a:xfrm>
          <a:prstGeom prst="roundRect">
            <a:avLst>
              <a:gd name="adj" fmla="val 9091"/>
            </a:avLst>
          </a:prstGeom>
          <a:solidFill>
            <a:srgbClr val="FDECEA"/>
          </a:solidFill>
          <a:ln w="12700">
            <a:solidFill>
              <a:srgbClr val="C0392B"/>
            </a:solidFill>
            <a:prstDash val="solid"/>
          </a:ln>
        </p:spPr>
      </p:sp>
      <p:sp>
        <p:nvSpPr>
          <p:cNvPr id="7" name="Text 5"/>
          <p:cNvSpPr txBox="1"/>
          <p:nvPr/>
        </p:nvSpPr>
        <p:spPr>
          <a:xfrm>
            <a:off x="685800" y="1463040"/>
            <a:ext cx="10789920" cy="502920"/>
          </a:xfrm>
          <a:prstGeom prst="rect">
            <a:avLst/>
          </a:prstGeom>
          <a:noFill/>
          <a:ln/>
        </p:spPr>
        <p:txBody>
          <a:bodyPr wrap="square" lIns="0" tIns="0" rIns="0" bIns="0" rtlCol="0" anchor="ctr"/>
          <a:lstStyle/>
          <a:p>
            <a:pPr indent="0" marL="0">
              <a:buNone/>
            </a:pPr>
            <a:r>
              <a:rPr lang="en-US" sz="1250" b="1" dirty="0">
                <a:solidFill>
                  <a:srgbClr val="C0392B"/>
                </a:solidFill>
                <a:latin typeface="Calibri" pitchFamily="34" charset="0"/>
                <a:ea typeface="Calibri" pitchFamily="34" charset="-122"/>
                <a:cs typeface="Calibri" pitchFamily="34" charset="-120"/>
              </a:rPr>
              <a:t>⚠  REPLACE the rows below with your ACTUAL Review 2 panel comments before presenting.</a:t>
            </a:r>
            <a:endParaRPr lang="en-US" sz="125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48640" y="2148840"/>
          <a:ext cx="11064240" cy="914400"/>
        </p:xfrm>
        <a:graphic>
          <a:graphicData uri="http://schemas.openxmlformats.org/drawingml/2006/table">
            <a:tbl>
              <a:tblPr/>
              <a:tblGrid>
                <a:gridCol w="5120640"/>
                <a:gridCol w="5943600"/>
              </a:tblGrid>
              <a:tr h="777240">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Panel Feedback (Review 2)</a:t>
                      </a:r>
                      <a:endParaRPr lang="en-US" sz="1300" dirty="0">
                        <a:latin typeface="Calibri" charset="0"/>
                        <a:ea typeface="Calibri" charset="0"/>
                        <a:cs typeface="Calibri" charset="0"/>
                      </a:endParaRPr>
                    </a:p>
                  </a:txBody>
                  <a:tcPr marL="91440" marR="91440" marT="45720" marB="45720" anchor="ctr">
                    <a:lnL w="12700" cap="flat" cmpd="sng" algn="ctr">
                      <a:solidFill>
                        <a:srgbClr val="D8DCEC"/>
                      </a:solidFill>
                      <a:prstDash val="solid"/>
                      <a:round/>
                      <a:headEnd type="none" w="med" len="med"/>
                      <a:tailEnd type="none" w="med" len="med"/>
                    </a:lnL>
                    <a:lnR w="12700" cap="flat" cmpd="sng" algn="ctr">
                      <a:solidFill>
                        <a:srgbClr val="D8DCEC"/>
                      </a:solidFill>
                      <a:prstDash val="solid"/>
                      <a:round/>
                      <a:headEnd type="none" w="med" len="med"/>
                      <a:tailEnd type="none" w="med" len="med"/>
                    </a:lnR>
                    <a:lnT w="12700" cap="flat" cmpd="sng" algn="ctr">
                      <a:solidFill>
                        <a:srgbClr val="D8DCEC"/>
                      </a:solidFill>
                      <a:prstDash val="solid"/>
                      <a:round/>
                      <a:headEnd type="none" w="med" len="med"/>
                      <a:tailEnd type="none" w="med" len="med"/>
                    </a:lnT>
                    <a:lnB w="12700" cap="flat" cmpd="sng" algn="ctr">
                      <a:solidFill>
                        <a:srgbClr val="D8DCEC"/>
                      </a:solidFill>
                      <a:prstDash val="solid"/>
                      <a:round/>
                      <a:headEnd type="none" w="med" len="med"/>
                      <a:tailEnd type="none" w="med" len="med"/>
                    </a:lnB>
                    <a:solidFill>
                      <a:srgbClr val="12163A"/>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Action Taken</a:t>
                      </a:r>
                      <a:endParaRPr lang="en-US" sz="1300" dirty="0">
                        <a:latin typeface="Calibri" charset="0"/>
                        <a:ea typeface="Calibri" charset="0"/>
                        <a:cs typeface="Calibri" charset="0"/>
                      </a:endParaRPr>
                    </a:p>
                  </a:txBody>
                  <a:tcPr marL="91440" marR="91440" marT="45720" marB="45720" anchor="ctr">
                    <a:lnL w="12700" cap="flat" cmpd="sng" algn="ctr">
                      <a:solidFill>
                        <a:srgbClr val="D8DCEC"/>
                      </a:solidFill>
                      <a:prstDash val="solid"/>
                      <a:round/>
                      <a:headEnd type="none" w="med" len="med"/>
                      <a:tailEnd type="none" w="med" len="med"/>
                    </a:lnL>
                    <a:lnR w="12700" cap="flat" cmpd="sng" algn="ctr">
                      <a:solidFill>
                        <a:srgbClr val="D8DCEC"/>
                      </a:solidFill>
                      <a:prstDash val="solid"/>
                      <a:round/>
                      <a:headEnd type="none" w="med" len="med"/>
                      <a:tailEnd type="none" w="med" len="med"/>
                    </a:lnR>
                    <a:lnT w="12700" cap="flat" cmpd="sng" algn="ctr">
                      <a:solidFill>
                        <a:srgbClr val="D8DCEC"/>
                      </a:solidFill>
                      <a:prstDash val="solid"/>
                      <a:round/>
                      <a:headEnd type="none" w="med" len="med"/>
                      <a:tailEnd type="none" w="med" len="med"/>
                    </a:lnT>
                    <a:lnB w="12700" cap="flat" cmpd="sng" algn="ctr">
                      <a:solidFill>
                        <a:srgbClr val="D8DCEC"/>
                      </a:solidFill>
                      <a:prstDash val="solid"/>
                      <a:round/>
                      <a:headEnd type="none" w="med" len="med"/>
                      <a:tailEnd type="none" w="med" len="med"/>
                    </a:lnB>
                    <a:solidFill>
                      <a:srgbClr val="12163A"/>
                    </a:solidFill>
                  </a:tcPr>
                </a:tc>
              </a:tr>
              <a:tr h="777240">
                <a:tc>
                  <a:txBody>
                    <a:bodyPr/>
                    <a:lstStyle/>
                    <a:p>
                      <a:pPr indent="0" marL="0">
                        <a:buNone/>
                      </a:pPr>
                      <a:r>
                        <a:rPr lang="en-US" sz="1300" i="1" dirty="0">
                          <a:solidFill>
                            <a:srgbClr val="C0392B"/>
                          </a:solidFill>
                          <a:latin typeface="Calibri" pitchFamily="34" charset="0"/>
                          <a:ea typeface="Calibri" pitchFamily="34" charset="-122"/>
                          <a:cs typeface="Calibri" pitchFamily="34" charset="-120"/>
                        </a:rPr>
                        <a:t>[Insert Review 2 comment 1]</a:t>
                      </a:r>
                      <a:endParaRPr lang="en-US" sz="1300" dirty="0">
                        <a:latin typeface="Calibri" charset="0"/>
                        <a:ea typeface="Calibri" charset="0"/>
                        <a:cs typeface="Calibri" charset="0"/>
                      </a:endParaRPr>
                    </a:p>
                  </a:txBody>
                  <a:tcPr marL="91440" marR="91440" marT="45720" marB="45720" anchor="ctr">
                    <a:lnL w="12700" cap="flat" cmpd="sng" algn="ctr">
                      <a:solidFill>
                        <a:srgbClr val="D8DCEC"/>
                      </a:solidFill>
                      <a:prstDash val="solid"/>
                      <a:round/>
                      <a:headEnd type="none" w="med" len="med"/>
                      <a:tailEnd type="none" w="med" len="med"/>
                    </a:lnL>
                    <a:lnR w="12700" cap="flat" cmpd="sng" algn="ctr">
                      <a:solidFill>
                        <a:srgbClr val="D8DCEC"/>
                      </a:solidFill>
                      <a:prstDash val="solid"/>
                      <a:round/>
                      <a:headEnd type="none" w="med" len="med"/>
                      <a:tailEnd type="none" w="med" len="med"/>
                    </a:lnR>
                    <a:lnT w="12700" cap="flat" cmpd="sng" algn="ctr">
                      <a:solidFill>
                        <a:srgbClr val="D8DCEC"/>
                      </a:solidFill>
                      <a:prstDash val="solid"/>
                      <a:round/>
                      <a:headEnd type="none" w="med" len="med"/>
                      <a:tailEnd type="none" w="med" len="med"/>
                    </a:lnT>
                    <a:lnB w="12700" cap="flat" cmpd="sng" algn="ctr">
                      <a:solidFill>
                        <a:srgbClr val="D8DCEC"/>
                      </a:solidFill>
                      <a:prstDash val="solid"/>
                      <a:round/>
                      <a:headEnd type="none" w="med" len="med"/>
                      <a:tailEnd type="none" w="med" len="med"/>
                    </a:lnB>
                  </a:tcPr>
                </a:tc>
                <a:tc>
                  <a:txBody>
                    <a:bodyPr/>
                    <a:lstStyle/>
                    <a:p>
                      <a:pPr indent="0" marL="0">
                        <a:buNone/>
                      </a:pPr>
                      <a:r>
                        <a:rPr lang="en-US" sz="1300" i="1" dirty="0">
                          <a:solidFill>
                            <a:srgbClr val="C0392B"/>
                          </a:solidFill>
                          <a:latin typeface="Calibri" pitchFamily="34" charset="0"/>
                          <a:ea typeface="Calibri" pitchFamily="34" charset="-122"/>
                          <a:cs typeface="Calibri" pitchFamily="34" charset="-120"/>
                        </a:rPr>
                        <a:t>[Describe the specific action taken in response]</a:t>
                      </a:r>
                      <a:endParaRPr lang="en-US" sz="1300" dirty="0">
                        <a:latin typeface="Calibri" charset="0"/>
                        <a:ea typeface="Calibri" charset="0"/>
                        <a:cs typeface="Calibri" charset="0"/>
                      </a:endParaRPr>
                    </a:p>
                  </a:txBody>
                  <a:tcPr marL="91440" marR="91440" marT="45720" marB="45720" anchor="ctr">
                    <a:lnL w="12700" cap="flat" cmpd="sng" algn="ctr">
                      <a:solidFill>
                        <a:srgbClr val="D8DCEC"/>
                      </a:solidFill>
                      <a:prstDash val="solid"/>
                      <a:round/>
                      <a:headEnd type="none" w="med" len="med"/>
                      <a:tailEnd type="none" w="med" len="med"/>
                    </a:lnL>
                    <a:lnR w="12700" cap="flat" cmpd="sng" algn="ctr">
                      <a:solidFill>
                        <a:srgbClr val="D8DCEC"/>
                      </a:solidFill>
                      <a:prstDash val="solid"/>
                      <a:round/>
                      <a:headEnd type="none" w="med" len="med"/>
                      <a:tailEnd type="none" w="med" len="med"/>
                    </a:lnR>
                    <a:lnT w="12700" cap="flat" cmpd="sng" algn="ctr">
                      <a:solidFill>
                        <a:srgbClr val="D8DCEC"/>
                      </a:solidFill>
                      <a:prstDash val="solid"/>
                      <a:round/>
                      <a:headEnd type="none" w="med" len="med"/>
                      <a:tailEnd type="none" w="med" len="med"/>
                    </a:lnT>
                    <a:lnB w="12700" cap="flat" cmpd="sng" algn="ctr">
                      <a:solidFill>
                        <a:srgbClr val="D8DCEC"/>
                      </a:solidFill>
                      <a:prstDash val="solid"/>
                      <a:round/>
                      <a:headEnd type="none" w="med" len="med"/>
                      <a:tailEnd type="none" w="med" len="med"/>
                    </a:lnB>
                  </a:tcPr>
                </a:tc>
              </a:tr>
              <a:tr h="777240">
                <a:tc>
                  <a:txBody>
                    <a:bodyPr/>
                    <a:lstStyle/>
                    <a:p>
                      <a:pPr indent="0" marL="0">
                        <a:buNone/>
                      </a:pPr>
                      <a:r>
                        <a:rPr lang="en-US" sz="1300" i="1" dirty="0">
                          <a:solidFill>
                            <a:srgbClr val="C0392B"/>
                          </a:solidFill>
                          <a:latin typeface="Calibri" pitchFamily="34" charset="0"/>
                          <a:ea typeface="Calibri" pitchFamily="34" charset="-122"/>
                          <a:cs typeface="Calibri" pitchFamily="34" charset="-120"/>
                        </a:rPr>
                        <a:t>[Insert Review 2 comment 2]</a:t>
                      </a:r>
                      <a:endParaRPr lang="en-US" sz="1300" dirty="0">
                        <a:latin typeface="Calibri" charset="0"/>
                        <a:ea typeface="Calibri" charset="0"/>
                        <a:cs typeface="Calibri" charset="0"/>
                      </a:endParaRPr>
                    </a:p>
                  </a:txBody>
                  <a:tcPr marL="91440" marR="91440" marT="45720" marB="45720" anchor="ctr">
                    <a:lnL w="12700" cap="flat" cmpd="sng" algn="ctr">
                      <a:solidFill>
                        <a:srgbClr val="D8DCEC"/>
                      </a:solidFill>
                      <a:prstDash val="solid"/>
                      <a:round/>
                      <a:headEnd type="none" w="med" len="med"/>
                      <a:tailEnd type="none" w="med" len="med"/>
                    </a:lnL>
                    <a:lnR w="12700" cap="flat" cmpd="sng" algn="ctr">
                      <a:solidFill>
                        <a:srgbClr val="D8DCEC"/>
                      </a:solidFill>
                      <a:prstDash val="solid"/>
                      <a:round/>
                      <a:headEnd type="none" w="med" len="med"/>
                      <a:tailEnd type="none" w="med" len="med"/>
                    </a:lnR>
                    <a:lnT w="12700" cap="flat" cmpd="sng" algn="ctr">
                      <a:solidFill>
                        <a:srgbClr val="D8DCEC"/>
                      </a:solidFill>
                      <a:prstDash val="solid"/>
                      <a:round/>
                      <a:headEnd type="none" w="med" len="med"/>
                      <a:tailEnd type="none" w="med" len="med"/>
                    </a:lnT>
                    <a:lnB w="12700" cap="flat" cmpd="sng" algn="ctr">
                      <a:solidFill>
                        <a:srgbClr val="D8DCEC"/>
                      </a:solidFill>
                      <a:prstDash val="solid"/>
                      <a:round/>
                      <a:headEnd type="none" w="med" len="med"/>
                      <a:tailEnd type="none" w="med" len="med"/>
                    </a:lnB>
                  </a:tcPr>
                </a:tc>
                <a:tc>
                  <a:txBody>
                    <a:bodyPr/>
                    <a:lstStyle/>
                    <a:p>
                      <a:pPr indent="0" marL="0">
                        <a:buNone/>
                      </a:pPr>
                      <a:r>
                        <a:rPr lang="en-US" sz="1300" i="1" dirty="0">
                          <a:solidFill>
                            <a:srgbClr val="C0392B"/>
                          </a:solidFill>
                          <a:latin typeface="Calibri" pitchFamily="34" charset="0"/>
                          <a:ea typeface="Calibri" pitchFamily="34" charset="-122"/>
                          <a:cs typeface="Calibri" pitchFamily="34" charset="-120"/>
                        </a:rPr>
                        <a:t>[Describe the specific action taken in response]</a:t>
                      </a:r>
                      <a:endParaRPr lang="en-US" sz="1300" dirty="0">
                        <a:latin typeface="Calibri" charset="0"/>
                        <a:ea typeface="Calibri" charset="0"/>
                        <a:cs typeface="Calibri" charset="0"/>
                      </a:endParaRPr>
                    </a:p>
                  </a:txBody>
                  <a:tcPr marL="91440" marR="91440" marT="45720" marB="45720" anchor="ctr">
                    <a:lnL w="12700" cap="flat" cmpd="sng" algn="ctr">
                      <a:solidFill>
                        <a:srgbClr val="D8DCEC"/>
                      </a:solidFill>
                      <a:prstDash val="solid"/>
                      <a:round/>
                      <a:headEnd type="none" w="med" len="med"/>
                      <a:tailEnd type="none" w="med" len="med"/>
                    </a:lnL>
                    <a:lnR w="12700" cap="flat" cmpd="sng" algn="ctr">
                      <a:solidFill>
                        <a:srgbClr val="D8DCEC"/>
                      </a:solidFill>
                      <a:prstDash val="solid"/>
                      <a:round/>
                      <a:headEnd type="none" w="med" len="med"/>
                      <a:tailEnd type="none" w="med" len="med"/>
                    </a:lnR>
                    <a:lnT w="12700" cap="flat" cmpd="sng" algn="ctr">
                      <a:solidFill>
                        <a:srgbClr val="D8DCEC"/>
                      </a:solidFill>
                      <a:prstDash val="solid"/>
                      <a:round/>
                      <a:headEnd type="none" w="med" len="med"/>
                      <a:tailEnd type="none" w="med" len="med"/>
                    </a:lnT>
                    <a:lnB w="12700" cap="flat" cmpd="sng" algn="ctr">
                      <a:solidFill>
                        <a:srgbClr val="D8DCEC"/>
                      </a:solidFill>
                      <a:prstDash val="solid"/>
                      <a:round/>
                      <a:headEnd type="none" w="med" len="med"/>
                      <a:tailEnd type="none" w="med" len="med"/>
                    </a:lnB>
                  </a:tcPr>
                </a:tc>
              </a:tr>
              <a:tr h="777240">
                <a:tc>
                  <a:txBody>
                    <a:bodyPr/>
                    <a:lstStyle/>
                    <a:p>
                      <a:pPr indent="0" marL="0">
                        <a:buNone/>
                      </a:pPr>
                      <a:r>
                        <a:rPr lang="en-US" sz="1300" i="1" dirty="0">
                          <a:solidFill>
                            <a:srgbClr val="C0392B"/>
                          </a:solidFill>
                          <a:latin typeface="Calibri" pitchFamily="34" charset="0"/>
                          <a:ea typeface="Calibri" pitchFamily="34" charset="-122"/>
                          <a:cs typeface="Calibri" pitchFamily="34" charset="-120"/>
                        </a:rPr>
                        <a:t>[Insert Review 2 comment 3]</a:t>
                      </a:r>
                      <a:endParaRPr lang="en-US" sz="1300" dirty="0">
                        <a:latin typeface="Calibri" charset="0"/>
                        <a:ea typeface="Calibri" charset="0"/>
                        <a:cs typeface="Calibri" charset="0"/>
                      </a:endParaRPr>
                    </a:p>
                  </a:txBody>
                  <a:tcPr marL="91440" marR="91440" marT="45720" marB="45720" anchor="ctr">
                    <a:lnL w="12700" cap="flat" cmpd="sng" algn="ctr">
                      <a:solidFill>
                        <a:srgbClr val="D8DCEC"/>
                      </a:solidFill>
                      <a:prstDash val="solid"/>
                      <a:round/>
                      <a:headEnd type="none" w="med" len="med"/>
                      <a:tailEnd type="none" w="med" len="med"/>
                    </a:lnL>
                    <a:lnR w="12700" cap="flat" cmpd="sng" algn="ctr">
                      <a:solidFill>
                        <a:srgbClr val="D8DCEC"/>
                      </a:solidFill>
                      <a:prstDash val="solid"/>
                      <a:round/>
                      <a:headEnd type="none" w="med" len="med"/>
                      <a:tailEnd type="none" w="med" len="med"/>
                    </a:lnR>
                    <a:lnT w="12700" cap="flat" cmpd="sng" algn="ctr">
                      <a:solidFill>
                        <a:srgbClr val="D8DCEC"/>
                      </a:solidFill>
                      <a:prstDash val="solid"/>
                      <a:round/>
                      <a:headEnd type="none" w="med" len="med"/>
                      <a:tailEnd type="none" w="med" len="med"/>
                    </a:lnT>
                    <a:lnB w="12700" cap="flat" cmpd="sng" algn="ctr">
                      <a:solidFill>
                        <a:srgbClr val="D8DCEC"/>
                      </a:solidFill>
                      <a:prstDash val="solid"/>
                      <a:round/>
                      <a:headEnd type="none" w="med" len="med"/>
                      <a:tailEnd type="none" w="med" len="med"/>
                    </a:lnB>
                  </a:tcPr>
                </a:tc>
                <a:tc>
                  <a:txBody>
                    <a:bodyPr/>
                    <a:lstStyle/>
                    <a:p>
                      <a:pPr indent="0" marL="0">
                        <a:buNone/>
                      </a:pPr>
                      <a:r>
                        <a:rPr lang="en-US" sz="1300" i="1" dirty="0">
                          <a:solidFill>
                            <a:srgbClr val="C0392B"/>
                          </a:solidFill>
                          <a:latin typeface="Calibri" pitchFamily="34" charset="0"/>
                          <a:ea typeface="Calibri" pitchFamily="34" charset="-122"/>
                          <a:cs typeface="Calibri" pitchFamily="34" charset="-120"/>
                        </a:rPr>
                        <a:t>[Describe the specific action taken in response]</a:t>
                      </a:r>
                      <a:endParaRPr lang="en-US" sz="1300" dirty="0">
                        <a:latin typeface="Calibri" charset="0"/>
                        <a:ea typeface="Calibri" charset="0"/>
                        <a:cs typeface="Calibri" charset="0"/>
                      </a:endParaRPr>
                    </a:p>
                  </a:txBody>
                  <a:tcPr marL="91440" marR="91440" marT="45720" marB="45720" anchor="ctr">
                    <a:lnL w="12700" cap="flat" cmpd="sng" algn="ctr">
                      <a:solidFill>
                        <a:srgbClr val="D8DCEC"/>
                      </a:solidFill>
                      <a:prstDash val="solid"/>
                      <a:round/>
                      <a:headEnd type="none" w="med" len="med"/>
                      <a:tailEnd type="none" w="med" len="med"/>
                    </a:lnL>
                    <a:lnR w="12700" cap="flat" cmpd="sng" algn="ctr">
                      <a:solidFill>
                        <a:srgbClr val="D8DCEC"/>
                      </a:solidFill>
                      <a:prstDash val="solid"/>
                      <a:round/>
                      <a:headEnd type="none" w="med" len="med"/>
                      <a:tailEnd type="none" w="med" len="med"/>
                    </a:lnR>
                    <a:lnT w="12700" cap="flat" cmpd="sng" algn="ctr">
                      <a:solidFill>
                        <a:srgbClr val="D8DCEC"/>
                      </a:solidFill>
                      <a:prstDash val="solid"/>
                      <a:round/>
                      <a:headEnd type="none" w="med" len="med"/>
                      <a:tailEnd type="none" w="med" len="med"/>
                    </a:lnT>
                    <a:lnB w="12700" cap="flat" cmpd="sng" algn="ctr">
                      <a:solidFill>
                        <a:srgbClr val="D8DCEC"/>
                      </a:solidFill>
                      <a:prstDash val="solid"/>
                      <a:round/>
                      <a:headEnd type="none" w="med" len="med"/>
                      <a:tailEnd type="none" w="med" len="med"/>
                    </a:lnB>
                  </a:tcPr>
                </a:tc>
              </a:tr>
            </a:tbl>
          </a:graphicData>
        </a:graphic>
      </p:graphicFrame>
      <p:sp>
        <p:nvSpPr>
          <p:cNvPr id="9" name="Text 6"/>
          <p:cNvSpPr txBox="1"/>
          <p:nvPr/>
        </p:nvSpPr>
        <p:spPr>
          <a:xfrm>
            <a:off x="11658600" y="6473952"/>
            <a:ext cx="457200" cy="274320"/>
          </a:xfrm>
          <a:prstGeom prst="rect">
            <a:avLst/>
          </a:prstGeom>
          <a:noFill/>
          <a:ln/>
        </p:spPr>
        <p:txBody>
          <a:bodyPr wrap="square" lIns="0" tIns="0" rIns="0" bIns="0" rtlCol="0" anchor="ctr"/>
          <a:lstStyle/>
          <a:p>
            <a:pPr algn="r" indent="0" marL="0">
              <a:buNone/>
            </a:pPr>
            <a:r>
              <a:rPr lang="en-US" sz="1000" dirty="0">
                <a:solidFill>
                  <a:srgbClr val="5B6072"/>
                </a:solidFill>
                <a:latin typeface="Calibri" pitchFamily="34" charset="0"/>
                <a:ea typeface="Calibri" pitchFamily="34" charset="-122"/>
                <a:cs typeface="Calibri"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EF2FA"/>
        </a:solidFill>
      </p:bgPr>
    </p:bg>
    <p:spTree>
      <p:nvGrpSpPr>
        <p:cNvPr id="1" name=""/>
        <p:cNvGrpSpPr/>
        <p:nvPr/>
      </p:nvGrpSpPr>
      <p:grpSpPr>
        <a:xfrm>
          <a:off x="0" y="0"/>
          <a:ext cx="0" cy="0"/>
          <a:chOff x="0" y="0"/>
          <a:chExt cx="0" cy="0"/>
        </a:xfrm>
      </p:grpSpPr>
      <p:sp>
        <p:nvSpPr>
          <p:cNvPr id="2" name="Shape 0"/>
          <p:cNvSpPr/>
          <p:nvPr/>
        </p:nvSpPr>
        <p:spPr>
          <a:xfrm>
            <a:off x="8869680" y="320040"/>
            <a:ext cx="2788920" cy="384048"/>
          </a:xfrm>
          <a:prstGeom prst="roundRect">
            <a:avLst>
              <a:gd name="adj" fmla="val 19048"/>
            </a:avLst>
          </a:prstGeom>
          <a:solidFill>
            <a:srgbClr val="12163A"/>
          </a:solidFill>
          <a:ln/>
        </p:spPr>
      </p:sp>
      <p:sp>
        <p:nvSpPr>
          <p:cNvPr id="3" name="Text 1"/>
          <p:cNvSpPr txBox="1"/>
          <p:nvPr/>
        </p:nvSpPr>
        <p:spPr>
          <a:xfrm>
            <a:off x="8869680" y="320040"/>
            <a:ext cx="2788920"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CRITERION 1 · 3 MARKS</a:t>
            </a:r>
            <a:endParaRPr lang="en-US" sz="1100" dirty="0"/>
          </a:p>
        </p:txBody>
      </p:sp>
      <p:sp>
        <p:nvSpPr>
          <p:cNvPr id="4" name="Text 2"/>
          <p:cNvSpPr txBox="1"/>
          <p:nvPr/>
        </p:nvSpPr>
        <p:spPr>
          <a:xfrm>
            <a:off x="548640" y="320040"/>
            <a:ext cx="7315200" cy="320040"/>
          </a:xfrm>
          <a:prstGeom prst="rect">
            <a:avLst/>
          </a:prstGeom>
          <a:noFill/>
          <a:ln/>
        </p:spPr>
        <p:txBody>
          <a:bodyPr wrap="square" lIns="0" tIns="0" rIns="0" bIns="0" rtlCol="0" anchor="ctr"/>
          <a:lstStyle/>
          <a:p>
            <a:pPr indent="0" marL="0">
              <a:buNone/>
            </a:pPr>
            <a:r>
              <a:rPr lang="en-US" sz="1300" b="1" spc="200" kern="0" dirty="0">
                <a:solidFill>
                  <a:srgbClr val="6D8DFF"/>
                </a:solidFill>
                <a:latin typeface="Calibri" pitchFamily="34" charset="0"/>
                <a:ea typeface="Calibri" pitchFamily="34" charset="-122"/>
                <a:cs typeface="Calibri" pitchFamily="34" charset="-120"/>
              </a:rPr>
              <a:t>MILESTONE TRACKING</a:t>
            </a:r>
            <a:endParaRPr lang="en-US" sz="1300" dirty="0"/>
          </a:p>
        </p:txBody>
      </p:sp>
      <p:sp>
        <p:nvSpPr>
          <p:cNvPr id="5" name="Text 3"/>
          <p:cNvSpPr txBox="1"/>
          <p:nvPr/>
        </p:nvSpPr>
        <p:spPr>
          <a:xfrm>
            <a:off x="548640" y="621792"/>
            <a:ext cx="10515600" cy="640080"/>
          </a:xfrm>
          <a:prstGeom prst="rect">
            <a:avLst/>
          </a:prstGeom>
          <a:noFill/>
          <a:ln/>
        </p:spPr>
        <p:txBody>
          <a:bodyPr wrap="square" lIns="0" tIns="0" rIns="0" bIns="0" rtlCol="0" anchor="ctr"/>
          <a:lstStyle/>
          <a:p>
            <a:pPr indent="0" marL="0">
              <a:buNone/>
            </a:pPr>
            <a:r>
              <a:rPr lang="en-US" sz="3000" b="1" dirty="0">
                <a:solidFill>
                  <a:srgbClr val="1A1D29"/>
                </a:solidFill>
                <a:latin typeface="Cambria" pitchFamily="34" charset="0"/>
                <a:ea typeface="Cambria" pitchFamily="34" charset="-122"/>
                <a:cs typeface="Cambria" pitchFamily="34" charset="-120"/>
              </a:rPr>
              <a:t>Progress Against the Approved Phase Plan</a:t>
            </a:r>
            <a:endParaRPr lang="en-US" sz="30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7498080" cy="914400"/>
        </p:xfrm>
        <a:graphic>
          <a:graphicData uri="http://schemas.openxmlformats.org/drawingml/2006/table">
            <a:tbl>
              <a:tblPr/>
              <a:tblGrid>
                <a:gridCol w="914400"/>
                <a:gridCol w="4937760"/>
                <a:gridCol w="1645920"/>
              </a:tblGrid>
              <a:tr h="457200">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Phase</a:t>
                      </a:r>
                      <a:endParaRPr lang="en-US" sz="1300" dirty="0">
                        <a:latin typeface="Calibri" charset="0"/>
                        <a:ea typeface="Calibri" charset="0"/>
                        <a:cs typeface="Calibri" charset="0"/>
                      </a:endParaRPr>
                    </a:p>
                  </a:txBody>
                  <a:tcPr marL="91440" marR="91440" marT="45720" marB="45720" anchor="ctr">
                    <a:lnL w="12700" cap="flat" cmpd="sng" algn="ctr">
                      <a:solidFill>
                        <a:srgbClr val="D8DCEC"/>
                      </a:solidFill>
                      <a:prstDash val="solid"/>
                      <a:round/>
                      <a:headEnd type="none" w="med" len="med"/>
                      <a:tailEnd type="none" w="med" len="med"/>
                    </a:lnL>
                    <a:lnR w="12700" cap="flat" cmpd="sng" algn="ctr">
                      <a:solidFill>
                        <a:srgbClr val="D8DCEC"/>
                      </a:solidFill>
                      <a:prstDash val="solid"/>
                      <a:round/>
                      <a:headEnd type="none" w="med" len="med"/>
                      <a:tailEnd type="none" w="med" len="med"/>
                    </a:lnR>
                    <a:lnT w="12700" cap="flat" cmpd="sng" algn="ctr">
                      <a:solidFill>
                        <a:srgbClr val="D8DCEC"/>
                      </a:solidFill>
                      <a:prstDash val="solid"/>
                      <a:round/>
                      <a:headEnd type="none" w="med" len="med"/>
                      <a:tailEnd type="none" w="med" len="med"/>
                    </a:lnT>
                    <a:lnB w="12700" cap="flat" cmpd="sng" algn="ctr">
                      <a:solidFill>
                        <a:srgbClr val="D8DCEC"/>
                      </a:solidFill>
                      <a:prstDash val="solid"/>
                      <a:round/>
                      <a:headEnd type="none" w="med" len="med"/>
                      <a:tailEnd type="none" w="med" len="med"/>
                    </a:lnB>
                    <a:solidFill>
                      <a:srgbClr val="12163A"/>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Scope</a:t>
                      </a:r>
                      <a:endParaRPr lang="en-US" sz="1300" dirty="0">
                        <a:latin typeface="Calibri" charset="0"/>
                        <a:ea typeface="Calibri" charset="0"/>
                        <a:cs typeface="Calibri" charset="0"/>
                      </a:endParaRPr>
                    </a:p>
                  </a:txBody>
                  <a:tcPr marL="91440" marR="91440" marT="45720" marB="45720" anchor="ctr">
                    <a:lnL w="12700" cap="flat" cmpd="sng" algn="ctr">
                      <a:solidFill>
                        <a:srgbClr val="D8DCEC"/>
                      </a:solidFill>
                      <a:prstDash val="solid"/>
                      <a:round/>
                      <a:headEnd type="none" w="med" len="med"/>
                      <a:tailEnd type="none" w="med" len="med"/>
                    </a:lnL>
                    <a:lnR w="12700" cap="flat" cmpd="sng" algn="ctr">
                      <a:solidFill>
                        <a:srgbClr val="D8DCEC"/>
                      </a:solidFill>
                      <a:prstDash val="solid"/>
                      <a:round/>
                      <a:headEnd type="none" w="med" len="med"/>
                      <a:tailEnd type="none" w="med" len="med"/>
                    </a:lnR>
                    <a:lnT w="12700" cap="flat" cmpd="sng" algn="ctr">
                      <a:solidFill>
                        <a:srgbClr val="D8DCEC"/>
                      </a:solidFill>
                      <a:prstDash val="solid"/>
                      <a:round/>
                      <a:headEnd type="none" w="med" len="med"/>
                      <a:tailEnd type="none" w="med" len="med"/>
                    </a:lnT>
                    <a:lnB w="12700" cap="flat" cmpd="sng" algn="ctr">
                      <a:solidFill>
                        <a:srgbClr val="D8DCEC"/>
                      </a:solidFill>
                      <a:prstDash val="solid"/>
                      <a:round/>
                      <a:headEnd type="none" w="med" len="med"/>
                      <a:tailEnd type="none" w="med" len="med"/>
                    </a:lnB>
                    <a:solidFill>
                      <a:srgbClr val="12163A"/>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Status</a:t>
                      </a:r>
                      <a:endParaRPr lang="en-US" sz="1300" dirty="0">
                        <a:latin typeface="Calibri" charset="0"/>
                        <a:ea typeface="Calibri" charset="0"/>
                        <a:cs typeface="Calibri" charset="0"/>
                      </a:endParaRPr>
                    </a:p>
                  </a:txBody>
                  <a:tcPr marL="91440" marR="91440" marT="45720" marB="45720" anchor="ctr">
                    <a:lnL w="12700" cap="flat" cmpd="sng" algn="ctr">
                      <a:solidFill>
                        <a:srgbClr val="D8DCEC"/>
                      </a:solidFill>
                      <a:prstDash val="solid"/>
                      <a:round/>
                      <a:headEnd type="none" w="med" len="med"/>
                      <a:tailEnd type="none" w="med" len="med"/>
                    </a:lnL>
                    <a:lnR w="12700" cap="flat" cmpd="sng" algn="ctr">
                      <a:solidFill>
                        <a:srgbClr val="D8DCEC"/>
                      </a:solidFill>
                      <a:prstDash val="solid"/>
                      <a:round/>
                      <a:headEnd type="none" w="med" len="med"/>
                      <a:tailEnd type="none" w="med" len="med"/>
                    </a:lnR>
                    <a:lnT w="12700" cap="flat" cmpd="sng" algn="ctr">
                      <a:solidFill>
                        <a:srgbClr val="D8DCEC"/>
                      </a:solidFill>
                      <a:prstDash val="solid"/>
                      <a:round/>
                      <a:headEnd type="none" w="med" len="med"/>
                      <a:tailEnd type="none" w="med" len="med"/>
                    </a:lnT>
                    <a:lnB w="12700" cap="flat" cmpd="sng" algn="ctr">
                      <a:solidFill>
                        <a:srgbClr val="D8DCEC"/>
                      </a:solidFill>
                      <a:prstDash val="solid"/>
                      <a:round/>
                      <a:headEnd type="none" w="med" len="med"/>
                      <a:tailEnd type="none" w="med" len="med"/>
                    </a:lnB>
                    <a:solidFill>
                      <a:srgbClr val="12163A"/>
                    </a:solidFill>
                  </a:tcPr>
                </a:tc>
              </a:tr>
              <a:tr h="457200">
                <a:tc>
                  <a:txBody>
                    <a:bodyPr/>
                    <a:lstStyle/>
                    <a:p>
                      <a:pPr indent="0" marL="0">
                        <a:buNone/>
                      </a:pPr>
                      <a:r>
                        <a:rPr lang="en-US" sz="1300" b="1" dirty="0">
                          <a:solidFill>
                            <a:srgbClr val="1A1D29"/>
                          </a:solidFill>
                          <a:latin typeface="Calibri" pitchFamily="34" charset="0"/>
                          <a:ea typeface="Calibri" pitchFamily="34" charset="-122"/>
                          <a:cs typeface="Calibri" pitchFamily="34" charset="-120"/>
                        </a:rPr>
                        <a:t>1</a:t>
                      </a:r>
                      <a:endParaRPr lang="en-US" sz="1300" dirty="0">
                        <a:latin typeface="Calibri" charset="0"/>
                        <a:ea typeface="Calibri" charset="0"/>
                        <a:cs typeface="Calibri" charset="0"/>
                      </a:endParaRPr>
                    </a:p>
                  </a:txBody>
                  <a:tcPr marL="91440" marR="91440" marT="45720" marB="45720" anchor="ctr">
                    <a:lnL w="12700" cap="flat" cmpd="sng" algn="ctr">
                      <a:solidFill>
                        <a:srgbClr val="D8DCEC"/>
                      </a:solidFill>
                      <a:prstDash val="solid"/>
                      <a:round/>
                      <a:headEnd type="none" w="med" len="med"/>
                      <a:tailEnd type="none" w="med" len="med"/>
                    </a:lnL>
                    <a:lnR w="12700" cap="flat" cmpd="sng" algn="ctr">
                      <a:solidFill>
                        <a:srgbClr val="D8DCEC"/>
                      </a:solidFill>
                      <a:prstDash val="solid"/>
                      <a:round/>
                      <a:headEnd type="none" w="med" len="med"/>
                      <a:tailEnd type="none" w="med" len="med"/>
                    </a:lnR>
                    <a:lnT w="12700" cap="flat" cmpd="sng" algn="ctr">
                      <a:solidFill>
                        <a:srgbClr val="D8DCEC"/>
                      </a:solidFill>
                      <a:prstDash val="solid"/>
                      <a:round/>
                      <a:headEnd type="none" w="med" len="med"/>
                      <a:tailEnd type="none" w="med" len="med"/>
                    </a:lnT>
                    <a:lnB w="12700" cap="flat" cmpd="sng" algn="ctr">
                      <a:solidFill>
                        <a:srgbClr val="D8DCEC"/>
                      </a:solidFill>
                      <a:prstDash val="solid"/>
                      <a:round/>
                      <a:headEnd type="none" w="med" len="med"/>
                      <a:tailEnd type="none" w="med" len="med"/>
                    </a:lnB>
                  </a:tcPr>
                </a:tc>
                <a:tc>
                  <a:txBody>
                    <a:bodyPr/>
                    <a:lstStyle/>
                    <a:p>
                      <a:pPr indent="0" marL="0">
                        <a:buNone/>
                      </a:pPr>
                      <a:r>
                        <a:rPr lang="en-US" sz="1300" dirty="0">
                          <a:solidFill>
                            <a:srgbClr val="1A1D29"/>
                          </a:solidFill>
                          <a:latin typeface="Calibri" pitchFamily="34" charset="0"/>
                          <a:ea typeface="Calibri" pitchFamily="34" charset="-122"/>
                          <a:cs typeface="Calibri" pitchFamily="34" charset="-120"/>
                        </a:rPr>
                        <a:t>Video ingestion + Whisper transcription</a:t>
                      </a:r>
                      <a:endParaRPr lang="en-US" sz="1300" dirty="0">
                        <a:latin typeface="Calibri" charset="0"/>
                        <a:ea typeface="Calibri" charset="0"/>
                        <a:cs typeface="Calibri" charset="0"/>
                      </a:endParaRPr>
                    </a:p>
                  </a:txBody>
                  <a:tcPr marL="91440" marR="91440" marT="45720" marB="45720" anchor="ctr">
                    <a:lnL w="12700" cap="flat" cmpd="sng" algn="ctr">
                      <a:solidFill>
                        <a:srgbClr val="D8DCEC"/>
                      </a:solidFill>
                      <a:prstDash val="solid"/>
                      <a:round/>
                      <a:headEnd type="none" w="med" len="med"/>
                      <a:tailEnd type="none" w="med" len="med"/>
                    </a:lnL>
                    <a:lnR w="12700" cap="flat" cmpd="sng" algn="ctr">
                      <a:solidFill>
                        <a:srgbClr val="D8DCEC"/>
                      </a:solidFill>
                      <a:prstDash val="solid"/>
                      <a:round/>
                      <a:headEnd type="none" w="med" len="med"/>
                      <a:tailEnd type="none" w="med" len="med"/>
                    </a:lnR>
                    <a:lnT w="12700" cap="flat" cmpd="sng" algn="ctr">
                      <a:solidFill>
                        <a:srgbClr val="D8DCEC"/>
                      </a:solidFill>
                      <a:prstDash val="solid"/>
                      <a:round/>
                      <a:headEnd type="none" w="med" len="med"/>
                      <a:tailEnd type="none" w="med" len="med"/>
                    </a:lnT>
                    <a:lnB w="12700" cap="flat" cmpd="sng" algn="ctr">
                      <a:solidFill>
                        <a:srgbClr val="D8DCEC"/>
                      </a:solidFill>
                      <a:prstDash val="solid"/>
                      <a:round/>
                      <a:headEnd type="none" w="med" len="med"/>
                      <a:tailEnd type="none" w="med" len="med"/>
                    </a:lnB>
                  </a:tcPr>
                </a:tc>
                <a:tc>
                  <a:txBody>
                    <a:bodyPr/>
                    <a:lstStyle/>
                    <a:p>
                      <a:pPr indent="0" marL="0">
                        <a:buNone/>
                      </a:pPr>
                      <a:r>
                        <a:rPr lang="en-US" sz="1300" b="1" dirty="0">
                          <a:solidFill>
                            <a:srgbClr val="2E9E5B"/>
                          </a:solidFill>
                          <a:latin typeface="Calibri" pitchFamily="34" charset="0"/>
                          <a:ea typeface="Calibri" pitchFamily="34" charset="-122"/>
                          <a:cs typeface="Calibri" pitchFamily="34" charset="-120"/>
                        </a:rPr>
                        <a:t>Complete</a:t>
                      </a:r>
                      <a:endParaRPr lang="en-US" sz="1300" dirty="0">
                        <a:latin typeface="Calibri" charset="0"/>
                        <a:ea typeface="Calibri" charset="0"/>
                        <a:cs typeface="Calibri" charset="0"/>
                      </a:endParaRPr>
                    </a:p>
                  </a:txBody>
                  <a:tcPr marL="91440" marR="91440" marT="45720" marB="45720" anchor="ctr">
                    <a:lnL w="12700" cap="flat" cmpd="sng" algn="ctr">
                      <a:solidFill>
                        <a:srgbClr val="D8DCEC"/>
                      </a:solidFill>
                      <a:prstDash val="solid"/>
                      <a:round/>
                      <a:headEnd type="none" w="med" len="med"/>
                      <a:tailEnd type="none" w="med" len="med"/>
                    </a:lnL>
                    <a:lnR w="12700" cap="flat" cmpd="sng" algn="ctr">
                      <a:solidFill>
                        <a:srgbClr val="D8DCEC"/>
                      </a:solidFill>
                      <a:prstDash val="solid"/>
                      <a:round/>
                      <a:headEnd type="none" w="med" len="med"/>
                      <a:tailEnd type="none" w="med" len="med"/>
                    </a:lnR>
                    <a:lnT w="12700" cap="flat" cmpd="sng" algn="ctr">
                      <a:solidFill>
                        <a:srgbClr val="D8DCEC"/>
                      </a:solidFill>
                      <a:prstDash val="solid"/>
                      <a:round/>
                      <a:headEnd type="none" w="med" len="med"/>
                      <a:tailEnd type="none" w="med" len="med"/>
                    </a:lnT>
                    <a:lnB w="12700" cap="flat" cmpd="sng" algn="ctr">
                      <a:solidFill>
                        <a:srgbClr val="D8DCEC"/>
                      </a:solidFill>
                      <a:prstDash val="solid"/>
                      <a:round/>
                      <a:headEnd type="none" w="med" len="med"/>
                      <a:tailEnd type="none" w="med" len="med"/>
                    </a:lnB>
                  </a:tcPr>
                </a:tc>
              </a:tr>
              <a:tr h="457200">
                <a:tc>
                  <a:txBody>
                    <a:bodyPr/>
                    <a:lstStyle/>
                    <a:p>
                      <a:pPr indent="0" marL="0">
                        <a:buNone/>
                      </a:pPr>
                      <a:r>
                        <a:rPr lang="en-US" sz="1300" b="1" dirty="0">
                          <a:solidFill>
                            <a:srgbClr val="1A1D29"/>
                          </a:solidFill>
                          <a:latin typeface="Calibri" pitchFamily="34" charset="0"/>
                          <a:ea typeface="Calibri" pitchFamily="34" charset="-122"/>
                          <a:cs typeface="Calibri" pitchFamily="34" charset="-120"/>
                        </a:rPr>
                        <a:t>2</a:t>
                      </a:r>
                      <a:endParaRPr lang="en-US" sz="1300" dirty="0">
                        <a:latin typeface="Calibri" charset="0"/>
                        <a:ea typeface="Calibri" charset="0"/>
                        <a:cs typeface="Calibri" charset="0"/>
                      </a:endParaRPr>
                    </a:p>
                  </a:txBody>
                  <a:tcPr marL="91440" marR="91440" marT="45720" marB="45720" anchor="ctr">
                    <a:lnL w="12700" cap="flat" cmpd="sng" algn="ctr">
                      <a:solidFill>
                        <a:srgbClr val="D8DCEC"/>
                      </a:solidFill>
                      <a:prstDash val="solid"/>
                      <a:round/>
                      <a:headEnd type="none" w="med" len="med"/>
                      <a:tailEnd type="none" w="med" len="med"/>
                    </a:lnL>
                    <a:lnR w="12700" cap="flat" cmpd="sng" algn="ctr">
                      <a:solidFill>
                        <a:srgbClr val="D8DCEC"/>
                      </a:solidFill>
                      <a:prstDash val="solid"/>
                      <a:round/>
                      <a:headEnd type="none" w="med" len="med"/>
                      <a:tailEnd type="none" w="med" len="med"/>
                    </a:lnR>
                    <a:lnT w="12700" cap="flat" cmpd="sng" algn="ctr">
                      <a:solidFill>
                        <a:srgbClr val="D8DCEC"/>
                      </a:solidFill>
                      <a:prstDash val="solid"/>
                      <a:round/>
                      <a:headEnd type="none" w="med" len="med"/>
                      <a:tailEnd type="none" w="med" len="med"/>
                    </a:lnT>
                    <a:lnB w="12700" cap="flat" cmpd="sng" algn="ctr">
                      <a:solidFill>
                        <a:srgbClr val="D8DCEC"/>
                      </a:solidFill>
                      <a:prstDash val="solid"/>
                      <a:round/>
                      <a:headEnd type="none" w="med" len="med"/>
                      <a:tailEnd type="none" w="med" len="med"/>
                    </a:lnB>
                  </a:tcPr>
                </a:tc>
                <a:tc>
                  <a:txBody>
                    <a:bodyPr/>
                    <a:lstStyle/>
                    <a:p>
                      <a:pPr indent="0" marL="0">
                        <a:buNone/>
                      </a:pPr>
                      <a:r>
                        <a:rPr lang="en-US" sz="1300" dirty="0">
                          <a:solidFill>
                            <a:srgbClr val="1A1D29"/>
                          </a:solidFill>
                          <a:latin typeface="Calibri" pitchFamily="34" charset="0"/>
                          <a:ea typeface="Calibri" pitchFamily="34" charset="-122"/>
                          <a:cs typeface="Calibri" pitchFamily="34" charset="-120"/>
                        </a:rPr>
                        <a:t>Chunking + text embeddings</a:t>
                      </a:r>
                      <a:endParaRPr lang="en-US" sz="1300" dirty="0">
                        <a:latin typeface="Calibri" charset="0"/>
                        <a:ea typeface="Calibri" charset="0"/>
                        <a:cs typeface="Calibri" charset="0"/>
                      </a:endParaRPr>
                    </a:p>
                  </a:txBody>
                  <a:tcPr marL="91440" marR="91440" marT="45720" marB="45720" anchor="ctr">
                    <a:lnL w="12700" cap="flat" cmpd="sng" algn="ctr">
                      <a:solidFill>
                        <a:srgbClr val="D8DCEC"/>
                      </a:solidFill>
                      <a:prstDash val="solid"/>
                      <a:round/>
                      <a:headEnd type="none" w="med" len="med"/>
                      <a:tailEnd type="none" w="med" len="med"/>
                    </a:lnL>
                    <a:lnR w="12700" cap="flat" cmpd="sng" algn="ctr">
                      <a:solidFill>
                        <a:srgbClr val="D8DCEC"/>
                      </a:solidFill>
                      <a:prstDash val="solid"/>
                      <a:round/>
                      <a:headEnd type="none" w="med" len="med"/>
                      <a:tailEnd type="none" w="med" len="med"/>
                    </a:lnR>
                    <a:lnT w="12700" cap="flat" cmpd="sng" algn="ctr">
                      <a:solidFill>
                        <a:srgbClr val="D8DCEC"/>
                      </a:solidFill>
                      <a:prstDash val="solid"/>
                      <a:round/>
                      <a:headEnd type="none" w="med" len="med"/>
                      <a:tailEnd type="none" w="med" len="med"/>
                    </a:lnT>
                    <a:lnB w="12700" cap="flat" cmpd="sng" algn="ctr">
                      <a:solidFill>
                        <a:srgbClr val="D8DCEC"/>
                      </a:solidFill>
                      <a:prstDash val="solid"/>
                      <a:round/>
                      <a:headEnd type="none" w="med" len="med"/>
                      <a:tailEnd type="none" w="med" len="med"/>
                    </a:lnB>
                  </a:tcPr>
                </a:tc>
                <a:tc>
                  <a:txBody>
                    <a:bodyPr/>
                    <a:lstStyle/>
                    <a:p>
                      <a:pPr indent="0" marL="0">
                        <a:buNone/>
                      </a:pPr>
                      <a:r>
                        <a:rPr lang="en-US" sz="1300" b="1" dirty="0">
                          <a:solidFill>
                            <a:srgbClr val="2E9E5B"/>
                          </a:solidFill>
                          <a:latin typeface="Calibri" pitchFamily="34" charset="0"/>
                          <a:ea typeface="Calibri" pitchFamily="34" charset="-122"/>
                          <a:cs typeface="Calibri" pitchFamily="34" charset="-120"/>
                        </a:rPr>
                        <a:t>Complete</a:t>
                      </a:r>
                      <a:endParaRPr lang="en-US" sz="1300" dirty="0">
                        <a:latin typeface="Calibri" charset="0"/>
                        <a:ea typeface="Calibri" charset="0"/>
                        <a:cs typeface="Calibri" charset="0"/>
                      </a:endParaRPr>
                    </a:p>
                  </a:txBody>
                  <a:tcPr marL="91440" marR="91440" marT="45720" marB="45720" anchor="ctr">
                    <a:lnL w="12700" cap="flat" cmpd="sng" algn="ctr">
                      <a:solidFill>
                        <a:srgbClr val="D8DCEC"/>
                      </a:solidFill>
                      <a:prstDash val="solid"/>
                      <a:round/>
                      <a:headEnd type="none" w="med" len="med"/>
                      <a:tailEnd type="none" w="med" len="med"/>
                    </a:lnL>
                    <a:lnR w="12700" cap="flat" cmpd="sng" algn="ctr">
                      <a:solidFill>
                        <a:srgbClr val="D8DCEC"/>
                      </a:solidFill>
                      <a:prstDash val="solid"/>
                      <a:round/>
                      <a:headEnd type="none" w="med" len="med"/>
                      <a:tailEnd type="none" w="med" len="med"/>
                    </a:lnR>
                    <a:lnT w="12700" cap="flat" cmpd="sng" algn="ctr">
                      <a:solidFill>
                        <a:srgbClr val="D8DCEC"/>
                      </a:solidFill>
                      <a:prstDash val="solid"/>
                      <a:round/>
                      <a:headEnd type="none" w="med" len="med"/>
                      <a:tailEnd type="none" w="med" len="med"/>
                    </a:lnT>
                    <a:lnB w="12700" cap="flat" cmpd="sng" algn="ctr">
                      <a:solidFill>
                        <a:srgbClr val="D8DCEC"/>
                      </a:solidFill>
                      <a:prstDash val="solid"/>
                      <a:round/>
                      <a:headEnd type="none" w="med" len="med"/>
                      <a:tailEnd type="none" w="med" len="med"/>
                    </a:lnB>
                  </a:tcPr>
                </a:tc>
              </a:tr>
              <a:tr h="457200">
                <a:tc>
                  <a:txBody>
                    <a:bodyPr/>
                    <a:lstStyle/>
                    <a:p>
                      <a:pPr indent="0" marL="0">
                        <a:buNone/>
                      </a:pPr>
                      <a:r>
                        <a:rPr lang="en-US" sz="1300" b="1" dirty="0">
                          <a:solidFill>
                            <a:srgbClr val="1A1D29"/>
                          </a:solidFill>
                          <a:latin typeface="Calibri" pitchFamily="34" charset="0"/>
                          <a:ea typeface="Calibri" pitchFamily="34" charset="-122"/>
                          <a:cs typeface="Calibri" pitchFamily="34" charset="-120"/>
                        </a:rPr>
                        <a:t>3</a:t>
                      </a:r>
                      <a:endParaRPr lang="en-US" sz="1300" dirty="0">
                        <a:latin typeface="Calibri" charset="0"/>
                        <a:ea typeface="Calibri" charset="0"/>
                        <a:cs typeface="Calibri" charset="0"/>
                      </a:endParaRPr>
                    </a:p>
                  </a:txBody>
                  <a:tcPr marL="91440" marR="91440" marT="45720" marB="45720" anchor="ctr">
                    <a:lnL w="12700" cap="flat" cmpd="sng" algn="ctr">
                      <a:solidFill>
                        <a:srgbClr val="D8DCEC"/>
                      </a:solidFill>
                      <a:prstDash val="solid"/>
                      <a:round/>
                      <a:headEnd type="none" w="med" len="med"/>
                      <a:tailEnd type="none" w="med" len="med"/>
                    </a:lnL>
                    <a:lnR w="12700" cap="flat" cmpd="sng" algn="ctr">
                      <a:solidFill>
                        <a:srgbClr val="D8DCEC"/>
                      </a:solidFill>
                      <a:prstDash val="solid"/>
                      <a:round/>
                      <a:headEnd type="none" w="med" len="med"/>
                      <a:tailEnd type="none" w="med" len="med"/>
                    </a:lnR>
                    <a:lnT w="12700" cap="flat" cmpd="sng" algn="ctr">
                      <a:solidFill>
                        <a:srgbClr val="D8DCEC"/>
                      </a:solidFill>
                      <a:prstDash val="solid"/>
                      <a:round/>
                      <a:headEnd type="none" w="med" len="med"/>
                      <a:tailEnd type="none" w="med" len="med"/>
                    </a:lnT>
                    <a:lnB w="12700" cap="flat" cmpd="sng" algn="ctr">
                      <a:solidFill>
                        <a:srgbClr val="D8DCEC"/>
                      </a:solidFill>
                      <a:prstDash val="solid"/>
                      <a:round/>
                      <a:headEnd type="none" w="med" len="med"/>
                      <a:tailEnd type="none" w="med" len="med"/>
                    </a:lnB>
                  </a:tcPr>
                </a:tc>
                <a:tc>
                  <a:txBody>
                    <a:bodyPr/>
                    <a:lstStyle/>
                    <a:p>
                      <a:pPr indent="0" marL="0">
                        <a:buNone/>
                      </a:pPr>
                      <a:r>
                        <a:rPr lang="en-US" sz="1300" dirty="0">
                          <a:solidFill>
                            <a:srgbClr val="1A1D29"/>
                          </a:solidFill>
                          <a:latin typeface="Calibri" pitchFamily="34" charset="0"/>
                          <a:ea typeface="Calibri" pitchFamily="34" charset="-122"/>
                          <a:cs typeface="Calibri" pitchFamily="34" charset="-120"/>
                        </a:rPr>
                        <a:t>Vector database + semantic search</a:t>
                      </a:r>
                      <a:endParaRPr lang="en-US" sz="1300" dirty="0">
                        <a:latin typeface="Calibri" charset="0"/>
                        <a:ea typeface="Calibri" charset="0"/>
                        <a:cs typeface="Calibri" charset="0"/>
                      </a:endParaRPr>
                    </a:p>
                  </a:txBody>
                  <a:tcPr marL="91440" marR="91440" marT="45720" marB="45720" anchor="ctr">
                    <a:lnL w="12700" cap="flat" cmpd="sng" algn="ctr">
                      <a:solidFill>
                        <a:srgbClr val="D8DCEC"/>
                      </a:solidFill>
                      <a:prstDash val="solid"/>
                      <a:round/>
                      <a:headEnd type="none" w="med" len="med"/>
                      <a:tailEnd type="none" w="med" len="med"/>
                    </a:lnL>
                    <a:lnR w="12700" cap="flat" cmpd="sng" algn="ctr">
                      <a:solidFill>
                        <a:srgbClr val="D8DCEC"/>
                      </a:solidFill>
                      <a:prstDash val="solid"/>
                      <a:round/>
                      <a:headEnd type="none" w="med" len="med"/>
                      <a:tailEnd type="none" w="med" len="med"/>
                    </a:lnR>
                    <a:lnT w="12700" cap="flat" cmpd="sng" algn="ctr">
                      <a:solidFill>
                        <a:srgbClr val="D8DCEC"/>
                      </a:solidFill>
                      <a:prstDash val="solid"/>
                      <a:round/>
                      <a:headEnd type="none" w="med" len="med"/>
                      <a:tailEnd type="none" w="med" len="med"/>
                    </a:lnT>
                    <a:lnB w="12700" cap="flat" cmpd="sng" algn="ctr">
                      <a:solidFill>
                        <a:srgbClr val="D8DCEC"/>
                      </a:solidFill>
                      <a:prstDash val="solid"/>
                      <a:round/>
                      <a:headEnd type="none" w="med" len="med"/>
                      <a:tailEnd type="none" w="med" len="med"/>
                    </a:lnB>
                  </a:tcPr>
                </a:tc>
                <a:tc>
                  <a:txBody>
                    <a:bodyPr/>
                    <a:lstStyle/>
                    <a:p>
                      <a:pPr indent="0" marL="0">
                        <a:buNone/>
                      </a:pPr>
                      <a:r>
                        <a:rPr lang="en-US" sz="1300" b="1" dirty="0">
                          <a:solidFill>
                            <a:srgbClr val="2E9E5B"/>
                          </a:solidFill>
                          <a:latin typeface="Calibri" pitchFamily="34" charset="0"/>
                          <a:ea typeface="Calibri" pitchFamily="34" charset="-122"/>
                          <a:cs typeface="Calibri" pitchFamily="34" charset="-120"/>
                        </a:rPr>
                        <a:t>Complete</a:t>
                      </a:r>
                      <a:endParaRPr lang="en-US" sz="1300" dirty="0">
                        <a:latin typeface="Calibri" charset="0"/>
                        <a:ea typeface="Calibri" charset="0"/>
                        <a:cs typeface="Calibri" charset="0"/>
                      </a:endParaRPr>
                    </a:p>
                  </a:txBody>
                  <a:tcPr marL="91440" marR="91440" marT="45720" marB="45720" anchor="ctr">
                    <a:lnL w="12700" cap="flat" cmpd="sng" algn="ctr">
                      <a:solidFill>
                        <a:srgbClr val="D8DCEC"/>
                      </a:solidFill>
                      <a:prstDash val="solid"/>
                      <a:round/>
                      <a:headEnd type="none" w="med" len="med"/>
                      <a:tailEnd type="none" w="med" len="med"/>
                    </a:lnL>
                    <a:lnR w="12700" cap="flat" cmpd="sng" algn="ctr">
                      <a:solidFill>
                        <a:srgbClr val="D8DCEC"/>
                      </a:solidFill>
                      <a:prstDash val="solid"/>
                      <a:round/>
                      <a:headEnd type="none" w="med" len="med"/>
                      <a:tailEnd type="none" w="med" len="med"/>
                    </a:lnR>
                    <a:lnT w="12700" cap="flat" cmpd="sng" algn="ctr">
                      <a:solidFill>
                        <a:srgbClr val="D8DCEC"/>
                      </a:solidFill>
                      <a:prstDash val="solid"/>
                      <a:round/>
                      <a:headEnd type="none" w="med" len="med"/>
                      <a:tailEnd type="none" w="med" len="med"/>
                    </a:lnT>
                    <a:lnB w="12700" cap="flat" cmpd="sng" algn="ctr">
                      <a:solidFill>
                        <a:srgbClr val="D8DCEC"/>
                      </a:solidFill>
                      <a:prstDash val="solid"/>
                      <a:round/>
                      <a:headEnd type="none" w="med" len="med"/>
                      <a:tailEnd type="none" w="med" len="med"/>
                    </a:lnB>
                  </a:tcPr>
                </a:tc>
              </a:tr>
              <a:tr h="457200">
                <a:tc>
                  <a:txBody>
                    <a:bodyPr/>
                    <a:lstStyle/>
                    <a:p>
                      <a:pPr indent="0" marL="0">
                        <a:buNone/>
                      </a:pPr>
                      <a:r>
                        <a:rPr lang="en-US" sz="1300" b="1" dirty="0">
                          <a:solidFill>
                            <a:srgbClr val="1A1D29"/>
                          </a:solidFill>
                          <a:latin typeface="Calibri" pitchFamily="34" charset="0"/>
                          <a:ea typeface="Calibri" pitchFamily="34" charset="-122"/>
                          <a:cs typeface="Calibri" pitchFamily="34" charset="-120"/>
                        </a:rPr>
                        <a:t>4</a:t>
                      </a:r>
                      <a:endParaRPr lang="en-US" sz="1300" dirty="0">
                        <a:latin typeface="Calibri" charset="0"/>
                        <a:ea typeface="Calibri" charset="0"/>
                        <a:cs typeface="Calibri" charset="0"/>
                      </a:endParaRPr>
                    </a:p>
                  </a:txBody>
                  <a:tcPr marL="91440" marR="91440" marT="45720" marB="45720" anchor="ctr">
                    <a:lnL w="12700" cap="flat" cmpd="sng" algn="ctr">
                      <a:solidFill>
                        <a:srgbClr val="D8DCEC"/>
                      </a:solidFill>
                      <a:prstDash val="solid"/>
                      <a:round/>
                      <a:headEnd type="none" w="med" len="med"/>
                      <a:tailEnd type="none" w="med" len="med"/>
                    </a:lnL>
                    <a:lnR w="12700" cap="flat" cmpd="sng" algn="ctr">
                      <a:solidFill>
                        <a:srgbClr val="D8DCEC"/>
                      </a:solidFill>
                      <a:prstDash val="solid"/>
                      <a:round/>
                      <a:headEnd type="none" w="med" len="med"/>
                      <a:tailEnd type="none" w="med" len="med"/>
                    </a:lnR>
                    <a:lnT w="12700" cap="flat" cmpd="sng" algn="ctr">
                      <a:solidFill>
                        <a:srgbClr val="D8DCEC"/>
                      </a:solidFill>
                      <a:prstDash val="solid"/>
                      <a:round/>
                      <a:headEnd type="none" w="med" len="med"/>
                      <a:tailEnd type="none" w="med" len="med"/>
                    </a:lnT>
                    <a:lnB w="12700" cap="flat" cmpd="sng" algn="ctr">
                      <a:solidFill>
                        <a:srgbClr val="D8DCEC"/>
                      </a:solidFill>
                      <a:prstDash val="solid"/>
                      <a:round/>
                      <a:headEnd type="none" w="med" len="med"/>
                      <a:tailEnd type="none" w="med" len="med"/>
                    </a:lnB>
                  </a:tcPr>
                </a:tc>
                <a:tc>
                  <a:txBody>
                    <a:bodyPr/>
                    <a:lstStyle/>
                    <a:p>
                      <a:pPr indent="0" marL="0">
                        <a:buNone/>
                      </a:pPr>
                      <a:r>
                        <a:rPr lang="en-US" sz="1300" dirty="0">
                          <a:solidFill>
                            <a:srgbClr val="1A1D29"/>
                          </a:solidFill>
                          <a:latin typeface="Calibri" pitchFamily="34" charset="0"/>
                          <a:ea typeface="Calibri" pitchFamily="34" charset="-122"/>
                          <a:cs typeface="Calibri" pitchFamily="34" charset="-120"/>
                        </a:rPr>
                        <a:t>RAG question answering</a:t>
                      </a:r>
                      <a:endParaRPr lang="en-US" sz="1300" dirty="0">
                        <a:latin typeface="Calibri" charset="0"/>
                        <a:ea typeface="Calibri" charset="0"/>
                        <a:cs typeface="Calibri" charset="0"/>
                      </a:endParaRPr>
                    </a:p>
                  </a:txBody>
                  <a:tcPr marL="91440" marR="91440" marT="45720" marB="45720" anchor="ctr">
                    <a:lnL w="12700" cap="flat" cmpd="sng" algn="ctr">
                      <a:solidFill>
                        <a:srgbClr val="D8DCEC"/>
                      </a:solidFill>
                      <a:prstDash val="solid"/>
                      <a:round/>
                      <a:headEnd type="none" w="med" len="med"/>
                      <a:tailEnd type="none" w="med" len="med"/>
                    </a:lnL>
                    <a:lnR w="12700" cap="flat" cmpd="sng" algn="ctr">
                      <a:solidFill>
                        <a:srgbClr val="D8DCEC"/>
                      </a:solidFill>
                      <a:prstDash val="solid"/>
                      <a:round/>
                      <a:headEnd type="none" w="med" len="med"/>
                      <a:tailEnd type="none" w="med" len="med"/>
                    </a:lnR>
                    <a:lnT w="12700" cap="flat" cmpd="sng" algn="ctr">
                      <a:solidFill>
                        <a:srgbClr val="D8DCEC"/>
                      </a:solidFill>
                      <a:prstDash val="solid"/>
                      <a:round/>
                      <a:headEnd type="none" w="med" len="med"/>
                      <a:tailEnd type="none" w="med" len="med"/>
                    </a:lnT>
                    <a:lnB w="12700" cap="flat" cmpd="sng" algn="ctr">
                      <a:solidFill>
                        <a:srgbClr val="D8DCEC"/>
                      </a:solidFill>
                      <a:prstDash val="solid"/>
                      <a:round/>
                      <a:headEnd type="none" w="med" len="med"/>
                      <a:tailEnd type="none" w="med" len="med"/>
                    </a:lnB>
                  </a:tcPr>
                </a:tc>
                <a:tc>
                  <a:txBody>
                    <a:bodyPr/>
                    <a:lstStyle/>
                    <a:p>
                      <a:pPr indent="0" marL="0">
                        <a:buNone/>
                      </a:pPr>
                      <a:r>
                        <a:rPr lang="en-US" sz="1300" b="1" dirty="0">
                          <a:solidFill>
                            <a:srgbClr val="2E9E5B"/>
                          </a:solidFill>
                          <a:latin typeface="Calibri" pitchFamily="34" charset="0"/>
                          <a:ea typeface="Calibri" pitchFamily="34" charset="-122"/>
                          <a:cs typeface="Calibri" pitchFamily="34" charset="-120"/>
                        </a:rPr>
                        <a:t>Complete</a:t>
                      </a:r>
                      <a:endParaRPr lang="en-US" sz="1300" dirty="0">
                        <a:latin typeface="Calibri" charset="0"/>
                        <a:ea typeface="Calibri" charset="0"/>
                        <a:cs typeface="Calibri" charset="0"/>
                      </a:endParaRPr>
                    </a:p>
                  </a:txBody>
                  <a:tcPr marL="91440" marR="91440" marT="45720" marB="45720" anchor="ctr">
                    <a:lnL w="12700" cap="flat" cmpd="sng" algn="ctr">
                      <a:solidFill>
                        <a:srgbClr val="D8DCEC"/>
                      </a:solidFill>
                      <a:prstDash val="solid"/>
                      <a:round/>
                      <a:headEnd type="none" w="med" len="med"/>
                      <a:tailEnd type="none" w="med" len="med"/>
                    </a:lnL>
                    <a:lnR w="12700" cap="flat" cmpd="sng" algn="ctr">
                      <a:solidFill>
                        <a:srgbClr val="D8DCEC"/>
                      </a:solidFill>
                      <a:prstDash val="solid"/>
                      <a:round/>
                      <a:headEnd type="none" w="med" len="med"/>
                      <a:tailEnd type="none" w="med" len="med"/>
                    </a:lnR>
                    <a:lnT w="12700" cap="flat" cmpd="sng" algn="ctr">
                      <a:solidFill>
                        <a:srgbClr val="D8DCEC"/>
                      </a:solidFill>
                      <a:prstDash val="solid"/>
                      <a:round/>
                      <a:headEnd type="none" w="med" len="med"/>
                      <a:tailEnd type="none" w="med" len="med"/>
                    </a:lnT>
                    <a:lnB w="12700" cap="flat" cmpd="sng" algn="ctr">
                      <a:solidFill>
                        <a:srgbClr val="D8DCEC"/>
                      </a:solidFill>
                      <a:prstDash val="solid"/>
                      <a:round/>
                      <a:headEnd type="none" w="med" len="med"/>
                      <a:tailEnd type="none" w="med" len="med"/>
                    </a:lnB>
                  </a:tcPr>
                </a:tc>
              </a:tr>
              <a:tr h="457200">
                <a:tc>
                  <a:txBody>
                    <a:bodyPr/>
                    <a:lstStyle/>
                    <a:p>
                      <a:pPr indent="0" marL="0">
                        <a:buNone/>
                      </a:pPr>
                      <a:r>
                        <a:rPr lang="en-US" sz="1300" b="1" dirty="0">
                          <a:solidFill>
                            <a:srgbClr val="1A1D29"/>
                          </a:solidFill>
                          <a:latin typeface="Calibri" pitchFamily="34" charset="0"/>
                          <a:ea typeface="Calibri" pitchFamily="34" charset="-122"/>
                          <a:cs typeface="Calibri" pitchFamily="34" charset="-120"/>
                        </a:rPr>
                        <a:t>5</a:t>
                      </a:r>
                      <a:endParaRPr lang="en-US" sz="1300" dirty="0">
                        <a:latin typeface="Calibri" charset="0"/>
                        <a:ea typeface="Calibri" charset="0"/>
                        <a:cs typeface="Calibri" charset="0"/>
                      </a:endParaRPr>
                    </a:p>
                  </a:txBody>
                  <a:tcPr marL="91440" marR="91440" marT="45720" marB="45720" anchor="ctr">
                    <a:lnL w="12700" cap="flat" cmpd="sng" algn="ctr">
                      <a:solidFill>
                        <a:srgbClr val="D8DCEC"/>
                      </a:solidFill>
                      <a:prstDash val="solid"/>
                      <a:round/>
                      <a:headEnd type="none" w="med" len="med"/>
                      <a:tailEnd type="none" w="med" len="med"/>
                    </a:lnL>
                    <a:lnR w="12700" cap="flat" cmpd="sng" algn="ctr">
                      <a:solidFill>
                        <a:srgbClr val="D8DCEC"/>
                      </a:solidFill>
                      <a:prstDash val="solid"/>
                      <a:round/>
                      <a:headEnd type="none" w="med" len="med"/>
                      <a:tailEnd type="none" w="med" len="med"/>
                    </a:lnR>
                    <a:lnT w="12700" cap="flat" cmpd="sng" algn="ctr">
                      <a:solidFill>
                        <a:srgbClr val="D8DCEC"/>
                      </a:solidFill>
                      <a:prstDash val="solid"/>
                      <a:round/>
                      <a:headEnd type="none" w="med" len="med"/>
                      <a:tailEnd type="none" w="med" len="med"/>
                    </a:lnT>
                    <a:lnB w="12700" cap="flat" cmpd="sng" algn="ctr">
                      <a:solidFill>
                        <a:srgbClr val="D8DCEC"/>
                      </a:solidFill>
                      <a:prstDash val="solid"/>
                      <a:round/>
                      <a:headEnd type="none" w="med" len="med"/>
                      <a:tailEnd type="none" w="med" len="med"/>
                    </a:lnB>
                  </a:tcPr>
                </a:tc>
                <a:tc>
                  <a:txBody>
                    <a:bodyPr/>
                    <a:lstStyle/>
                    <a:p>
                      <a:pPr indent="0" marL="0">
                        <a:buNone/>
                      </a:pPr>
                      <a:r>
                        <a:rPr lang="en-US" sz="1300" dirty="0">
                          <a:solidFill>
                            <a:srgbClr val="1A1D29"/>
                          </a:solidFill>
                          <a:latin typeface="Calibri" pitchFamily="34" charset="0"/>
                          <a:ea typeface="Calibri" pitchFamily="34" charset="-122"/>
                          <a:cs typeface="Calibri" pitchFamily="34" charset="-120"/>
                        </a:rPr>
                        <a:t>Visual understanding (frames + CLIP)</a:t>
                      </a:r>
                      <a:endParaRPr lang="en-US" sz="1300" dirty="0">
                        <a:latin typeface="Calibri" charset="0"/>
                        <a:ea typeface="Calibri" charset="0"/>
                        <a:cs typeface="Calibri" charset="0"/>
                      </a:endParaRPr>
                    </a:p>
                  </a:txBody>
                  <a:tcPr marL="91440" marR="91440" marT="45720" marB="45720" anchor="ctr">
                    <a:lnL w="12700" cap="flat" cmpd="sng" algn="ctr">
                      <a:solidFill>
                        <a:srgbClr val="D8DCEC"/>
                      </a:solidFill>
                      <a:prstDash val="solid"/>
                      <a:round/>
                      <a:headEnd type="none" w="med" len="med"/>
                      <a:tailEnd type="none" w="med" len="med"/>
                    </a:lnL>
                    <a:lnR w="12700" cap="flat" cmpd="sng" algn="ctr">
                      <a:solidFill>
                        <a:srgbClr val="D8DCEC"/>
                      </a:solidFill>
                      <a:prstDash val="solid"/>
                      <a:round/>
                      <a:headEnd type="none" w="med" len="med"/>
                      <a:tailEnd type="none" w="med" len="med"/>
                    </a:lnR>
                    <a:lnT w="12700" cap="flat" cmpd="sng" algn="ctr">
                      <a:solidFill>
                        <a:srgbClr val="D8DCEC"/>
                      </a:solidFill>
                      <a:prstDash val="solid"/>
                      <a:round/>
                      <a:headEnd type="none" w="med" len="med"/>
                      <a:tailEnd type="none" w="med" len="med"/>
                    </a:lnT>
                    <a:lnB w="12700" cap="flat" cmpd="sng" algn="ctr">
                      <a:solidFill>
                        <a:srgbClr val="D8DCEC"/>
                      </a:solidFill>
                      <a:prstDash val="solid"/>
                      <a:round/>
                      <a:headEnd type="none" w="med" len="med"/>
                      <a:tailEnd type="none" w="med" len="med"/>
                    </a:lnB>
                  </a:tcPr>
                </a:tc>
                <a:tc>
                  <a:txBody>
                    <a:bodyPr/>
                    <a:lstStyle/>
                    <a:p>
                      <a:pPr indent="0" marL="0">
                        <a:buNone/>
                      </a:pPr>
                      <a:r>
                        <a:rPr lang="en-US" sz="1300" b="1" dirty="0">
                          <a:solidFill>
                            <a:srgbClr val="2E9E5B"/>
                          </a:solidFill>
                          <a:latin typeface="Calibri" pitchFamily="34" charset="0"/>
                          <a:ea typeface="Calibri" pitchFamily="34" charset="-122"/>
                          <a:cs typeface="Calibri" pitchFamily="34" charset="-120"/>
                        </a:rPr>
                        <a:t>Complete</a:t>
                      </a:r>
                      <a:endParaRPr lang="en-US" sz="1300" dirty="0">
                        <a:latin typeface="Calibri" charset="0"/>
                        <a:ea typeface="Calibri" charset="0"/>
                        <a:cs typeface="Calibri" charset="0"/>
                      </a:endParaRPr>
                    </a:p>
                  </a:txBody>
                  <a:tcPr marL="91440" marR="91440" marT="45720" marB="45720" anchor="ctr">
                    <a:lnL w="12700" cap="flat" cmpd="sng" algn="ctr">
                      <a:solidFill>
                        <a:srgbClr val="D8DCEC"/>
                      </a:solidFill>
                      <a:prstDash val="solid"/>
                      <a:round/>
                      <a:headEnd type="none" w="med" len="med"/>
                      <a:tailEnd type="none" w="med" len="med"/>
                    </a:lnL>
                    <a:lnR w="12700" cap="flat" cmpd="sng" algn="ctr">
                      <a:solidFill>
                        <a:srgbClr val="D8DCEC"/>
                      </a:solidFill>
                      <a:prstDash val="solid"/>
                      <a:round/>
                      <a:headEnd type="none" w="med" len="med"/>
                      <a:tailEnd type="none" w="med" len="med"/>
                    </a:lnR>
                    <a:lnT w="12700" cap="flat" cmpd="sng" algn="ctr">
                      <a:solidFill>
                        <a:srgbClr val="D8DCEC"/>
                      </a:solidFill>
                      <a:prstDash val="solid"/>
                      <a:round/>
                      <a:headEnd type="none" w="med" len="med"/>
                      <a:tailEnd type="none" w="med" len="med"/>
                    </a:lnT>
                    <a:lnB w="12700" cap="flat" cmpd="sng" algn="ctr">
                      <a:solidFill>
                        <a:srgbClr val="D8DCEC"/>
                      </a:solidFill>
                      <a:prstDash val="solid"/>
                      <a:round/>
                      <a:headEnd type="none" w="med" len="med"/>
                      <a:tailEnd type="none" w="med" len="med"/>
                    </a:lnB>
                  </a:tcPr>
                </a:tc>
              </a:tr>
              <a:tr h="457200">
                <a:tc>
                  <a:txBody>
                    <a:bodyPr/>
                    <a:lstStyle/>
                    <a:p>
                      <a:pPr indent="0" marL="0">
                        <a:buNone/>
                      </a:pPr>
                      <a:r>
                        <a:rPr lang="en-US" sz="1300" b="1" dirty="0">
                          <a:solidFill>
                            <a:srgbClr val="1A1D29"/>
                          </a:solidFill>
                          <a:latin typeface="Calibri" pitchFamily="34" charset="0"/>
                          <a:ea typeface="Calibri" pitchFamily="34" charset="-122"/>
                          <a:cs typeface="Calibri" pitchFamily="34" charset="-120"/>
                        </a:rPr>
                        <a:t>6</a:t>
                      </a:r>
                      <a:endParaRPr lang="en-US" sz="1300" dirty="0">
                        <a:latin typeface="Calibri" charset="0"/>
                        <a:ea typeface="Calibri" charset="0"/>
                        <a:cs typeface="Calibri" charset="0"/>
                      </a:endParaRPr>
                    </a:p>
                  </a:txBody>
                  <a:tcPr marL="91440" marR="91440" marT="45720" marB="45720" anchor="ctr">
                    <a:lnL w="12700" cap="flat" cmpd="sng" algn="ctr">
                      <a:solidFill>
                        <a:srgbClr val="D8DCEC"/>
                      </a:solidFill>
                      <a:prstDash val="solid"/>
                      <a:round/>
                      <a:headEnd type="none" w="med" len="med"/>
                      <a:tailEnd type="none" w="med" len="med"/>
                    </a:lnL>
                    <a:lnR w="12700" cap="flat" cmpd="sng" algn="ctr">
                      <a:solidFill>
                        <a:srgbClr val="D8DCEC"/>
                      </a:solidFill>
                      <a:prstDash val="solid"/>
                      <a:round/>
                      <a:headEnd type="none" w="med" len="med"/>
                      <a:tailEnd type="none" w="med" len="med"/>
                    </a:lnR>
                    <a:lnT w="12700" cap="flat" cmpd="sng" algn="ctr">
                      <a:solidFill>
                        <a:srgbClr val="D8DCEC"/>
                      </a:solidFill>
                      <a:prstDash val="solid"/>
                      <a:round/>
                      <a:headEnd type="none" w="med" len="med"/>
                      <a:tailEnd type="none" w="med" len="med"/>
                    </a:lnT>
                    <a:lnB w="12700" cap="flat" cmpd="sng" algn="ctr">
                      <a:solidFill>
                        <a:srgbClr val="D8DCEC"/>
                      </a:solidFill>
                      <a:prstDash val="solid"/>
                      <a:round/>
                      <a:headEnd type="none" w="med" len="med"/>
                      <a:tailEnd type="none" w="med" len="med"/>
                    </a:lnB>
                  </a:tcPr>
                </a:tc>
                <a:tc>
                  <a:txBody>
                    <a:bodyPr/>
                    <a:lstStyle/>
                    <a:p>
                      <a:pPr indent="0" marL="0">
                        <a:buNone/>
                      </a:pPr>
                      <a:r>
                        <a:rPr lang="en-US" sz="1300" dirty="0">
                          <a:solidFill>
                            <a:srgbClr val="1A1D29"/>
                          </a:solidFill>
                          <a:latin typeface="Calibri" pitchFamily="34" charset="0"/>
                          <a:ea typeface="Calibri" pitchFamily="34" charset="-122"/>
                          <a:cs typeface="Calibri" pitchFamily="34" charset="-120"/>
                        </a:rPr>
                        <a:t>Multimodal retrieval (fusion)</a:t>
                      </a:r>
                      <a:endParaRPr lang="en-US" sz="1300" dirty="0">
                        <a:latin typeface="Calibri" charset="0"/>
                        <a:ea typeface="Calibri" charset="0"/>
                        <a:cs typeface="Calibri" charset="0"/>
                      </a:endParaRPr>
                    </a:p>
                  </a:txBody>
                  <a:tcPr marL="91440" marR="91440" marT="45720" marB="45720" anchor="ctr">
                    <a:lnL w="12700" cap="flat" cmpd="sng" algn="ctr">
                      <a:solidFill>
                        <a:srgbClr val="D8DCEC"/>
                      </a:solidFill>
                      <a:prstDash val="solid"/>
                      <a:round/>
                      <a:headEnd type="none" w="med" len="med"/>
                      <a:tailEnd type="none" w="med" len="med"/>
                    </a:lnL>
                    <a:lnR w="12700" cap="flat" cmpd="sng" algn="ctr">
                      <a:solidFill>
                        <a:srgbClr val="D8DCEC"/>
                      </a:solidFill>
                      <a:prstDash val="solid"/>
                      <a:round/>
                      <a:headEnd type="none" w="med" len="med"/>
                      <a:tailEnd type="none" w="med" len="med"/>
                    </a:lnR>
                    <a:lnT w="12700" cap="flat" cmpd="sng" algn="ctr">
                      <a:solidFill>
                        <a:srgbClr val="D8DCEC"/>
                      </a:solidFill>
                      <a:prstDash val="solid"/>
                      <a:round/>
                      <a:headEnd type="none" w="med" len="med"/>
                      <a:tailEnd type="none" w="med" len="med"/>
                    </a:lnT>
                    <a:lnB w="12700" cap="flat" cmpd="sng" algn="ctr">
                      <a:solidFill>
                        <a:srgbClr val="D8DCEC"/>
                      </a:solidFill>
                      <a:prstDash val="solid"/>
                      <a:round/>
                      <a:headEnd type="none" w="med" len="med"/>
                      <a:tailEnd type="none" w="med" len="med"/>
                    </a:lnB>
                  </a:tcPr>
                </a:tc>
                <a:tc>
                  <a:txBody>
                    <a:bodyPr/>
                    <a:lstStyle/>
                    <a:p>
                      <a:pPr indent="0" marL="0">
                        <a:buNone/>
                      </a:pPr>
                      <a:r>
                        <a:rPr lang="en-US" sz="1300" b="1" dirty="0">
                          <a:solidFill>
                            <a:srgbClr val="B8860B"/>
                          </a:solidFill>
                          <a:latin typeface="Calibri" pitchFamily="34" charset="0"/>
                          <a:ea typeface="Calibri" pitchFamily="34" charset="-122"/>
                          <a:cs typeface="Calibri" pitchFamily="34" charset="-120"/>
                        </a:rPr>
                        <a:t>In progress</a:t>
                      </a:r>
                      <a:endParaRPr lang="en-US" sz="1300" dirty="0">
                        <a:latin typeface="Calibri" charset="0"/>
                        <a:ea typeface="Calibri" charset="0"/>
                        <a:cs typeface="Calibri" charset="0"/>
                      </a:endParaRPr>
                    </a:p>
                  </a:txBody>
                  <a:tcPr marL="91440" marR="91440" marT="45720" marB="45720" anchor="ctr">
                    <a:lnL w="12700" cap="flat" cmpd="sng" algn="ctr">
                      <a:solidFill>
                        <a:srgbClr val="D8DCEC"/>
                      </a:solidFill>
                      <a:prstDash val="solid"/>
                      <a:round/>
                      <a:headEnd type="none" w="med" len="med"/>
                      <a:tailEnd type="none" w="med" len="med"/>
                    </a:lnL>
                    <a:lnR w="12700" cap="flat" cmpd="sng" algn="ctr">
                      <a:solidFill>
                        <a:srgbClr val="D8DCEC"/>
                      </a:solidFill>
                      <a:prstDash val="solid"/>
                      <a:round/>
                      <a:headEnd type="none" w="med" len="med"/>
                      <a:tailEnd type="none" w="med" len="med"/>
                    </a:lnR>
                    <a:lnT w="12700" cap="flat" cmpd="sng" algn="ctr">
                      <a:solidFill>
                        <a:srgbClr val="D8DCEC"/>
                      </a:solidFill>
                      <a:prstDash val="solid"/>
                      <a:round/>
                      <a:headEnd type="none" w="med" len="med"/>
                      <a:tailEnd type="none" w="med" len="med"/>
                    </a:lnT>
                    <a:lnB w="12700" cap="flat" cmpd="sng" algn="ctr">
                      <a:solidFill>
                        <a:srgbClr val="D8DCEC"/>
                      </a:solidFill>
                      <a:prstDash val="solid"/>
                      <a:round/>
                      <a:headEnd type="none" w="med" len="med"/>
                      <a:tailEnd type="none" w="med" len="med"/>
                    </a:lnB>
                  </a:tcPr>
                </a:tc>
              </a:tr>
              <a:tr h="457200">
                <a:tc>
                  <a:txBody>
                    <a:bodyPr/>
                    <a:lstStyle/>
                    <a:p>
                      <a:pPr indent="0" marL="0">
                        <a:buNone/>
                      </a:pPr>
                      <a:r>
                        <a:rPr lang="en-US" sz="1300" b="1" dirty="0">
                          <a:solidFill>
                            <a:srgbClr val="1A1D29"/>
                          </a:solidFill>
                          <a:latin typeface="Calibri" pitchFamily="34" charset="0"/>
                          <a:ea typeface="Calibri" pitchFamily="34" charset="-122"/>
                          <a:cs typeface="Calibri" pitchFamily="34" charset="-120"/>
                        </a:rPr>
                        <a:t>7–12</a:t>
                      </a:r>
                      <a:endParaRPr lang="en-US" sz="1300" dirty="0">
                        <a:latin typeface="Calibri" charset="0"/>
                        <a:ea typeface="Calibri" charset="0"/>
                        <a:cs typeface="Calibri" charset="0"/>
                      </a:endParaRPr>
                    </a:p>
                  </a:txBody>
                  <a:tcPr marL="91440" marR="91440" marT="45720" marB="45720" anchor="ctr">
                    <a:lnL w="12700" cap="flat" cmpd="sng" algn="ctr">
                      <a:solidFill>
                        <a:srgbClr val="D8DCEC"/>
                      </a:solidFill>
                      <a:prstDash val="solid"/>
                      <a:round/>
                      <a:headEnd type="none" w="med" len="med"/>
                      <a:tailEnd type="none" w="med" len="med"/>
                    </a:lnL>
                    <a:lnR w="12700" cap="flat" cmpd="sng" algn="ctr">
                      <a:solidFill>
                        <a:srgbClr val="D8DCEC"/>
                      </a:solidFill>
                      <a:prstDash val="solid"/>
                      <a:round/>
                      <a:headEnd type="none" w="med" len="med"/>
                      <a:tailEnd type="none" w="med" len="med"/>
                    </a:lnR>
                    <a:lnT w="12700" cap="flat" cmpd="sng" algn="ctr">
                      <a:solidFill>
                        <a:srgbClr val="D8DCEC"/>
                      </a:solidFill>
                      <a:prstDash val="solid"/>
                      <a:round/>
                      <a:headEnd type="none" w="med" len="med"/>
                      <a:tailEnd type="none" w="med" len="med"/>
                    </a:lnT>
                    <a:lnB w="12700" cap="flat" cmpd="sng" algn="ctr">
                      <a:solidFill>
                        <a:srgbClr val="D8DCEC"/>
                      </a:solidFill>
                      <a:prstDash val="solid"/>
                      <a:round/>
                      <a:headEnd type="none" w="med" len="med"/>
                      <a:tailEnd type="none" w="med" len="med"/>
                    </a:lnB>
                  </a:tcPr>
                </a:tc>
                <a:tc>
                  <a:txBody>
                    <a:bodyPr/>
                    <a:lstStyle/>
                    <a:p>
                      <a:pPr indent="0" marL="0">
                        <a:buNone/>
                      </a:pPr>
                      <a:r>
                        <a:rPr lang="en-US" sz="1300" dirty="0">
                          <a:solidFill>
                            <a:srgbClr val="1A1D29"/>
                          </a:solidFill>
                          <a:latin typeface="Calibri" pitchFamily="34" charset="0"/>
                          <a:ea typeface="Calibri" pitchFamily="34" charset="-122"/>
                          <a:cs typeface="Calibri" pitchFamily="34" charset="-120"/>
                        </a:rPr>
                        <a:t>UI polish, DB, evaluation, deployment</a:t>
                      </a:r>
                      <a:endParaRPr lang="en-US" sz="1300" dirty="0">
                        <a:latin typeface="Calibri" charset="0"/>
                        <a:ea typeface="Calibri" charset="0"/>
                        <a:cs typeface="Calibri" charset="0"/>
                      </a:endParaRPr>
                    </a:p>
                  </a:txBody>
                  <a:tcPr marL="91440" marR="91440" marT="45720" marB="45720" anchor="ctr">
                    <a:lnL w="12700" cap="flat" cmpd="sng" algn="ctr">
                      <a:solidFill>
                        <a:srgbClr val="D8DCEC"/>
                      </a:solidFill>
                      <a:prstDash val="solid"/>
                      <a:round/>
                      <a:headEnd type="none" w="med" len="med"/>
                      <a:tailEnd type="none" w="med" len="med"/>
                    </a:lnL>
                    <a:lnR w="12700" cap="flat" cmpd="sng" algn="ctr">
                      <a:solidFill>
                        <a:srgbClr val="D8DCEC"/>
                      </a:solidFill>
                      <a:prstDash val="solid"/>
                      <a:round/>
                      <a:headEnd type="none" w="med" len="med"/>
                      <a:tailEnd type="none" w="med" len="med"/>
                    </a:lnR>
                    <a:lnT w="12700" cap="flat" cmpd="sng" algn="ctr">
                      <a:solidFill>
                        <a:srgbClr val="D8DCEC"/>
                      </a:solidFill>
                      <a:prstDash val="solid"/>
                      <a:round/>
                      <a:headEnd type="none" w="med" len="med"/>
                      <a:tailEnd type="none" w="med" len="med"/>
                    </a:lnT>
                    <a:lnB w="12700" cap="flat" cmpd="sng" algn="ctr">
                      <a:solidFill>
                        <a:srgbClr val="D8DCEC"/>
                      </a:solidFill>
                      <a:prstDash val="solid"/>
                      <a:round/>
                      <a:headEnd type="none" w="med" len="med"/>
                      <a:tailEnd type="none" w="med" len="med"/>
                    </a:lnB>
                  </a:tcPr>
                </a:tc>
                <a:tc>
                  <a:txBody>
                    <a:bodyPr/>
                    <a:lstStyle/>
                    <a:p>
                      <a:pPr indent="0" marL="0">
                        <a:buNone/>
                      </a:pPr>
                      <a:r>
                        <a:rPr lang="en-US" sz="1300" b="1" dirty="0">
                          <a:solidFill>
                            <a:srgbClr val="5B6072"/>
                          </a:solidFill>
                          <a:latin typeface="Calibri" pitchFamily="34" charset="0"/>
                          <a:ea typeface="Calibri" pitchFamily="34" charset="-122"/>
                          <a:cs typeface="Calibri" pitchFamily="34" charset="-120"/>
                        </a:rPr>
                        <a:t>Planned</a:t>
                      </a:r>
                      <a:endParaRPr lang="en-US" sz="1300" dirty="0">
                        <a:latin typeface="Calibri" charset="0"/>
                        <a:ea typeface="Calibri" charset="0"/>
                        <a:cs typeface="Calibri" charset="0"/>
                      </a:endParaRPr>
                    </a:p>
                  </a:txBody>
                  <a:tcPr marL="91440" marR="91440" marT="45720" marB="45720" anchor="ctr">
                    <a:lnL w="12700" cap="flat" cmpd="sng" algn="ctr">
                      <a:solidFill>
                        <a:srgbClr val="D8DCEC"/>
                      </a:solidFill>
                      <a:prstDash val="solid"/>
                      <a:round/>
                      <a:headEnd type="none" w="med" len="med"/>
                      <a:tailEnd type="none" w="med" len="med"/>
                    </a:lnL>
                    <a:lnR w="12700" cap="flat" cmpd="sng" algn="ctr">
                      <a:solidFill>
                        <a:srgbClr val="D8DCEC"/>
                      </a:solidFill>
                      <a:prstDash val="solid"/>
                      <a:round/>
                      <a:headEnd type="none" w="med" len="med"/>
                      <a:tailEnd type="none" w="med" len="med"/>
                    </a:lnR>
                    <a:lnT w="12700" cap="flat" cmpd="sng" algn="ctr">
                      <a:solidFill>
                        <a:srgbClr val="D8DCEC"/>
                      </a:solidFill>
                      <a:prstDash val="solid"/>
                      <a:round/>
                      <a:headEnd type="none" w="med" len="med"/>
                      <a:tailEnd type="none" w="med" len="med"/>
                    </a:lnT>
                    <a:lnB w="12700" cap="flat" cmpd="sng" algn="ctr">
                      <a:solidFill>
                        <a:srgbClr val="D8DCEC"/>
                      </a:solidFill>
                      <a:prstDash val="solid"/>
                      <a:round/>
                      <a:headEnd type="none" w="med" len="med"/>
                      <a:tailEnd type="none" w="med" len="med"/>
                    </a:lnB>
                  </a:tcPr>
                </a:tc>
              </a:tr>
            </a:tbl>
          </a:graphicData>
        </a:graphic>
      </p:graphicFrame>
      <p:sp>
        <p:nvSpPr>
          <p:cNvPr id="7" name="Shape 4"/>
          <p:cNvSpPr/>
          <p:nvPr/>
        </p:nvSpPr>
        <p:spPr>
          <a:xfrm>
            <a:off x="8321040" y="1554480"/>
            <a:ext cx="3291840" cy="1920240"/>
          </a:xfrm>
          <a:prstGeom prst="roundRect">
            <a:avLst>
              <a:gd name="adj" fmla="val 3810"/>
            </a:avLst>
          </a:prstGeom>
          <a:solidFill>
            <a:srgbClr val="12163A"/>
          </a:solidFill>
          <a:ln/>
        </p:spPr>
      </p:sp>
      <p:sp>
        <p:nvSpPr>
          <p:cNvPr id="8" name="Text 5"/>
          <p:cNvSpPr txBox="1"/>
          <p:nvPr/>
        </p:nvSpPr>
        <p:spPr>
          <a:xfrm>
            <a:off x="8321040" y="1737360"/>
            <a:ext cx="3291840" cy="822960"/>
          </a:xfrm>
          <a:prstGeom prst="rect">
            <a:avLst/>
          </a:prstGeom>
          <a:noFill/>
          <a:ln/>
        </p:spPr>
        <p:txBody>
          <a:bodyPr wrap="square" lIns="0" tIns="0" rIns="0" bIns="0" rtlCol="0" anchor="ctr"/>
          <a:lstStyle/>
          <a:p>
            <a:pPr algn="ctr" indent="0" marL="0">
              <a:buNone/>
            </a:pPr>
            <a:r>
              <a:rPr lang="en-US" sz="4400" b="1" dirty="0">
                <a:solidFill>
                  <a:srgbClr val="FFFFFF"/>
                </a:solidFill>
                <a:latin typeface="Cambria" pitchFamily="34" charset="0"/>
                <a:ea typeface="Cambria" pitchFamily="34" charset="-122"/>
                <a:cs typeface="Cambria" pitchFamily="34" charset="-120"/>
              </a:rPr>
              <a:t>5 / 12</a:t>
            </a:r>
            <a:endParaRPr lang="en-US" sz="4400" dirty="0"/>
          </a:p>
        </p:txBody>
      </p:sp>
      <p:sp>
        <p:nvSpPr>
          <p:cNvPr id="9" name="Text 6"/>
          <p:cNvSpPr txBox="1"/>
          <p:nvPr/>
        </p:nvSpPr>
        <p:spPr>
          <a:xfrm>
            <a:off x="8503920" y="2514600"/>
            <a:ext cx="2926080" cy="822960"/>
          </a:xfrm>
          <a:prstGeom prst="rect">
            <a:avLst/>
          </a:prstGeom>
          <a:noFill/>
          <a:ln/>
        </p:spPr>
        <p:txBody>
          <a:bodyPr wrap="square" lIns="0" tIns="0" rIns="0" bIns="0" rtlCol="0" anchor="ctr"/>
          <a:lstStyle/>
          <a:p>
            <a:pPr algn="ctr" indent="0" marL="0">
              <a:buNone/>
            </a:pPr>
            <a:r>
              <a:rPr lang="en-US" sz="1300" dirty="0">
                <a:solidFill>
                  <a:srgbClr val="C7D0F5"/>
                </a:solidFill>
                <a:latin typeface="Calibri" pitchFamily="34" charset="0"/>
                <a:ea typeface="Calibri" pitchFamily="34" charset="-122"/>
                <a:cs typeface="Calibri" pitchFamily="34" charset="-120"/>
              </a:rPr>
              <a:t>phases fully complete</a:t>
            </a:r>
            <a:endParaRPr lang="en-US" sz="1300" dirty="0"/>
          </a:p>
          <a:p>
            <a:pPr algn="ctr" indent="0" marL="0">
              <a:buNone/>
            </a:pPr>
            <a:r>
              <a:rPr lang="en-US" sz="1300" dirty="0">
                <a:solidFill>
                  <a:srgbClr val="C7D0F5"/>
                </a:solidFill>
                <a:latin typeface="Calibri" pitchFamily="34" charset="0"/>
                <a:ea typeface="Calibri" pitchFamily="34" charset="-122"/>
                <a:cs typeface="Calibri" pitchFamily="34" charset="-120"/>
              </a:rPr>
              <a:t>and verified</a:t>
            </a:r>
            <a:endParaRPr lang="en-US" sz="1300" dirty="0"/>
          </a:p>
        </p:txBody>
      </p:sp>
      <p:sp>
        <p:nvSpPr>
          <p:cNvPr id="10" name="Shape 7"/>
          <p:cNvSpPr/>
          <p:nvPr/>
        </p:nvSpPr>
        <p:spPr>
          <a:xfrm>
            <a:off x="8321040" y="3657600"/>
            <a:ext cx="3291840" cy="1463040"/>
          </a:xfrm>
          <a:prstGeom prst="roundRect">
            <a:avLst>
              <a:gd name="adj" fmla="val 4375"/>
            </a:avLst>
          </a:prstGeom>
          <a:solidFill>
            <a:srgbClr val="FFFFFF"/>
          </a:solidFill>
          <a:ln/>
          <a:effectLst>
            <a:outerShdw sx="100000" sy="100000" kx="0" ky="0" algn="bl" rotWithShape="0" blurRad="76200" dist="25400" dir="5400000">
              <a:srgbClr val="9AA3C2">
                <a:alpha val="30000"/>
              </a:srgbClr>
            </a:outerShdw>
          </a:effectLst>
        </p:spPr>
      </p:sp>
      <p:sp>
        <p:nvSpPr>
          <p:cNvPr id="11" name="Text 8"/>
          <p:cNvSpPr txBox="1"/>
          <p:nvPr/>
        </p:nvSpPr>
        <p:spPr>
          <a:xfrm>
            <a:off x="8321040" y="3794760"/>
            <a:ext cx="3291840" cy="365760"/>
          </a:xfrm>
          <a:prstGeom prst="rect">
            <a:avLst/>
          </a:prstGeom>
          <a:noFill/>
          <a:ln/>
        </p:spPr>
        <p:txBody>
          <a:bodyPr wrap="square" lIns="0" tIns="0" rIns="0" bIns="0" rtlCol="0" anchor="ctr"/>
          <a:lstStyle/>
          <a:p>
            <a:pPr algn="ctr" indent="0" marL="0">
              <a:buNone/>
            </a:pPr>
            <a:r>
              <a:rPr lang="en-US" sz="1500" b="1" dirty="0">
                <a:solidFill>
                  <a:srgbClr val="2E9E5B"/>
                </a:solidFill>
                <a:latin typeface="Calibri" pitchFamily="34" charset="0"/>
                <a:ea typeface="Calibri" pitchFamily="34" charset="-122"/>
                <a:cs typeface="Calibri" pitchFamily="34" charset="-120"/>
              </a:rPr>
              <a:t>On track</a:t>
            </a:r>
            <a:endParaRPr lang="en-US" sz="1500" dirty="0"/>
          </a:p>
        </p:txBody>
      </p:sp>
      <p:sp>
        <p:nvSpPr>
          <p:cNvPr id="12" name="Text 9"/>
          <p:cNvSpPr txBox="1"/>
          <p:nvPr/>
        </p:nvSpPr>
        <p:spPr>
          <a:xfrm>
            <a:off x="8503920" y="4160520"/>
            <a:ext cx="2926080" cy="914400"/>
          </a:xfrm>
          <a:prstGeom prst="rect">
            <a:avLst/>
          </a:prstGeom>
          <a:noFill/>
          <a:ln/>
        </p:spPr>
        <p:txBody>
          <a:bodyPr wrap="square" lIns="0" tIns="0" rIns="0" bIns="0" rtlCol="0" anchor="ctr"/>
          <a:lstStyle/>
          <a:p>
            <a:pPr algn="ctr" indent="0" marL="0">
              <a:buNone/>
            </a:pPr>
            <a:r>
              <a:rPr lang="en-US" sz="1150" dirty="0">
                <a:solidFill>
                  <a:srgbClr val="5B6072"/>
                </a:solidFill>
                <a:latin typeface="Calibri" pitchFamily="34" charset="0"/>
                <a:ea typeface="Calibri" pitchFamily="34" charset="-122"/>
                <a:cs typeface="Calibri" pitchFamily="34" charset="-120"/>
              </a:rPr>
              <a:t>Core AI/ML pipeline (audio → search → RAG → vision) complete before extension phases</a:t>
            </a:r>
            <a:endParaRPr lang="en-US" sz="1150" dirty="0"/>
          </a:p>
        </p:txBody>
      </p:sp>
      <p:sp>
        <p:nvSpPr>
          <p:cNvPr id="13" name="Text 10"/>
          <p:cNvSpPr txBox="1"/>
          <p:nvPr/>
        </p:nvSpPr>
        <p:spPr>
          <a:xfrm>
            <a:off x="11658600" y="6473952"/>
            <a:ext cx="457200" cy="274320"/>
          </a:xfrm>
          <a:prstGeom prst="rect">
            <a:avLst/>
          </a:prstGeom>
          <a:noFill/>
          <a:ln/>
        </p:spPr>
        <p:txBody>
          <a:bodyPr wrap="square" lIns="0" tIns="0" rIns="0" bIns="0" rtlCol="0" anchor="ctr"/>
          <a:lstStyle/>
          <a:p>
            <a:pPr algn="r" indent="0" marL="0">
              <a:buNone/>
            </a:pPr>
            <a:r>
              <a:rPr lang="en-US" sz="1000" dirty="0">
                <a:solidFill>
                  <a:srgbClr val="5B6072"/>
                </a:solidFill>
                <a:latin typeface="Calibri" pitchFamily="34" charset="0"/>
                <a:ea typeface="Calibri" pitchFamily="34" charset="-122"/>
                <a:cs typeface="Calibri"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EF2FA"/>
        </a:solidFill>
      </p:bgPr>
    </p:bg>
    <p:spTree>
      <p:nvGrpSpPr>
        <p:cNvPr id="1" name=""/>
        <p:cNvGrpSpPr/>
        <p:nvPr/>
      </p:nvGrpSpPr>
      <p:grpSpPr>
        <a:xfrm>
          <a:off x="0" y="0"/>
          <a:ext cx="0" cy="0"/>
          <a:chOff x="0" y="0"/>
          <a:chExt cx="0" cy="0"/>
        </a:xfrm>
      </p:grpSpPr>
      <p:sp>
        <p:nvSpPr>
          <p:cNvPr id="2" name="Shape 0"/>
          <p:cNvSpPr/>
          <p:nvPr/>
        </p:nvSpPr>
        <p:spPr>
          <a:xfrm>
            <a:off x="8869680" y="320040"/>
            <a:ext cx="2788920" cy="384048"/>
          </a:xfrm>
          <a:prstGeom prst="roundRect">
            <a:avLst>
              <a:gd name="adj" fmla="val 19048"/>
            </a:avLst>
          </a:prstGeom>
          <a:solidFill>
            <a:srgbClr val="12163A"/>
          </a:solidFill>
          <a:ln/>
        </p:spPr>
      </p:sp>
      <p:sp>
        <p:nvSpPr>
          <p:cNvPr id="3" name="Text 1"/>
          <p:cNvSpPr txBox="1"/>
          <p:nvPr/>
        </p:nvSpPr>
        <p:spPr>
          <a:xfrm>
            <a:off x="8869680" y="320040"/>
            <a:ext cx="2788920"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CRITERION 2 · 3 MARKS</a:t>
            </a:r>
            <a:endParaRPr lang="en-US" sz="1100" dirty="0"/>
          </a:p>
        </p:txBody>
      </p:sp>
      <p:sp>
        <p:nvSpPr>
          <p:cNvPr id="4" name="Text 2"/>
          <p:cNvSpPr txBox="1"/>
          <p:nvPr/>
        </p:nvSpPr>
        <p:spPr>
          <a:xfrm>
            <a:off x="548640" y="320040"/>
            <a:ext cx="7315200" cy="320040"/>
          </a:xfrm>
          <a:prstGeom prst="rect">
            <a:avLst/>
          </a:prstGeom>
          <a:noFill/>
          <a:ln/>
        </p:spPr>
        <p:txBody>
          <a:bodyPr wrap="square" lIns="0" tIns="0" rIns="0" bIns="0" rtlCol="0" anchor="ctr"/>
          <a:lstStyle/>
          <a:p>
            <a:pPr indent="0" marL="0">
              <a:buNone/>
            </a:pPr>
            <a:r>
              <a:rPr lang="en-US" sz="1300" b="1" spc="200" kern="0" dirty="0">
                <a:solidFill>
                  <a:srgbClr val="6D8DFF"/>
                </a:solidFill>
                <a:latin typeface="Calibri" pitchFamily="34" charset="0"/>
                <a:ea typeface="Calibri" pitchFamily="34" charset="-122"/>
                <a:cs typeface="Calibri" pitchFamily="34" charset="-120"/>
              </a:rPr>
              <a:t>WORKING MODULES</a:t>
            </a:r>
            <a:endParaRPr lang="en-US" sz="1300" dirty="0"/>
          </a:p>
        </p:txBody>
      </p:sp>
      <p:sp>
        <p:nvSpPr>
          <p:cNvPr id="5" name="Text 3"/>
          <p:cNvSpPr txBox="1"/>
          <p:nvPr/>
        </p:nvSpPr>
        <p:spPr>
          <a:xfrm>
            <a:off x="548640" y="621792"/>
            <a:ext cx="10515600" cy="640080"/>
          </a:xfrm>
          <a:prstGeom prst="rect">
            <a:avLst/>
          </a:prstGeom>
          <a:noFill/>
          <a:ln/>
        </p:spPr>
        <p:txBody>
          <a:bodyPr wrap="square" lIns="0" tIns="0" rIns="0" bIns="0" rtlCol="0" anchor="ctr"/>
          <a:lstStyle/>
          <a:p>
            <a:pPr indent="0" marL="0">
              <a:buNone/>
            </a:pPr>
            <a:r>
              <a:rPr lang="en-US" sz="3000" b="1" dirty="0">
                <a:solidFill>
                  <a:srgbClr val="1A1D29"/>
                </a:solidFill>
                <a:latin typeface="Cambria" pitchFamily="34" charset="0"/>
                <a:ea typeface="Cambria" pitchFamily="34" charset="-122"/>
                <a:cs typeface="Cambria" pitchFamily="34" charset="-120"/>
              </a:rPr>
              <a:t>Implementation &amp; Functional Progress</a:t>
            </a:r>
            <a:endParaRPr lang="en-US" sz="3000" dirty="0"/>
          </a:p>
        </p:txBody>
      </p:sp>
      <p:sp>
        <p:nvSpPr>
          <p:cNvPr id="6" name="Shape 4"/>
          <p:cNvSpPr/>
          <p:nvPr/>
        </p:nvSpPr>
        <p:spPr>
          <a:xfrm>
            <a:off x="548640" y="1554480"/>
            <a:ext cx="3566160" cy="1417320"/>
          </a:xfrm>
          <a:prstGeom prst="roundRect">
            <a:avLst>
              <a:gd name="adj" fmla="val 4516"/>
            </a:avLst>
          </a:prstGeom>
          <a:solidFill>
            <a:srgbClr val="FFFFFF"/>
          </a:solidFill>
          <a:ln/>
          <a:effectLst>
            <a:outerShdw sx="100000" sy="100000" kx="0" ky="0" algn="bl" rotWithShape="0" blurRad="76200" dist="25400" dir="5400000">
              <a:srgbClr val="9AA3C2">
                <a:alpha val="30000"/>
              </a:srgbClr>
            </a:outerShdw>
          </a:effectLst>
        </p:spPr>
      </p:sp>
      <p:sp>
        <p:nvSpPr>
          <p:cNvPr id="7" name="Shape 5"/>
          <p:cNvSpPr/>
          <p:nvPr/>
        </p:nvSpPr>
        <p:spPr>
          <a:xfrm>
            <a:off x="731520" y="1737360"/>
            <a:ext cx="457200" cy="457200"/>
          </a:xfrm>
          <a:prstGeom prst="roundRect">
            <a:avLst>
              <a:gd name="adj" fmla="val 50000"/>
            </a:avLst>
          </a:prstGeom>
          <a:solidFill>
            <a:srgbClr val="6D8DFF"/>
          </a:solidFill>
          <a:ln/>
        </p:spPr>
      </p:sp>
      <p:sp>
        <p:nvSpPr>
          <p:cNvPr id="8" name="Text 6"/>
          <p:cNvSpPr txBox="1"/>
          <p:nvPr/>
        </p:nvSpPr>
        <p:spPr>
          <a:xfrm>
            <a:off x="731520" y="173736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1</a:t>
            </a:r>
            <a:endParaRPr lang="en-US" sz="1600" dirty="0"/>
          </a:p>
        </p:txBody>
      </p:sp>
      <p:sp>
        <p:nvSpPr>
          <p:cNvPr id="9" name="Text 7"/>
          <p:cNvSpPr txBox="1"/>
          <p:nvPr/>
        </p:nvSpPr>
        <p:spPr>
          <a:xfrm>
            <a:off x="1325880" y="1719072"/>
            <a:ext cx="2651760" cy="457200"/>
          </a:xfrm>
          <a:prstGeom prst="rect">
            <a:avLst/>
          </a:prstGeom>
          <a:noFill/>
          <a:ln/>
        </p:spPr>
        <p:txBody>
          <a:bodyPr wrap="square" lIns="0" tIns="0" rIns="0" bIns="0" rtlCol="0" anchor="t"/>
          <a:lstStyle/>
          <a:p>
            <a:pPr indent="0" marL="0">
              <a:buNone/>
            </a:pPr>
            <a:r>
              <a:rPr lang="en-US" sz="1400" b="1" dirty="0">
                <a:solidFill>
                  <a:srgbClr val="1A1D29"/>
                </a:solidFill>
                <a:latin typeface="Calibri" pitchFamily="34" charset="0"/>
                <a:ea typeface="Calibri" pitchFamily="34" charset="-122"/>
                <a:cs typeface="Calibri" pitchFamily="34" charset="-120"/>
              </a:rPr>
              <a:t>Video Ingestion</a:t>
            </a:r>
            <a:endParaRPr lang="en-US" sz="1400" dirty="0"/>
          </a:p>
        </p:txBody>
      </p:sp>
      <p:sp>
        <p:nvSpPr>
          <p:cNvPr id="10" name="Text 8"/>
          <p:cNvSpPr txBox="1"/>
          <p:nvPr/>
        </p:nvSpPr>
        <p:spPr>
          <a:xfrm>
            <a:off x="731520" y="2240280"/>
            <a:ext cx="3200400" cy="685800"/>
          </a:xfrm>
          <a:prstGeom prst="rect">
            <a:avLst/>
          </a:prstGeom>
          <a:noFill/>
          <a:ln/>
        </p:spPr>
        <p:txBody>
          <a:bodyPr wrap="square" lIns="0" tIns="0" rIns="0" bIns="0" rtlCol="0" anchor="ctr"/>
          <a:lstStyle/>
          <a:p>
            <a:pPr indent="0" marL="0">
              <a:buNone/>
            </a:pPr>
            <a:r>
              <a:rPr lang="en-US" sz="1050" dirty="0">
                <a:solidFill>
                  <a:srgbClr val="5B6072"/>
                </a:solidFill>
                <a:latin typeface="Calibri" pitchFamily="34" charset="0"/>
                <a:ea typeface="Calibri" pitchFamily="34" charset="-122"/>
                <a:cs typeface="Calibri" pitchFamily="34" charset="-120"/>
              </a:rPr>
              <a:t>Upload a file OR paste a YouTube URL — both feed the identical downstream pipeline</a:t>
            </a:r>
            <a:endParaRPr lang="en-US" sz="1050" dirty="0"/>
          </a:p>
        </p:txBody>
      </p:sp>
      <p:sp>
        <p:nvSpPr>
          <p:cNvPr id="11" name="Shape 9"/>
          <p:cNvSpPr/>
          <p:nvPr/>
        </p:nvSpPr>
        <p:spPr>
          <a:xfrm>
            <a:off x="4297680" y="1554480"/>
            <a:ext cx="3566160" cy="1417320"/>
          </a:xfrm>
          <a:prstGeom prst="roundRect">
            <a:avLst>
              <a:gd name="adj" fmla="val 4516"/>
            </a:avLst>
          </a:prstGeom>
          <a:solidFill>
            <a:srgbClr val="FFFFFF"/>
          </a:solidFill>
          <a:ln/>
          <a:effectLst>
            <a:outerShdw sx="100000" sy="100000" kx="0" ky="0" algn="bl" rotWithShape="0" blurRad="76200" dist="25400" dir="5400000">
              <a:srgbClr val="9AA3C2">
                <a:alpha val="30000"/>
              </a:srgbClr>
            </a:outerShdw>
          </a:effectLst>
        </p:spPr>
      </p:sp>
      <p:sp>
        <p:nvSpPr>
          <p:cNvPr id="12" name="Shape 10"/>
          <p:cNvSpPr/>
          <p:nvPr/>
        </p:nvSpPr>
        <p:spPr>
          <a:xfrm>
            <a:off x="4480560" y="1737360"/>
            <a:ext cx="457200" cy="457200"/>
          </a:xfrm>
          <a:prstGeom prst="roundRect">
            <a:avLst>
              <a:gd name="adj" fmla="val 50000"/>
            </a:avLst>
          </a:prstGeom>
          <a:solidFill>
            <a:srgbClr val="6D8DFF"/>
          </a:solidFill>
          <a:ln/>
        </p:spPr>
      </p:sp>
      <p:sp>
        <p:nvSpPr>
          <p:cNvPr id="13" name="Text 11"/>
          <p:cNvSpPr txBox="1"/>
          <p:nvPr/>
        </p:nvSpPr>
        <p:spPr>
          <a:xfrm>
            <a:off x="4480560" y="173736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2</a:t>
            </a:r>
            <a:endParaRPr lang="en-US" sz="1600" dirty="0"/>
          </a:p>
        </p:txBody>
      </p:sp>
      <p:sp>
        <p:nvSpPr>
          <p:cNvPr id="14" name="Text 12"/>
          <p:cNvSpPr txBox="1"/>
          <p:nvPr/>
        </p:nvSpPr>
        <p:spPr>
          <a:xfrm>
            <a:off x="5074920" y="1719072"/>
            <a:ext cx="2651760" cy="457200"/>
          </a:xfrm>
          <a:prstGeom prst="rect">
            <a:avLst/>
          </a:prstGeom>
          <a:noFill/>
          <a:ln/>
        </p:spPr>
        <p:txBody>
          <a:bodyPr wrap="square" lIns="0" tIns="0" rIns="0" bIns="0" rtlCol="0" anchor="t"/>
          <a:lstStyle/>
          <a:p>
            <a:pPr indent="0" marL="0">
              <a:buNone/>
            </a:pPr>
            <a:r>
              <a:rPr lang="en-US" sz="1400" b="1" dirty="0">
                <a:solidFill>
                  <a:srgbClr val="1A1D29"/>
                </a:solidFill>
                <a:latin typeface="Calibri" pitchFamily="34" charset="0"/>
                <a:ea typeface="Calibri" pitchFamily="34" charset="-122"/>
                <a:cs typeface="Calibri" pitchFamily="34" charset="-120"/>
              </a:rPr>
              <a:t>Speech Transcription</a:t>
            </a:r>
            <a:endParaRPr lang="en-US" sz="1400" dirty="0"/>
          </a:p>
        </p:txBody>
      </p:sp>
      <p:sp>
        <p:nvSpPr>
          <p:cNvPr id="15" name="Text 13"/>
          <p:cNvSpPr txBox="1"/>
          <p:nvPr/>
        </p:nvSpPr>
        <p:spPr>
          <a:xfrm>
            <a:off x="4480560" y="2240280"/>
            <a:ext cx="3200400" cy="685800"/>
          </a:xfrm>
          <a:prstGeom prst="rect">
            <a:avLst/>
          </a:prstGeom>
          <a:noFill/>
          <a:ln/>
        </p:spPr>
        <p:txBody>
          <a:bodyPr wrap="square" lIns="0" tIns="0" rIns="0" bIns="0" rtlCol="0" anchor="ctr"/>
          <a:lstStyle/>
          <a:p>
            <a:pPr indent="0" marL="0">
              <a:buNone/>
            </a:pPr>
            <a:r>
              <a:rPr lang="en-US" sz="1050" dirty="0">
                <a:solidFill>
                  <a:srgbClr val="5B6072"/>
                </a:solidFill>
                <a:latin typeface="Calibri" pitchFamily="34" charset="0"/>
                <a:ea typeface="Calibri" pitchFamily="34" charset="-122"/>
                <a:cs typeface="Calibri" pitchFamily="34" charset="-120"/>
              </a:rPr>
              <a:t>Faster-Whisper converts audio to timestamped text (CPU, quantized)</a:t>
            </a:r>
            <a:endParaRPr lang="en-US" sz="1050" dirty="0"/>
          </a:p>
        </p:txBody>
      </p:sp>
      <p:sp>
        <p:nvSpPr>
          <p:cNvPr id="16" name="Shape 14"/>
          <p:cNvSpPr/>
          <p:nvPr/>
        </p:nvSpPr>
        <p:spPr>
          <a:xfrm>
            <a:off x="8046720" y="1554480"/>
            <a:ext cx="3566160" cy="1417320"/>
          </a:xfrm>
          <a:prstGeom prst="roundRect">
            <a:avLst>
              <a:gd name="adj" fmla="val 4516"/>
            </a:avLst>
          </a:prstGeom>
          <a:solidFill>
            <a:srgbClr val="FFFFFF"/>
          </a:solidFill>
          <a:ln/>
          <a:effectLst>
            <a:outerShdw sx="100000" sy="100000" kx="0" ky="0" algn="bl" rotWithShape="0" blurRad="76200" dist="25400" dir="5400000">
              <a:srgbClr val="9AA3C2">
                <a:alpha val="30000"/>
              </a:srgbClr>
            </a:outerShdw>
          </a:effectLst>
        </p:spPr>
      </p:sp>
      <p:sp>
        <p:nvSpPr>
          <p:cNvPr id="17" name="Shape 15"/>
          <p:cNvSpPr/>
          <p:nvPr/>
        </p:nvSpPr>
        <p:spPr>
          <a:xfrm>
            <a:off x="8229600" y="1737360"/>
            <a:ext cx="457200" cy="457200"/>
          </a:xfrm>
          <a:prstGeom prst="roundRect">
            <a:avLst>
              <a:gd name="adj" fmla="val 50000"/>
            </a:avLst>
          </a:prstGeom>
          <a:solidFill>
            <a:srgbClr val="6D8DFF"/>
          </a:solidFill>
          <a:ln/>
        </p:spPr>
      </p:sp>
      <p:sp>
        <p:nvSpPr>
          <p:cNvPr id="18" name="Text 16"/>
          <p:cNvSpPr txBox="1"/>
          <p:nvPr/>
        </p:nvSpPr>
        <p:spPr>
          <a:xfrm>
            <a:off x="8229600" y="173736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3</a:t>
            </a:r>
            <a:endParaRPr lang="en-US" sz="1600" dirty="0"/>
          </a:p>
        </p:txBody>
      </p:sp>
      <p:sp>
        <p:nvSpPr>
          <p:cNvPr id="19" name="Text 17"/>
          <p:cNvSpPr txBox="1"/>
          <p:nvPr/>
        </p:nvSpPr>
        <p:spPr>
          <a:xfrm>
            <a:off x="8823960" y="1719072"/>
            <a:ext cx="2651760" cy="457200"/>
          </a:xfrm>
          <a:prstGeom prst="rect">
            <a:avLst/>
          </a:prstGeom>
          <a:noFill/>
          <a:ln/>
        </p:spPr>
        <p:txBody>
          <a:bodyPr wrap="square" lIns="0" tIns="0" rIns="0" bIns="0" rtlCol="0" anchor="t"/>
          <a:lstStyle/>
          <a:p>
            <a:pPr indent="0" marL="0">
              <a:buNone/>
            </a:pPr>
            <a:r>
              <a:rPr lang="en-US" sz="1400" b="1" dirty="0">
                <a:solidFill>
                  <a:srgbClr val="1A1D29"/>
                </a:solidFill>
                <a:latin typeface="Calibri" pitchFamily="34" charset="0"/>
                <a:ea typeface="Calibri" pitchFamily="34" charset="-122"/>
                <a:cs typeface="Calibri" pitchFamily="34" charset="-120"/>
              </a:rPr>
              <a:t>Chunking + Embeddings</a:t>
            </a:r>
            <a:endParaRPr lang="en-US" sz="1400" dirty="0"/>
          </a:p>
        </p:txBody>
      </p:sp>
      <p:sp>
        <p:nvSpPr>
          <p:cNvPr id="20" name="Text 18"/>
          <p:cNvSpPr txBox="1"/>
          <p:nvPr/>
        </p:nvSpPr>
        <p:spPr>
          <a:xfrm>
            <a:off x="8229600" y="2240280"/>
            <a:ext cx="3200400" cy="685800"/>
          </a:xfrm>
          <a:prstGeom prst="rect">
            <a:avLst/>
          </a:prstGeom>
          <a:noFill/>
          <a:ln/>
        </p:spPr>
        <p:txBody>
          <a:bodyPr wrap="square" lIns="0" tIns="0" rIns="0" bIns="0" rtlCol="0" anchor="ctr"/>
          <a:lstStyle/>
          <a:p>
            <a:pPr indent="0" marL="0">
              <a:buNone/>
            </a:pPr>
            <a:r>
              <a:rPr lang="en-US" sz="1050" dirty="0">
                <a:solidFill>
                  <a:srgbClr val="5B6072"/>
                </a:solidFill>
                <a:latin typeface="Calibri" pitchFamily="34" charset="0"/>
                <a:ea typeface="Calibri" pitchFamily="34" charset="-122"/>
                <a:cs typeface="Calibri" pitchFamily="34" charset="-120"/>
              </a:rPr>
              <a:t>Transcript split into semantically searchable, timestamp-exact chunks</a:t>
            </a:r>
            <a:endParaRPr lang="en-US" sz="1050" dirty="0"/>
          </a:p>
        </p:txBody>
      </p:sp>
      <p:sp>
        <p:nvSpPr>
          <p:cNvPr id="21" name="Shape 19"/>
          <p:cNvSpPr/>
          <p:nvPr/>
        </p:nvSpPr>
        <p:spPr>
          <a:xfrm>
            <a:off x="548640" y="3154680"/>
            <a:ext cx="3566160" cy="1417320"/>
          </a:xfrm>
          <a:prstGeom prst="roundRect">
            <a:avLst>
              <a:gd name="adj" fmla="val 4516"/>
            </a:avLst>
          </a:prstGeom>
          <a:solidFill>
            <a:srgbClr val="FFFFFF"/>
          </a:solidFill>
          <a:ln/>
          <a:effectLst>
            <a:outerShdw sx="100000" sy="100000" kx="0" ky="0" algn="bl" rotWithShape="0" blurRad="76200" dist="25400" dir="5400000">
              <a:srgbClr val="9AA3C2">
                <a:alpha val="30000"/>
              </a:srgbClr>
            </a:outerShdw>
          </a:effectLst>
        </p:spPr>
      </p:sp>
      <p:sp>
        <p:nvSpPr>
          <p:cNvPr id="22" name="Shape 20"/>
          <p:cNvSpPr/>
          <p:nvPr/>
        </p:nvSpPr>
        <p:spPr>
          <a:xfrm>
            <a:off x="731520" y="3337560"/>
            <a:ext cx="457200" cy="457200"/>
          </a:xfrm>
          <a:prstGeom prst="roundRect">
            <a:avLst>
              <a:gd name="adj" fmla="val 50000"/>
            </a:avLst>
          </a:prstGeom>
          <a:solidFill>
            <a:srgbClr val="6D8DFF"/>
          </a:solidFill>
          <a:ln/>
        </p:spPr>
      </p:sp>
      <p:sp>
        <p:nvSpPr>
          <p:cNvPr id="23" name="Text 21"/>
          <p:cNvSpPr txBox="1"/>
          <p:nvPr/>
        </p:nvSpPr>
        <p:spPr>
          <a:xfrm>
            <a:off x="731520" y="333756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4</a:t>
            </a:r>
            <a:endParaRPr lang="en-US" sz="1600" dirty="0"/>
          </a:p>
        </p:txBody>
      </p:sp>
      <p:sp>
        <p:nvSpPr>
          <p:cNvPr id="24" name="Text 22"/>
          <p:cNvSpPr txBox="1"/>
          <p:nvPr/>
        </p:nvSpPr>
        <p:spPr>
          <a:xfrm>
            <a:off x="1325880" y="3319272"/>
            <a:ext cx="2651760" cy="457200"/>
          </a:xfrm>
          <a:prstGeom prst="rect">
            <a:avLst/>
          </a:prstGeom>
          <a:noFill/>
          <a:ln/>
        </p:spPr>
        <p:txBody>
          <a:bodyPr wrap="square" lIns="0" tIns="0" rIns="0" bIns="0" rtlCol="0" anchor="t"/>
          <a:lstStyle/>
          <a:p>
            <a:pPr indent="0" marL="0">
              <a:buNone/>
            </a:pPr>
            <a:r>
              <a:rPr lang="en-US" sz="1400" b="1" dirty="0">
                <a:solidFill>
                  <a:srgbClr val="1A1D29"/>
                </a:solidFill>
                <a:latin typeface="Calibri" pitchFamily="34" charset="0"/>
                <a:ea typeface="Calibri" pitchFamily="34" charset="-122"/>
                <a:cs typeface="Calibri" pitchFamily="34" charset="-120"/>
              </a:rPr>
              <a:t>Vector Search</a:t>
            </a:r>
            <a:endParaRPr lang="en-US" sz="1400" dirty="0"/>
          </a:p>
        </p:txBody>
      </p:sp>
      <p:sp>
        <p:nvSpPr>
          <p:cNvPr id="25" name="Text 23"/>
          <p:cNvSpPr txBox="1"/>
          <p:nvPr/>
        </p:nvSpPr>
        <p:spPr>
          <a:xfrm>
            <a:off x="731520" y="3840480"/>
            <a:ext cx="3200400" cy="685800"/>
          </a:xfrm>
          <a:prstGeom prst="rect">
            <a:avLst/>
          </a:prstGeom>
          <a:noFill/>
          <a:ln/>
        </p:spPr>
        <p:txBody>
          <a:bodyPr wrap="square" lIns="0" tIns="0" rIns="0" bIns="0" rtlCol="0" anchor="ctr"/>
          <a:lstStyle/>
          <a:p>
            <a:pPr indent="0" marL="0">
              <a:buNone/>
            </a:pPr>
            <a:r>
              <a:rPr lang="en-US" sz="1050" dirty="0">
                <a:solidFill>
                  <a:srgbClr val="5B6072"/>
                </a:solidFill>
                <a:latin typeface="Calibri" pitchFamily="34" charset="0"/>
                <a:ea typeface="Calibri" pitchFamily="34" charset="-122"/>
                <a:cs typeface="Calibri" pitchFamily="34" charset="-120"/>
              </a:rPr>
              <a:t>ChromaDB semantic search — find the right moment by meaning, not keywords</a:t>
            </a:r>
            <a:endParaRPr lang="en-US" sz="1050" dirty="0"/>
          </a:p>
        </p:txBody>
      </p:sp>
      <p:sp>
        <p:nvSpPr>
          <p:cNvPr id="26" name="Shape 24"/>
          <p:cNvSpPr/>
          <p:nvPr/>
        </p:nvSpPr>
        <p:spPr>
          <a:xfrm>
            <a:off x="4297680" y="3154680"/>
            <a:ext cx="3566160" cy="1417320"/>
          </a:xfrm>
          <a:prstGeom prst="roundRect">
            <a:avLst>
              <a:gd name="adj" fmla="val 4516"/>
            </a:avLst>
          </a:prstGeom>
          <a:solidFill>
            <a:srgbClr val="FFFFFF"/>
          </a:solidFill>
          <a:ln/>
          <a:effectLst>
            <a:outerShdw sx="100000" sy="100000" kx="0" ky="0" algn="bl" rotWithShape="0" blurRad="76200" dist="25400" dir="5400000">
              <a:srgbClr val="9AA3C2">
                <a:alpha val="30000"/>
              </a:srgbClr>
            </a:outerShdw>
          </a:effectLst>
        </p:spPr>
      </p:sp>
      <p:sp>
        <p:nvSpPr>
          <p:cNvPr id="27" name="Shape 25"/>
          <p:cNvSpPr/>
          <p:nvPr/>
        </p:nvSpPr>
        <p:spPr>
          <a:xfrm>
            <a:off x="4480560" y="3337560"/>
            <a:ext cx="457200" cy="457200"/>
          </a:xfrm>
          <a:prstGeom prst="roundRect">
            <a:avLst>
              <a:gd name="adj" fmla="val 50000"/>
            </a:avLst>
          </a:prstGeom>
          <a:solidFill>
            <a:srgbClr val="6D8DFF"/>
          </a:solidFill>
          <a:ln/>
        </p:spPr>
      </p:sp>
      <p:sp>
        <p:nvSpPr>
          <p:cNvPr id="28" name="Text 26"/>
          <p:cNvSpPr txBox="1"/>
          <p:nvPr/>
        </p:nvSpPr>
        <p:spPr>
          <a:xfrm>
            <a:off x="4480560" y="333756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5</a:t>
            </a:r>
            <a:endParaRPr lang="en-US" sz="1600" dirty="0"/>
          </a:p>
        </p:txBody>
      </p:sp>
      <p:sp>
        <p:nvSpPr>
          <p:cNvPr id="29" name="Text 27"/>
          <p:cNvSpPr txBox="1"/>
          <p:nvPr/>
        </p:nvSpPr>
        <p:spPr>
          <a:xfrm>
            <a:off x="5074920" y="3319272"/>
            <a:ext cx="2651760" cy="457200"/>
          </a:xfrm>
          <a:prstGeom prst="rect">
            <a:avLst/>
          </a:prstGeom>
          <a:noFill/>
          <a:ln/>
        </p:spPr>
        <p:txBody>
          <a:bodyPr wrap="square" lIns="0" tIns="0" rIns="0" bIns="0" rtlCol="0" anchor="t"/>
          <a:lstStyle/>
          <a:p>
            <a:pPr indent="0" marL="0">
              <a:buNone/>
            </a:pPr>
            <a:r>
              <a:rPr lang="en-US" sz="1400" b="1" dirty="0">
                <a:solidFill>
                  <a:srgbClr val="1A1D29"/>
                </a:solidFill>
                <a:latin typeface="Calibri" pitchFamily="34" charset="0"/>
                <a:ea typeface="Calibri" pitchFamily="34" charset="-122"/>
                <a:cs typeface="Calibri" pitchFamily="34" charset="-120"/>
              </a:rPr>
              <a:t>RAG Question Answering</a:t>
            </a:r>
            <a:endParaRPr lang="en-US" sz="1400" dirty="0"/>
          </a:p>
        </p:txBody>
      </p:sp>
      <p:sp>
        <p:nvSpPr>
          <p:cNvPr id="30" name="Text 28"/>
          <p:cNvSpPr txBox="1"/>
          <p:nvPr/>
        </p:nvSpPr>
        <p:spPr>
          <a:xfrm>
            <a:off x="4480560" y="3840480"/>
            <a:ext cx="3200400" cy="685800"/>
          </a:xfrm>
          <a:prstGeom prst="rect">
            <a:avLst/>
          </a:prstGeom>
          <a:noFill/>
          <a:ln/>
        </p:spPr>
        <p:txBody>
          <a:bodyPr wrap="square" lIns="0" tIns="0" rIns="0" bIns="0" rtlCol="0" anchor="ctr"/>
          <a:lstStyle/>
          <a:p>
            <a:pPr indent="0" marL="0">
              <a:buNone/>
            </a:pPr>
            <a:r>
              <a:rPr lang="en-US" sz="1050" dirty="0">
                <a:solidFill>
                  <a:srgbClr val="5B6072"/>
                </a:solidFill>
                <a:latin typeface="Calibri" pitchFamily="34" charset="0"/>
                <a:ea typeface="Calibri" pitchFamily="34" charset="-122"/>
                <a:cs typeface="Calibri" pitchFamily="34" charset="-120"/>
              </a:rPr>
              <a:t>Local LLM answers questions, grounded in retrieved transcript text, with citations</a:t>
            </a:r>
            <a:endParaRPr lang="en-US" sz="1050" dirty="0"/>
          </a:p>
        </p:txBody>
      </p:sp>
      <p:sp>
        <p:nvSpPr>
          <p:cNvPr id="31" name="Shape 29"/>
          <p:cNvSpPr/>
          <p:nvPr/>
        </p:nvSpPr>
        <p:spPr>
          <a:xfrm>
            <a:off x="8046720" y="3154680"/>
            <a:ext cx="3566160" cy="1417320"/>
          </a:xfrm>
          <a:prstGeom prst="roundRect">
            <a:avLst>
              <a:gd name="adj" fmla="val 4516"/>
            </a:avLst>
          </a:prstGeom>
          <a:solidFill>
            <a:srgbClr val="FFFFFF"/>
          </a:solidFill>
          <a:ln/>
          <a:effectLst>
            <a:outerShdw sx="100000" sy="100000" kx="0" ky="0" algn="bl" rotWithShape="0" blurRad="76200" dist="25400" dir="5400000">
              <a:srgbClr val="9AA3C2">
                <a:alpha val="30000"/>
              </a:srgbClr>
            </a:outerShdw>
          </a:effectLst>
        </p:spPr>
      </p:sp>
      <p:sp>
        <p:nvSpPr>
          <p:cNvPr id="32" name="Shape 30"/>
          <p:cNvSpPr/>
          <p:nvPr/>
        </p:nvSpPr>
        <p:spPr>
          <a:xfrm>
            <a:off x="8229600" y="3337560"/>
            <a:ext cx="457200" cy="457200"/>
          </a:xfrm>
          <a:prstGeom prst="roundRect">
            <a:avLst>
              <a:gd name="adj" fmla="val 50000"/>
            </a:avLst>
          </a:prstGeom>
          <a:solidFill>
            <a:srgbClr val="6D8DFF"/>
          </a:solidFill>
          <a:ln/>
        </p:spPr>
      </p:sp>
      <p:sp>
        <p:nvSpPr>
          <p:cNvPr id="33" name="Text 31"/>
          <p:cNvSpPr txBox="1"/>
          <p:nvPr/>
        </p:nvSpPr>
        <p:spPr>
          <a:xfrm>
            <a:off x="8229600" y="333756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6</a:t>
            </a:r>
            <a:endParaRPr lang="en-US" sz="1600" dirty="0"/>
          </a:p>
        </p:txBody>
      </p:sp>
      <p:sp>
        <p:nvSpPr>
          <p:cNvPr id="34" name="Text 32"/>
          <p:cNvSpPr txBox="1"/>
          <p:nvPr/>
        </p:nvSpPr>
        <p:spPr>
          <a:xfrm>
            <a:off x="8823960" y="3319272"/>
            <a:ext cx="2651760" cy="457200"/>
          </a:xfrm>
          <a:prstGeom prst="rect">
            <a:avLst/>
          </a:prstGeom>
          <a:noFill/>
          <a:ln/>
        </p:spPr>
        <p:txBody>
          <a:bodyPr wrap="square" lIns="0" tIns="0" rIns="0" bIns="0" rtlCol="0" anchor="t"/>
          <a:lstStyle/>
          <a:p>
            <a:pPr indent="0" marL="0">
              <a:buNone/>
            </a:pPr>
            <a:r>
              <a:rPr lang="en-US" sz="1400" b="1" dirty="0">
                <a:solidFill>
                  <a:srgbClr val="1A1D29"/>
                </a:solidFill>
                <a:latin typeface="Calibri" pitchFamily="34" charset="0"/>
                <a:ea typeface="Calibri" pitchFamily="34" charset="-122"/>
                <a:cs typeface="Calibri" pitchFamily="34" charset="-120"/>
              </a:rPr>
              <a:t>Visual Search (CLIP)</a:t>
            </a:r>
            <a:endParaRPr lang="en-US" sz="1400" dirty="0"/>
          </a:p>
        </p:txBody>
      </p:sp>
      <p:sp>
        <p:nvSpPr>
          <p:cNvPr id="35" name="Text 33"/>
          <p:cNvSpPr txBox="1"/>
          <p:nvPr/>
        </p:nvSpPr>
        <p:spPr>
          <a:xfrm>
            <a:off x="8229600" y="3840480"/>
            <a:ext cx="3200400" cy="685800"/>
          </a:xfrm>
          <a:prstGeom prst="rect">
            <a:avLst/>
          </a:prstGeom>
          <a:noFill/>
          <a:ln/>
        </p:spPr>
        <p:txBody>
          <a:bodyPr wrap="square" lIns="0" tIns="0" rIns="0" bIns="0" rtlCol="0" anchor="ctr"/>
          <a:lstStyle/>
          <a:p>
            <a:pPr indent="0" marL="0">
              <a:buNone/>
            </a:pPr>
            <a:r>
              <a:rPr lang="en-US" sz="1050" dirty="0">
                <a:solidFill>
                  <a:srgbClr val="5B6072"/>
                </a:solidFill>
                <a:latin typeface="Calibri" pitchFamily="34" charset="0"/>
                <a:ea typeface="Calibri" pitchFamily="34" charset="-122"/>
                <a:cs typeface="Calibri" pitchFamily="34" charset="-120"/>
              </a:rPr>
              <a:t>Frames sampled and embedded — search video content by describing what's shown</a:t>
            </a:r>
            <a:endParaRPr lang="en-US" sz="1050" dirty="0"/>
          </a:p>
        </p:txBody>
      </p:sp>
      <p:sp>
        <p:nvSpPr>
          <p:cNvPr id="36" name="Text 34"/>
          <p:cNvSpPr txBox="1"/>
          <p:nvPr/>
        </p:nvSpPr>
        <p:spPr>
          <a:xfrm>
            <a:off x="11658600" y="6473952"/>
            <a:ext cx="457200" cy="274320"/>
          </a:xfrm>
          <a:prstGeom prst="rect">
            <a:avLst/>
          </a:prstGeom>
          <a:noFill/>
          <a:ln/>
        </p:spPr>
        <p:txBody>
          <a:bodyPr wrap="square" lIns="0" tIns="0" rIns="0" bIns="0" rtlCol="0" anchor="ctr"/>
          <a:lstStyle/>
          <a:p>
            <a:pPr algn="r" indent="0" marL="0">
              <a:buNone/>
            </a:pPr>
            <a:r>
              <a:rPr lang="en-US" sz="1000" dirty="0">
                <a:solidFill>
                  <a:srgbClr val="5B6072"/>
                </a:solidFill>
                <a:latin typeface="Calibri" pitchFamily="34" charset="0"/>
                <a:ea typeface="Calibri" pitchFamily="34" charset="-122"/>
                <a:cs typeface="Calibri"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EF2FA"/>
        </a:solidFill>
      </p:bgPr>
    </p:bg>
    <p:spTree>
      <p:nvGrpSpPr>
        <p:cNvPr id="1" name=""/>
        <p:cNvGrpSpPr/>
        <p:nvPr/>
      </p:nvGrpSpPr>
      <p:grpSpPr>
        <a:xfrm>
          <a:off x="0" y="0"/>
          <a:ext cx="0" cy="0"/>
          <a:chOff x="0" y="0"/>
          <a:chExt cx="0" cy="0"/>
        </a:xfrm>
      </p:grpSpPr>
      <p:sp>
        <p:nvSpPr>
          <p:cNvPr id="2" name="Shape 0"/>
          <p:cNvSpPr/>
          <p:nvPr/>
        </p:nvSpPr>
        <p:spPr>
          <a:xfrm>
            <a:off x="8869680" y="320040"/>
            <a:ext cx="2788920" cy="384048"/>
          </a:xfrm>
          <a:prstGeom prst="roundRect">
            <a:avLst>
              <a:gd name="adj" fmla="val 19048"/>
            </a:avLst>
          </a:prstGeom>
          <a:solidFill>
            <a:srgbClr val="12163A"/>
          </a:solidFill>
          <a:ln/>
        </p:spPr>
      </p:sp>
      <p:sp>
        <p:nvSpPr>
          <p:cNvPr id="3" name="Text 1"/>
          <p:cNvSpPr txBox="1"/>
          <p:nvPr/>
        </p:nvSpPr>
        <p:spPr>
          <a:xfrm>
            <a:off x="8869680" y="320040"/>
            <a:ext cx="2788920"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CRITERION 3 · 3 MARKS</a:t>
            </a:r>
            <a:endParaRPr lang="en-US" sz="1100" dirty="0"/>
          </a:p>
        </p:txBody>
      </p:sp>
      <p:sp>
        <p:nvSpPr>
          <p:cNvPr id="4" name="Text 2"/>
          <p:cNvSpPr txBox="1"/>
          <p:nvPr/>
        </p:nvSpPr>
        <p:spPr>
          <a:xfrm>
            <a:off x="548640" y="320040"/>
            <a:ext cx="7315200" cy="320040"/>
          </a:xfrm>
          <a:prstGeom prst="rect">
            <a:avLst/>
          </a:prstGeom>
          <a:noFill/>
          <a:ln/>
        </p:spPr>
        <p:txBody>
          <a:bodyPr wrap="square" lIns="0" tIns="0" rIns="0" bIns="0" rtlCol="0" anchor="ctr"/>
          <a:lstStyle/>
          <a:p>
            <a:pPr indent="0" marL="0">
              <a:buNone/>
            </a:pPr>
            <a:r>
              <a:rPr lang="en-US" sz="1300" b="1" spc="200" kern="0" dirty="0">
                <a:solidFill>
                  <a:srgbClr val="6D8DFF"/>
                </a:solidFill>
                <a:latin typeface="Calibri" pitchFamily="34" charset="0"/>
                <a:ea typeface="Calibri" pitchFamily="34" charset="-122"/>
                <a:cs typeface="Calibri" pitchFamily="34" charset="-120"/>
              </a:rPr>
              <a:t>SYSTEM DESIGN</a:t>
            </a:r>
            <a:endParaRPr lang="en-US" sz="1300" dirty="0"/>
          </a:p>
        </p:txBody>
      </p:sp>
      <p:sp>
        <p:nvSpPr>
          <p:cNvPr id="5" name="Text 3"/>
          <p:cNvSpPr txBox="1"/>
          <p:nvPr/>
        </p:nvSpPr>
        <p:spPr>
          <a:xfrm>
            <a:off x="548640" y="621792"/>
            <a:ext cx="10515600" cy="640080"/>
          </a:xfrm>
          <a:prstGeom prst="rect">
            <a:avLst/>
          </a:prstGeom>
          <a:noFill/>
          <a:ln/>
        </p:spPr>
        <p:txBody>
          <a:bodyPr wrap="square" lIns="0" tIns="0" rIns="0" bIns="0" rtlCol="0" anchor="ctr"/>
          <a:lstStyle/>
          <a:p>
            <a:pPr indent="0" marL="0">
              <a:buNone/>
            </a:pPr>
            <a:r>
              <a:rPr lang="en-US" sz="3000" b="1" dirty="0">
                <a:solidFill>
                  <a:srgbClr val="1A1D29"/>
                </a:solidFill>
                <a:latin typeface="Cambria" pitchFamily="34" charset="0"/>
                <a:ea typeface="Cambria" pitchFamily="34" charset="-122"/>
                <a:cs typeface="Cambria" pitchFamily="34" charset="-120"/>
              </a:rPr>
              <a:t>Two Pipelines, One Retrieval Layer</a:t>
            </a:r>
            <a:endParaRPr lang="en-US" sz="3000" dirty="0"/>
          </a:p>
        </p:txBody>
      </p:sp>
      <p:sp>
        <p:nvSpPr>
          <p:cNvPr id="6" name="Text 4"/>
          <p:cNvSpPr txBox="1"/>
          <p:nvPr/>
        </p:nvSpPr>
        <p:spPr>
          <a:xfrm>
            <a:off x="548640" y="1645920"/>
            <a:ext cx="1554480" cy="548640"/>
          </a:xfrm>
          <a:prstGeom prst="rect">
            <a:avLst/>
          </a:prstGeom>
          <a:noFill/>
          <a:ln/>
        </p:spPr>
        <p:txBody>
          <a:bodyPr wrap="square" lIns="0" tIns="0" rIns="0" bIns="0" rtlCol="0" anchor="ctr"/>
          <a:lstStyle/>
          <a:p>
            <a:pPr indent="0" marL="0">
              <a:buNone/>
            </a:pPr>
            <a:r>
              <a:rPr lang="en-US" sz="1300" b="1" dirty="0">
                <a:solidFill>
                  <a:srgbClr val="6D8DFF"/>
                </a:solidFill>
                <a:latin typeface="Calibri" pitchFamily="34" charset="0"/>
                <a:ea typeface="Calibri" pitchFamily="34" charset="-122"/>
                <a:cs typeface="Calibri" pitchFamily="34" charset="-120"/>
              </a:rPr>
              <a:t>Text</a:t>
            </a:r>
            <a:endParaRPr lang="en-US" sz="1300" dirty="0"/>
          </a:p>
          <a:p>
            <a:pPr indent="0" marL="0">
              <a:buNone/>
            </a:pPr>
            <a:r>
              <a:rPr lang="en-US" sz="1300" b="1" dirty="0">
                <a:solidFill>
                  <a:srgbClr val="6D8DFF"/>
                </a:solidFill>
                <a:latin typeface="Calibri" pitchFamily="34" charset="0"/>
                <a:ea typeface="Calibri" pitchFamily="34" charset="-122"/>
                <a:cs typeface="Calibri" pitchFamily="34" charset="-120"/>
              </a:rPr>
              <a:t>Pipeline</a:t>
            </a:r>
            <a:endParaRPr lang="en-US" sz="1300" dirty="0"/>
          </a:p>
        </p:txBody>
      </p:sp>
      <p:sp>
        <p:nvSpPr>
          <p:cNvPr id="7" name="Shape 5"/>
          <p:cNvSpPr/>
          <p:nvPr/>
        </p:nvSpPr>
        <p:spPr>
          <a:xfrm>
            <a:off x="2286000" y="1691640"/>
            <a:ext cx="1600200" cy="685800"/>
          </a:xfrm>
          <a:prstGeom prst="roundRect">
            <a:avLst>
              <a:gd name="adj" fmla="val 8000"/>
            </a:avLst>
          </a:prstGeom>
          <a:solidFill>
            <a:srgbClr val="FFFFFF"/>
          </a:solidFill>
          <a:ln w="15875">
            <a:solidFill>
              <a:srgbClr val="6D8DFF"/>
            </a:solidFill>
            <a:prstDash val="solid"/>
          </a:ln>
        </p:spPr>
      </p:sp>
      <p:sp>
        <p:nvSpPr>
          <p:cNvPr id="8" name="Text 6"/>
          <p:cNvSpPr txBox="1"/>
          <p:nvPr/>
        </p:nvSpPr>
        <p:spPr>
          <a:xfrm>
            <a:off x="2340864" y="1691640"/>
            <a:ext cx="1490472" cy="685800"/>
          </a:xfrm>
          <a:prstGeom prst="rect">
            <a:avLst/>
          </a:prstGeom>
          <a:noFill/>
          <a:ln/>
        </p:spPr>
        <p:txBody>
          <a:bodyPr wrap="square" lIns="0" tIns="0" rIns="0" bIns="0" rtlCol="0" anchor="ctr"/>
          <a:lstStyle/>
          <a:p>
            <a:pPr algn="ctr" indent="0" marL="0">
              <a:buNone/>
            </a:pPr>
            <a:r>
              <a:rPr lang="en-US" sz="1050" b="1" dirty="0">
                <a:solidFill>
                  <a:srgbClr val="1A1D29"/>
                </a:solidFill>
                <a:latin typeface="Calibri" pitchFamily="34" charset="0"/>
                <a:ea typeface="Calibri" pitchFamily="34" charset="-122"/>
                <a:cs typeface="Calibri" pitchFamily="34" charset="-120"/>
              </a:rPr>
              <a:t>Video</a:t>
            </a:r>
            <a:endParaRPr lang="en-US" sz="1050" dirty="0"/>
          </a:p>
        </p:txBody>
      </p:sp>
      <p:sp>
        <p:nvSpPr>
          <p:cNvPr id="9" name="Text 7"/>
          <p:cNvSpPr txBox="1"/>
          <p:nvPr/>
        </p:nvSpPr>
        <p:spPr>
          <a:xfrm>
            <a:off x="3886200" y="1691640"/>
            <a:ext cx="256032" cy="685800"/>
          </a:xfrm>
          <a:prstGeom prst="rect">
            <a:avLst/>
          </a:prstGeom>
          <a:noFill/>
          <a:ln/>
        </p:spPr>
        <p:txBody>
          <a:bodyPr wrap="square" lIns="0" tIns="0" rIns="0" bIns="0" rtlCol="0" anchor="ctr"/>
          <a:lstStyle/>
          <a:p>
            <a:pPr algn="ctr" indent="0" marL="0">
              <a:buNone/>
            </a:pPr>
            <a:r>
              <a:rPr lang="en-US" sz="1600" b="1" dirty="0">
                <a:solidFill>
                  <a:srgbClr val="6D8DFF"/>
                </a:solidFill>
                <a:latin typeface="Calibri" pitchFamily="34" charset="0"/>
                <a:ea typeface="Calibri" pitchFamily="34" charset="-122"/>
                <a:cs typeface="Calibri" pitchFamily="34" charset="-120"/>
              </a:rPr>
              <a:t>→</a:t>
            </a:r>
            <a:endParaRPr lang="en-US" sz="1600" dirty="0"/>
          </a:p>
        </p:txBody>
      </p:sp>
      <p:sp>
        <p:nvSpPr>
          <p:cNvPr id="10" name="Shape 8"/>
          <p:cNvSpPr/>
          <p:nvPr/>
        </p:nvSpPr>
        <p:spPr>
          <a:xfrm>
            <a:off x="4142232" y="1691640"/>
            <a:ext cx="1600200" cy="685800"/>
          </a:xfrm>
          <a:prstGeom prst="roundRect">
            <a:avLst>
              <a:gd name="adj" fmla="val 8000"/>
            </a:avLst>
          </a:prstGeom>
          <a:solidFill>
            <a:srgbClr val="FFFFFF"/>
          </a:solidFill>
          <a:ln w="15875">
            <a:solidFill>
              <a:srgbClr val="6D8DFF"/>
            </a:solidFill>
            <a:prstDash val="solid"/>
          </a:ln>
        </p:spPr>
      </p:sp>
      <p:sp>
        <p:nvSpPr>
          <p:cNvPr id="11" name="Text 9"/>
          <p:cNvSpPr txBox="1"/>
          <p:nvPr/>
        </p:nvSpPr>
        <p:spPr>
          <a:xfrm>
            <a:off x="4197096" y="1691640"/>
            <a:ext cx="1490472" cy="685800"/>
          </a:xfrm>
          <a:prstGeom prst="rect">
            <a:avLst/>
          </a:prstGeom>
          <a:noFill/>
          <a:ln/>
        </p:spPr>
        <p:txBody>
          <a:bodyPr wrap="square" lIns="0" tIns="0" rIns="0" bIns="0" rtlCol="0" anchor="ctr"/>
          <a:lstStyle/>
          <a:p>
            <a:pPr algn="ctr" indent="0" marL="0">
              <a:buNone/>
            </a:pPr>
            <a:r>
              <a:rPr lang="en-US" sz="1050" b="1" dirty="0">
                <a:solidFill>
                  <a:srgbClr val="1A1D29"/>
                </a:solidFill>
                <a:latin typeface="Calibri" pitchFamily="34" charset="0"/>
                <a:ea typeface="Calibri" pitchFamily="34" charset="-122"/>
                <a:cs typeface="Calibri" pitchFamily="34" charset="-120"/>
              </a:rPr>
              <a:t>FFmpeg</a:t>
            </a:r>
            <a:endParaRPr lang="en-US" sz="1050" dirty="0"/>
          </a:p>
          <a:p>
            <a:pPr algn="ctr" indent="0" marL="0">
              <a:buNone/>
            </a:pPr>
            <a:r>
              <a:rPr lang="en-US" sz="1050" b="1" dirty="0">
                <a:solidFill>
                  <a:srgbClr val="1A1D29"/>
                </a:solidFill>
                <a:latin typeface="Calibri" pitchFamily="34" charset="0"/>
                <a:ea typeface="Calibri" pitchFamily="34" charset="-122"/>
                <a:cs typeface="Calibri" pitchFamily="34" charset="-120"/>
              </a:rPr>
              <a:t>Audio</a:t>
            </a:r>
            <a:endParaRPr lang="en-US" sz="1050" dirty="0"/>
          </a:p>
        </p:txBody>
      </p:sp>
      <p:sp>
        <p:nvSpPr>
          <p:cNvPr id="12" name="Text 10"/>
          <p:cNvSpPr txBox="1"/>
          <p:nvPr/>
        </p:nvSpPr>
        <p:spPr>
          <a:xfrm>
            <a:off x="5742432" y="1691640"/>
            <a:ext cx="256032" cy="685800"/>
          </a:xfrm>
          <a:prstGeom prst="rect">
            <a:avLst/>
          </a:prstGeom>
          <a:noFill/>
          <a:ln/>
        </p:spPr>
        <p:txBody>
          <a:bodyPr wrap="square" lIns="0" tIns="0" rIns="0" bIns="0" rtlCol="0" anchor="ctr"/>
          <a:lstStyle/>
          <a:p>
            <a:pPr algn="ctr" indent="0" marL="0">
              <a:buNone/>
            </a:pPr>
            <a:r>
              <a:rPr lang="en-US" sz="1600" b="1" dirty="0">
                <a:solidFill>
                  <a:srgbClr val="6D8DFF"/>
                </a:solidFill>
                <a:latin typeface="Calibri" pitchFamily="34" charset="0"/>
                <a:ea typeface="Calibri" pitchFamily="34" charset="-122"/>
                <a:cs typeface="Calibri" pitchFamily="34" charset="-120"/>
              </a:rPr>
              <a:t>→</a:t>
            </a:r>
            <a:endParaRPr lang="en-US" sz="1600" dirty="0"/>
          </a:p>
        </p:txBody>
      </p:sp>
      <p:sp>
        <p:nvSpPr>
          <p:cNvPr id="13" name="Shape 11"/>
          <p:cNvSpPr/>
          <p:nvPr/>
        </p:nvSpPr>
        <p:spPr>
          <a:xfrm>
            <a:off x="5998464" y="1691640"/>
            <a:ext cx="1600200" cy="685800"/>
          </a:xfrm>
          <a:prstGeom prst="roundRect">
            <a:avLst>
              <a:gd name="adj" fmla="val 8000"/>
            </a:avLst>
          </a:prstGeom>
          <a:solidFill>
            <a:srgbClr val="FFFFFF"/>
          </a:solidFill>
          <a:ln w="15875">
            <a:solidFill>
              <a:srgbClr val="6D8DFF"/>
            </a:solidFill>
            <a:prstDash val="solid"/>
          </a:ln>
        </p:spPr>
      </p:sp>
      <p:sp>
        <p:nvSpPr>
          <p:cNvPr id="14" name="Text 12"/>
          <p:cNvSpPr txBox="1"/>
          <p:nvPr/>
        </p:nvSpPr>
        <p:spPr>
          <a:xfrm>
            <a:off x="6053328" y="1691640"/>
            <a:ext cx="1490472" cy="685800"/>
          </a:xfrm>
          <a:prstGeom prst="rect">
            <a:avLst/>
          </a:prstGeom>
          <a:noFill/>
          <a:ln/>
        </p:spPr>
        <p:txBody>
          <a:bodyPr wrap="square" lIns="0" tIns="0" rIns="0" bIns="0" rtlCol="0" anchor="ctr"/>
          <a:lstStyle/>
          <a:p>
            <a:pPr algn="ctr" indent="0" marL="0">
              <a:buNone/>
            </a:pPr>
            <a:r>
              <a:rPr lang="en-US" sz="1050" b="1" dirty="0">
                <a:solidFill>
                  <a:srgbClr val="1A1D29"/>
                </a:solidFill>
                <a:latin typeface="Calibri" pitchFamily="34" charset="0"/>
                <a:ea typeface="Calibri" pitchFamily="34" charset="-122"/>
                <a:cs typeface="Calibri" pitchFamily="34" charset="-120"/>
              </a:rPr>
              <a:t>Whisper</a:t>
            </a:r>
            <a:endParaRPr lang="en-US" sz="1050" dirty="0"/>
          </a:p>
          <a:p>
            <a:pPr algn="ctr" indent="0" marL="0">
              <a:buNone/>
            </a:pPr>
            <a:r>
              <a:rPr lang="en-US" sz="1050" b="1" dirty="0">
                <a:solidFill>
                  <a:srgbClr val="1A1D29"/>
                </a:solidFill>
                <a:latin typeface="Calibri" pitchFamily="34" charset="0"/>
                <a:ea typeface="Calibri" pitchFamily="34" charset="-122"/>
                <a:cs typeface="Calibri" pitchFamily="34" charset="-120"/>
              </a:rPr>
              <a:t>Transcript</a:t>
            </a:r>
            <a:endParaRPr lang="en-US" sz="1050" dirty="0"/>
          </a:p>
        </p:txBody>
      </p:sp>
      <p:sp>
        <p:nvSpPr>
          <p:cNvPr id="15" name="Text 13"/>
          <p:cNvSpPr txBox="1"/>
          <p:nvPr/>
        </p:nvSpPr>
        <p:spPr>
          <a:xfrm>
            <a:off x="7598664" y="1691640"/>
            <a:ext cx="256032" cy="685800"/>
          </a:xfrm>
          <a:prstGeom prst="rect">
            <a:avLst/>
          </a:prstGeom>
          <a:noFill/>
          <a:ln/>
        </p:spPr>
        <p:txBody>
          <a:bodyPr wrap="square" lIns="0" tIns="0" rIns="0" bIns="0" rtlCol="0" anchor="ctr"/>
          <a:lstStyle/>
          <a:p>
            <a:pPr algn="ctr" indent="0" marL="0">
              <a:buNone/>
            </a:pPr>
            <a:r>
              <a:rPr lang="en-US" sz="1600" b="1" dirty="0">
                <a:solidFill>
                  <a:srgbClr val="6D8DFF"/>
                </a:solidFill>
                <a:latin typeface="Calibri" pitchFamily="34" charset="0"/>
                <a:ea typeface="Calibri" pitchFamily="34" charset="-122"/>
                <a:cs typeface="Calibri" pitchFamily="34" charset="-120"/>
              </a:rPr>
              <a:t>→</a:t>
            </a:r>
            <a:endParaRPr lang="en-US" sz="1600" dirty="0"/>
          </a:p>
        </p:txBody>
      </p:sp>
      <p:sp>
        <p:nvSpPr>
          <p:cNvPr id="16" name="Shape 14"/>
          <p:cNvSpPr/>
          <p:nvPr/>
        </p:nvSpPr>
        <p:spPr>
          <a:xfrm>
            <a:off x="7854696" y="1691640"/>
            <a:ext cx="1600200" cy="685800"/>
          </a:xfrm>
          <a:prstGeom prst="roundRect">
            <a:avLst>
              <a:gd name="adj" fmla="val 8000"/>
            </a:avLst>
          </a:prstGeom>
          <a:solidFill>
            <a:srgbClr val="FFFFFF"/>
          </a:solidFill>
          <a:ln w="15875">
            <a:solidFill>
              <a:srgbClr val="6D8DFF"/>
            </a:solidFill>
            <a:prstDash val="solid"/>
          </a:ln>
        </p:spPr>
      </p:sp>
      <p:sp>
        <p:nvSpPr>
          <p:cNvPr id="17" name="Text 15"/>
          <p:cNvSpPr txBox="1"/>
          <p:nvPr/>
        </p:nvSpPr>
        <p:spPr>
          <a:xfrm>
            <a:off x="7909560" y="1691640"/>
            <a:ext cx="1490472" cy="685800"/>
          </a:xfrm>
          <a:prstGeom prst="rect">
            <a:avLst/>
          </a:prstGeom>
          <a:noFill/>
          <a:ln/>
        </p:spPr>
        <p:txBody>
          <a:bodyPr wrap="square" lIns="0" tIns="0" rIns="0" bIns="0" rtlCol="0" anchor="ctr"/>
          <a:lstStyle/>
          <a:p>
            <a:pPr algn="ctr" indent="0" marL="0">
              <a:buNone/>
            </a:pPr>
            <a:r>
              <a:rPr lang="en-US" sz="1050" b="1" dirty="0">
                <a:solidFill>
                  <a:srgbClr val="1A1D29"/>
                </a:solidFill>
                <a:latin typeface="Calibri" pitchFamily="34" charset="0"/>
                <a:ea typeface="Calibri" pitchFamily="34" charset="-122"/>
                <a:cs typeface="Calibri" pitchFamily="34" charset="-120"/>
              </a:rPr>
              <a:t>Chunk +</a:t>
            </a:r>
            <a:endParaRPr lang="en-US" sz="1050" dirty="0"/>
          </a:p>
          <a:p>
            <a:pPr algn="ctr" indent="0" marL="0">
              <a:buNone/>
            </a:pPr>
            <a:r>
              <a:rPr lang="en-US" sz="1050" b="1" dirty="0">
                <a:solidFill>
                  <a:srgbClr val="1A1D29"/>
                </a:solidFill>
                <a:latin typeface="Calibri" pitchFamily="34" charset="0"/>
                <a:ea typeface="Calibri" pitchFamily="34" charset="-122"/>
                <a:cs typeface="Calibri" pitchFamily="34" charset="-120"/>
              </a:rPr>
              <a:t>Embed</a:t>
            </a:r>
            <a:endParaRPr lang="en-US" sz="1050" dirty="0"/>
          </a:p>
        </p:txBody>
      </p:sp>
      <p:sp>
        <p:nvSpPr>
          <p:cNvPr id="18" name="Text 16"/>
          <p:cNvSpPr txBox="1"/>
          <p:nvPr/>
        </p:nvSpPr>
        <p:spPr>
          <a:xfrm>
            <a:off x="9454896" y="1691640"/>
            <a:ext cx="256032" cy="685800"/>
          </a:xfrm>
          <a:prstGeom prst="rect">
            <a:avLst/>
          </a:prstGeom>
          <a:noFill/>
          <a:ln/>
        </p:spPr>
        <p:txBody>
          <a:bodyPr wrap="square" lIns="0" tIns="0" rIns="0" bIns="0" rtlCol="0" anchor="ctr"/>
          <a:lstStyle/>
          <a:p>
            <a:pPr algn="ctr" indent="0" marL="0">
              <a:buNone/>
            </a:pPr>
            <a:r>
              <a:rPr lang="en-US" sz="1600" b="1" dirty="0">
                <a:solidFill>
                  <a:srgbClr val="6D8DFF"/>
                </a:solidFill>
                <a:latin typeface="Calibri" pitchFamily="34" charset="0"/>
                <a:ea typeface="Calibri" pitchFamily="34" charset="-122"/>
                <a:cs typeface="Calibri" pitchFamily="34" charset="-120"/>
              </a:rPr>
              <a:t>→</a:t>
            </a:r>
            <a:endParaRPr lang="en-US" sz="1600" dirty="0"/>
          </a:p>
        </p:txBody>
      </p:sp>
      <p:sp>
        <p:nvSpPr>
          <p:cNvPr id="19" name="Shape 17"/>
          <p:cNvSpPr/>
          <p:nvPr/>
        </p:nvSpPr>
        <p:spPr>
          <a:xfrm>
            <a:off x="9710928" y="1691640"/>
            <a:ext cx="1600200" cy="685800"/>
          </a:xfrm>
          <a:prstGeom prst="roundRect">
            <a:avLst>
              <a:gd name="adj" fmla="val 8000"/>
            </a:avLst>
          </a:prstGeom>
          <a:solidFill>
            <a:srgbClr val="FFFFFF"/>
          </a:solidFill>
          <a:ln w="15875">
            <a:solidFill>
              <a:srgbClr val="6D8DFF"/>
            </a:solidFill>
            <a:prstDash val="solid"/>
          </a:ln>
        </p:spPr>
      </p:sp>
      <p:sp>
        <p:nvSpPr>
          <p:cNvPr id="20" name="Text 18"/>
          <p:cNvSpPr txBox="1"/>
          <p:nvPr/>
        </p:nvSpPr>
        <p:spPr>
          <a:xfrm>
            <a:off x="9765792" y="1691640"/>
            <a:ext cx="1490472" cy="685800"/>
          </a:xfrm>
          <a:prstGeom prst="rect">
            <a:avLst/>
          </a:prstGeom>
          <a:noFill/>
          <a:ln/>
        </p:spPr>
        <p:txBody>
          <a:bodyPr wrap="square" lIns="0" tIns="0" rIns="0" bIns="0" rtlCol="0" anchor="ctr"/>
          <a:lstStyle/>
          <a:p>
            <a:pPr algn="ctr" indent="0" marL="0">
              <a:buNone/>
            </a:pPr>
            <a:r>
              <a:rPr lang="en-US" sz="1050" b="1" dirty="0">
                <a:solidFill>
                  <a:srgbClr val="1A1D29"/>
                </a:solidFill>
                <a:latin typeface="Calibri" pitchFamily="34" charset="0"/>
                <a:ea typeface="Calibri" pitchFamily="34" charset="-122"/>
                <a:cs typeface="Calibri" pitchFamily="34" charset="-120"/>
              </a:rPr>
              <a:t>ChromaDB</a:t>
            </a:r>
            <a:endParaRPr lang="en-US" sz="1050" dirty="0"/>
          </a:p>
          <a:p>
            <a:pPr algn="ctr" indent="0" marL="0">
              <a:buNone/>
            </a:pPr>
            <a:r>
              <a:rPr lang="en-US" sz="1050" b="1" dirty="0">
                <a:solidFill>
                  <a:srgbClr val="1A1D29"/>
                </a:solidFill>
                <a:latin typeface="Calibri" pitchFamily="34" charset="0"/>
                <a:ea typeface="Calibri" pitchFamily="34" charset="-122"/>
                <a:cs typeface="Calibri" pitchFamily="34" charset="-120"/>
              </a:rPr>
              <a:t>Index</a:t>
            </a:r>
            <a:endParaRPr lang="en-US" sz="1050" dirty="0"/>
          </a:p>
        </p:txBody>
      </p:sp>
      <p:sp>
        <p:nvSpPr>
          <p:cNvPr id="21" name="Text 19"/>
          <p:cNvSpPr txBox="1"/>
          <p:nvPr/>
        </p:nvSpPr>
        <p:spPr>
          <a:xfrm>
            <a:off x="548640" y="2651760"/>
            <a:ext cx="1554480" cy="548640"/>
          </a:xfrm>
          <a:prstGeom prst="rect">
            <a:avLst/>
          </a:prstGeom>
          <a:noFill/>
          <a:ln/>
        </p:spPr>
        <p:txBody>
          <a:bodyPr wrap="square" lIns="0" tIns="0" rIns="0" bIns="0" rtlCol="0" anchor="ctr"/>
          <a:lstStyle/>
          <a:p>
            <a:pPr indent="0" marL="0">
              <a:buNone/>
            </a:pPr>
            <a:r>
              <a:rPr lang="en-US" sz="1300" b="1" dirty="0">
                <a:solidFill>
                  <a:srgbClr val="8E44AD"/>
                </a:solidFill>
                <a:latin typeface="Calibri" pitchFamily="34" charset="0"/>
                <a:ea typeface="Calibri" pitchFamily="34" charset="-122"/>
                <a:cs typeface="Calibri" pitchFamily="34" charset="-120"/>
              </a:rPr>
              <a:t>Visual</a:t>
            </a:r>
            <a:endParaRPr lang="en-US" sz="1300" dirty="0"/>
          </a:p>
          <a:p>
            <a:pPr indent="0" marL="0">
              <a:buNone/>
            </a:pPr>
            <a:r>
              <a:rPr lang="en-US" sz="1300" b="1" dirty="0">
                <a:solidFill>
                  <a:srgbClr val="8E44AD"/>
                </a:solidFill>
                <a:latin typeface="Calibri" pitchFamily="34" charset="0"/>
                <a:ea typeface="Calibri" pitchFamily="34" charset="-122"/>
                <a:cs typeface="Calibri" pitchFamily="34" charset="-120"/>
              </a:rPr>
              <a:t>Pipeline</a:t>
            </a:r>
            <a:endParaRPr lang="en-US" sz="1300" dirty="0"/>
          </a:p>
        </p:txBody>
      </p:sp>
      <p:sp>
        <p:nvSpPr>
          <p:cNvPr id="22" name="Shape 20"/>
          <p:cNvSpPr/>
          <p:nvPr/>
        </p:nvSpPr>
        <p:spPr>
          <a:xfrm>
            <a:off x="2286000" y="2697480"/>
            <a:ext cx="1600200" cy="685800"/>
          </a:xfrm>
          <a:prstGeom prst="roundRect">
            <a:avLst>
              <a:gd name="adj" fmla="val 8000"/>
            </a:avLst>
          </a:prstGeom>
          <a:solidFill>
            <a:srgbClr val="FFFFFF"/>
          </a:solidFill>
          <a:ln w="15875">
            <a:solidFill>
              <a:srgbClr val="8E44AD"/>
            </a:solidFill>
            <a:prstDash val="solid"/>
          </a:ln>
        </p:spPr>
      </p:sp>
      <p:sp>
        <p:nvSpPr>
          <p:cNvPr id="23" name="Text 21"/>
          <p:cNvSpPr txBox="1"/>
          <p:nvPr/>
        </p:nvSpPr>
        <p:spPr>
          <a:xfrm>
            <a:off x="2340864" y="2697480"/>
            <a:ext cx="1490472" cy="685800"/>
          </a:xfrm>
          <a:prstGeom prst="rect">
            <a:avLst/>
          </a:prstGeom>
          <a:noFill/>
          <a:ln/>
        </p:spPr>
        <p:txBody>
          <a:bodyPr wrap="square" lIns="0" tIns="0" rIns="0" bIns="0" rtlCol="0" anchor="ctr"/>
          <a:lstStyle/>
          <a:p>
            <a:pPr algn="ctr" indent="0" marL="0">
              <a:buNone/>
            </a:pPr>
            <a:r>
              <a:rPr lang="en-US" sz="1050" b="1" dirty="0">
                <a:solidFill>
                  <a:srgbClr val="1A1D29"/>
                </a:solidFill>
                <a:latin typeface="Calibri" pitchFamily="34" charset="0"/>
                <a:ea typeface="Calibri" pitchFamily="34" charset="-122"/>
                <a:cs typeface="Calibri" pitchFamily="34" charset="-120"/>
              </a:rPr>
              <a:t>Video</a:t>
            </a:r>
            <a:endParaRPr lang="en-US" sz="1050" dirty="0"/>
          </a:p>
        </p:txBody>
      </p:sp>
      <p:sp>
        <p:nvSpPr>
          <p:cNvPr id="24" name="Text 22"/>
          <p:cNvSpPr txBox="1"/>
          <p:nvPr/>
        </p:nvSpPr>
        <p:spPr>
          <a:xfrm>
            <a:off x="3886200" y="2697480"/>
            <a:ext cx="256032" cy="685800"/>
          </a:xfrm>
          <a:prstGeom prst="rect">
            <a:avLst/>
          </a:prstGeom>
          <a:noFill/>
          <a:ln/>
        </p:spPr>
        <p:txBody>
          <a:bodyPr wrap="square" lIns="0" tIns="0" rIns="0" bIns="0" rtlCol="0" anchor="ctr"/>
          <a:lstStyle/>
          <a:p>
            <a:pPr algn="ctr" indent="0" marL="0">
              <a:buNone/>
            </a:pPr>
            <a:r>
              <a:rPr lang="en-US" sz="1600" b="1" dirty="0">
                <a:solidFill>
                  <a:srgbClr val="8E44AD"/>
                </a:solidFill>
                <a:latin typeface="Calibri" pitchFamily="34" charset="0"/>
                <a:ea typeface="Calibri" pitchFamily="34" charset="-122"/>
                <a:cs typeface="Calibri" pitchFamily="34" charset="-120"/>
              </a:rPr>
              <a:t>→</a:t>
            </a:r>
            <a:endParaRPr lang="en-US" sz="1600" dirty="0"/>
          </a:p>
        </p:txBody>
      </p:sp>
      <p:sp>
        <p:nvSpPr>
          <p:cNvPr id="25" name="Shape 23"/>
          <p:cNvSpPr/>
          <p:nvPr/>
        </p:nvSpPr>
        <p:spPr>
          <a:xfrm>
            <a:off x="4142232" y="2697480"/>
            <a:ext cx="1600200" cy="685800"/>
          </a:xfrm>
          <a:prstGeom prst="roundRect">
            <a:avLst>
              <a:gd name="adj" fmla="val 8000"/>
            </a:avLst>
          </a:prstGeom>
          <a:solidFill>
            <a:srgbClr val="FFFFFF"/>
          </a:solidFill>
          <a:ln w="15875">
            <a:solidFill>
              <a:srgbClr val="8E44AD"/>
            </a:solidFill>
            <a:prstDash val="solid"/>
          </a:ln>
        </p:spPr>
      </p:sp>
      <p:sp>
        <p:nvSpPr>
          <p:cNvPr id="26" name="Text 24"/>
          <p:cNvSpPr txBox="1"/>
          <p:nvPr/>
        </p:nvSpPr>
        <p:spPr>
          <a:xfrm>
            <a:off x="4197096" y="2697480"/>
            <a:ext cx="1490472" cy="685800"/>
          </a:xfrm>
          <a:prstGeom prst="rect">
            <a:avLst/>
          </a:prstGeom>
          <a:noFill/>
          <a:ln/>
        </p:spPr>
        <p:txBody>
          <a:bodyPr wrap="square" lIns="0" tIns="0" rIns="0" bIns="0" rtlCol="0" anchor="ctr"/>
          <a:lstStyle/>
          <a:p>
            <a:pPr algn="ctr" indent="0" marL="0">
              <a:buNone/>
            </a:pPr>
            <a:r>
              <a:rPr lang="en-US" sz="1050" b="1" dirty="0">
                <a:solidFill>
                  <a:srgbClr val="1A1D29"/>
                </a:solidFill>
                <a:latin typeface="Calibri" pitchFamily="34" charset="0"/>
                <a:ea typeface="Calibri" pitchFamily="34" charset="-122"/>
                <a:cs typeface="Calibri" pitchFamily="34" charset="-120"/>
              </a:rPr>
              <a:t>OpenCV</a:t>
            </a:r>
            <a:endParaRPr lang="en-US" sz="1050" dirty="0"/>
          </a:p>
          <a:p>
            <a:pPr algn="ctr" indent="0" marL="0">
              <a:buNone/>
            </a:pPr>
            <a:r>
              <a:rPr lang="en-US" sz="1050" b="1" dirty="0">
                <a:solidFill>
                  <a:srgbClr val="1A1D29"/>
                </a:solidFill>
                <a:latin typeface="Calibri" pitchFamily="34" charset="0"/>
                <a:ea typeface="Calibri" pitchFamily="34" charset="-122"/>
                <a:cs typeface="Calibri" pitchFamily="34" charset="-120"/>
              </a:rPr>
              <a:t>Frames</a:t>
            </a:r>
            <a:endParaRPr lang="en-US" sz="1050" dirty="0"/>
          </a:p>
        </p:txBody>
      </p:sp>
      <p:sp>
        <p:nvSpPr>
          <p:cNvPr id="27" name="Text 25"/>
          <p:cNvSpPr txBox="1"/>
          <p:nvPr/>
        </p:nvSpPr>
        <p:spPr>
          <a:xfrm>
            <a:off x="5742432" y="2697480"/>
            <a:ext cx="256032" cy="685800"/>
          </a:xfrm>
          <a:prstGeom prst="rect">
            <a:avLst/>
          </a:prstGeom>
          <a:noFill/>
          <a:ln/>
        </p:spPr>
        <p:txBody>
          <a:bodyPr wrap="square" lIns="0" tIns="0" rIns="0" bIns="0" rtlCol="0" anchor="ctr"/>
          <a:lstStyle/>
          <a:p>
            <a:pPr algn="ctr" indent="0" marL="0">
              <a:buNone/>
            </a:pPr>
            <a:r>
              <a:rPr lang="en-US" sz="1600" b="1" dirty="0">
                <a:solidFill>
                  <a:srgbClr val="8E44AD"/>
                </a:solidFill>
                <a:latin typeface="Calibri" pitchFamily="34" charset="0"/>
                <a:ea typeface="Calibri" pitchFamily="34" charset="-122"/>
                <a:cs typeface="Calibri" pitchFamily="34" charset="-120"/>
              </a:rPr>
              <a:t>→</a:t>
            </a:r>
            <a:endParaRPr lang="en-US" sz="1600" dirty="0"/>
          </a:p>
        </p:txBody>
      </p:sp>
      <p:sp>
        <p:nvSpPr>
          <p:cNvPr id="28" name="Shape 26"/>
          <p:cNvSpPr/>
          <p:nvPr/>
        </p:nvSpPr>
        <p:spPr>
          <a:xfrm>
            <a:off x="5998464" y="2697480"/>
            <a:ext cx="1600200" cy="685800"/>
          </a:xfrm>
          <a:prstGeom prst="roundRect">
            <a:avLst>
              <a:gd name="adj" fmla="val 8000"/>
            </a:avLst>
          </a:prstGeom>
          <a:solidFill>
            <a:srgbClr val="FFFFFF"/>
          </a:solidFill>
          <a:ln w="15875">
            <a:solidFill>
              <a:srgbClr val="8E44AD"/>
            </a:solidFill>
            <a:prstDash val="solid"/>
          </a:ln>
        </p:spPr>
      </p:sp>
      <p:sp>
        <p:nvSpPr>
          <p:cNvPr id="29" name="Text 27"/>
          <p:cNvSpPr txBox="1"/>
          <p:nvPr/>
        </p:nvSpPr>
        <p:spPr>
          <a:xfrm>
            <a:off x="6053328" y="2697480"/>
            <a:ext cx="1490472" cy="685800"/>
          </a:xfrm>
          <a:prstGeom prst="rect">
            <a:avLst/>
          </a:prstGeom>
          <a:noFill/>
          <a:ln/>
        </p:spPr>
        <p:txBody>
          <a:bodyPr wrap="square" lIns="0" tIns="0" rIns="0" bIns="0" rtlCol="0" anchor="ctr"/>
          <a:lstStyle/>
          <a:p>
            <a:pPr algn="ctr" indent="0" marL="0">
              <a:buNone/>
            </a:pPr>
            <a:r>
              <a:rPr lang="en-US" sz="1050" b="1" dirty="0">
                <a:solidFill>
                  <a:srgbClr val="1A1D29"/>
                </a:solidFill>
                <a:latin typeface="Calibri" pitchFamily="34" charset="0"/>
                <a:ea typeface="Calibri" pitchFamily="34" charset="-122"/>
                <a:cs typeface="Calibri" pitchFamily="34" charset="-120"/>
              </a:rPr>
              <a:t>CLIP</a:t>
            </a:r>
            <a:endParaRPr lang="en-US" sz="1050" dirty="0"/>
          </a:p>
          <a:p>
            <a:pPr algn="ctr" indent="0" marL="0">
              <a:buNone/>
            </a:pPr>
            <a:r>
              <a:rPr lang="en-US" sz="1050" b="1" dirty="0">
                <a:solidFill>
                  <a:srgbClr val="1A1D29"/>
                </a:solidFill>
                <a:latin typeface="Calibri" pitchFamily="34" charset="0"/>
                <a:ea typeface="Calibri" pitchFamily="34" charset="-122"/>
                <a:cs typeface="Calibri" pitchFamily="34" charset="-120"/>
              </a:rPr>
              <a:t>Embed</a:t>
            </a:r>
            <a:endParaRPr lang="en-US" sz="1050" dirty="0"/>
          </a:p>
        </p:txBody>
      </p:sp>
      <p:sp>
        <p:nvSpPr>
          <p:cNvPr id="30" name="Text 28"/>
          <p:cNvSpPr txBox="1"/>
          <p:nvPr/>
        </p:nvSpPr>
        <p:spPr>
          <a:xfrm>
            <a:off x="7598664" y="2697480"/>
            <a:ext cx="256032" cy="685800"/>
          </a:xfrm>
          <a:prstGeom prst="rect">
            <a:avLst/>
          </a:prstGeom>
          <a:noFill/>
          <a:ln/>
        </p:spPr>
        <p:txBody>
          <a:bodyPr wrap="square" lIns="0" tIns="0" rIns="0" bIns="0" rtlCol="0" anchor="ctr"/>
          <a:lstStyle/>
          <a:p>
            <a:pPr algn="ctr" indent="0" marL="0">
              <a:buNone/>
            </a:pPr>
            <a:r>
              <a:rPr lang="en-US" sz="1600" b="1" dirty="0">
                <a:solidFill>
                  <a:srgbClr val="8E44AD"/>
                </a:solidFill>
                <a:latin typeface="Calibri" pitchFamily="34" charset="0"/>
                <a:ea typeface="Calibri" pitchFamily="34" charset="-122"/>
                <a:cs typeface="Calibri" pitchFamily="34" charset="-120"/>
              </a:rPr>
              <a:t>→</a:t>
            </a:r>
            <a:endParaRPr lang="en-US" sz="1600" dirty="0"/>
          </a:p>
        </p:txBody>
      </p:sp>
      <p:sp>
        <p:nvSpPr>
          <p:cNvPr id="31" name="Shape 29"/>
          <p:cNvSpPr/>
          <p:nvPr/>
        </p:nvSpPr>
        <p:spPr>
          <a:xfrm>
            <a:off x="7854696" y="2697480"/>
            <a:ext cx="1600200" cy="685800"/>
          </a:xfrm>
          <a:prstGeom prst="roundRect">
            <a:avLst>
              <a:gd name="adj" fmla="val 8000"/>
            </a:avLst>
          </a:prstGeom>
          <a:solidFill>
            <a:srgbClr val="FFFFFF"/>
          </a:solidFill>
          <a:ln w="15875">
            <a:solidFill>
              <a:srgbClr val="8E44AD"/>
            </a:solidFill>
            <a:prstDash val="solid"/>
          </a:ln>
        </p:spPr>
      </p:sp>
      <p:sp>
        <p:nvSpPr>
          <p:cNvPr id="32" name="Text 30"/>
          <p:cNvSpPr txBox="1"/>
          <p:nvPr/>
        </p:nvSpPr>
        <p:spPr>
          <a:xfrm>
            <a:off x="7909560" y="2697480"/>
            <a:ext cx="1490472" cy="685800"/>
          </a:xfrm>
          <a:prstGeom prst="rect">
            <a:avLst/>
          </a:prstGeom>
          <a:noFill/>
          <a:ln/>
        </p:spPr>
        <p:txBody>
          <a:bodyPr wrap="square" lIns="0" tIns="0" rIns="0" bIns="0" rtlCol="0" anchor="ctr"/>
          <a:lstStyle/>
          <a:p>
            <a:pPr algn="ctr" indent="0" marL="0">
              <a:buNone/>
            </a:pPr>
            <a:r>
              <a:rPr lang="en-US" sz="1050" b="1" dirty="0">
                <a:solidFill>
                  <a:srgbClr val="1A1D29"/>
                </a:solidFill>
                <a:latin typeface="Calibri" pitchFamily="34" charset="0"/>
                <a:ea typeface="Calibri" pitchFamily="34" charset="-122"/>
                <a:cs typeface="Calibri" pitchFamily="34" charset="-120"/>
              </a:rPr>
              <a:t>ChromaDB</a:t>
            </a:r>
            <a:endParaRPr lang="en-US" sz="1050" dirty="0"/>
          </a:p>
          <a:p>
            <a:pPr algn="ctr" indent="0" marL="0">
              <a:buNone/>
            </a:pPr>
            <a:r>
              <a:rPr lang="en-US" sz="1050" b="1" dirty="0">
                <a:solidFill>
                  <a:srgbClr val="1A1D29"/>
                </a:solidFill>
                <a:latin typeface="Calibri" pitchFamily="34" charset="0"/>
                <a:ea typeface="Calibri" pitchFamily="34" charset="-122"/>
                <a:cs typeface="Calibri" pitchFamily="34" charset="-120"/>
              </a:rPr>
              <a:t>Index</a:t>
            </a:r>
            <a:endParaRPr lang="en-US" sz="1050" dirty="0"/>
          </a:p>
        </p:txBody>
      </p:sp>
      <p:sp>
        <p:nvSpPr>
          <p:cNvPr id="33" name="Shape 31"/>
          <p:cNvSpPr/>
          <p:nvPr/>
        </p:nvSpPr>
        <p:spPr>
          <a:xfrm>
            <a:off x="548640" y="3794760"/>
            <a:ext cx="11064240" cy="1005840"/>
          </a:xfrm>
          <a:prstGeom prst="roundRect">
            <a:avLst>
              <a:gd name="adj" fmla="val 5455"/>
            </a:avLst>
          </a:prstGeom>
          <a:solidFill>
            <a:srgbClr val="12163A"/>
          </a:solidFill>
          <a:ln/>
        </p:spPr>
      </p:sp>
      <p:sp>
        <p:nvSpPr>
          <p:cNvPr id="34" name="Text 32"/>
          <p:cNvSpPr txBox="1"/>
          <p:nvPr/>
        </p:nvSpPr>
        <p:spPr>
          <a:xfrm>
            <a:off x="731520" y="3794760"/>
            <a:ext cx="10698480" cy="100584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User Question  →  Query Embedding  →  Retrieval (top-K matches)  →  LLM (Qwen2.5-3B, local)  →  Answer + Exact Timestamps</a:t>
            </a:r>
            <a:endParaRPr lang="en-US" sz="1500" dirty="0"/>
          </a:p>
        </p:txBody>
      </p:sp>
      <p:sp>
        <p:nvSpPr>
          <p:cNvPr id="35" name="Text 33"/>
          <p:cNvSpPr txBox="1"/>
          <p:nvPr/>
        </p:nvSpPr>
        <p:spPr>
          <a:xfrm>
            <a:off x="548640" y="5074920"/>
            <a:ext cx="11064240" cy="548640"/>
          </a:xfrm>
          <a:prstGeom prst="rect">
            <a:avLst/>
          </a:prstGeom>
          <a:noFill/>
          <a:ln/>
        </p:spPr>
        <p:txBody>
          <a:bodyPr wrap="square" lIns="0" tIns="0" rIns="0" bIns="0" rtlCol="0" anchor="ctr"/>
          <a:lstStyle/>
          <a:p>
            <a:pPr indent="0" marL="0">
              <a:buNone/>
            </a:pPr>
            <a:r>
              <a:rPr lang="en-US" sz="1250" i="1" dirty="0">
                <a:solidFill>
                  <a:srgbClr val="5B6072"/>
                </a:solidFill>
                <a:latin typeface="Calibri" pitchFamily="34" charset="0"/>
                <a:ea typeface="Calibri" pitchFamily="34" charset="-122"/>
                <a:cs typeface="Calibri" pitchFamily="34" charset="-120"/>
              </a:rPr>
              <a:t>Design invariant: every stage preserves exact timestamps — transcription → chunking → embedding → retrieval → answer. No stage ever interpolates or approximates a timestamp.</a:t>
            </a:r>
            <a:endParaRPr lang="en-US" sz="1250" dirty="0"/>
          </a:p>
        </p:txBody>
      </p:sp>
      <p:sp>
        <p:nvSpPr>
          <p:cNvPr id="36" name="Text 34"/>
          <p:cNvSpPr txBox="1"/>
          <p:nvPr/>
        </p:nvSpPr>
        <p:spPr>
          <a:xfrm>
            <a:off x="11658600" y="6473952"/>
            <a:ext cx="457200" cy="274320"/>
          </a:xfrm>
          <a:prstGeom prst="rect">
            <a:avLst/>
          </a:prstGeom>
          <a:noFill/>
          <a:ln/>
        </p:spPr>
        <p:txBody>
          <a:bodyPr wrap="square" lIns="0" tIns="0" rIns="0" bIns="0" rtlCol="0" anchor="ctr"/>
          <a:lstStyle/>
          <a:p>
            <a:pPr algn="r" indent="0" marL="0">
              <a:buNone/>
            </a:pPr>
            <a:r>
              <a:rPr lang="en-US" sz="1000" dirty="0">
                <a:solidFill>
                  <a:srgbClr val="5B6072"/>
                </a:solidFill>
                <a:latin typeface="Calibri" pitchFamily="34" charset="0"/>
                <a:ea typeface="Calibri" pitchFamily="34" charset="-122"/>
                <a:cs typeface="Calibri"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EF2FA"/>
        </a:solidFill>
      </p:bgPr>
    </p:bg>
    <p:spTree>
      <p:nvGrpSpPr>
        <p:cNvPr id="1" name=""/>
        <p:cNvGrpSpPr/>
        <p:nvPr/>
      </p:nvGrpSpPr>
      <p:grpSpPr>
        <a:xfrm>
          <a:off x="0" y="0"/>
          <a:ext cx="0" cy="0"/>
          <a:chOff x="0" y="0"/>
          <a:chExt cx="0" cy="0"/>
        </a:xfrm>
      </p:grpSpPr>
      <p:sp>
        <p:nvSpPr>
          <p:cNvPr id="2" name="Shape 0"/>
          <p:cNvSpPr/>
          <p:nvPr/>
        </p:nvSpPr>
        <p:spPr>
          <a:xfrm>
            <a:off x="8869680" y="320040"/>
            <a:ext cx="2788920" cy="384048"/>
          </a:xfrm>
          <a:prstGeom prst="roundRect">
            <a:avLst>
              <a:gd name="adj" fmla="val 19048"/>
            </a:avLst>
          </a:prstGeom>
          <a:solidFill>
            <a:srgbClr val="12163A"/>
          </a:solidFill>
          <a:ln/>
        </p:spPr>
      </p:sp>
      <p:sp>
        <p:nvSpPr>
          <p:cNvPr id="3" name="Text 1"/>
          <p:cNvSpPr txBox="1"/>
          <p:nvPr/>
        </p:nvSpPr>
        <p:spPr>
          <a:xfrm>
            <a:off x="8869680" y="320040"/>
            <a:ext cx="2788920"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CRITERION 3 · 3 MARKS</a:t>
            </a:r>
            <a:endParaRPr lang="en-US" sz="1100" dirty="0"/>
          </a:p>
        </p:txBody>
      </p:sp>
      <p:sp>
        <p:nvSpPr>
          <p:cNvPr id="4" name="Text 2"/>
          <p:cNvSpPr txBox="1"/>
          <p:nvPr/>
        </p:nvSpPr>
        <p:spPr>
          <a:xfrm>
            <a:off x="548640" y="320040"/>
            <a:ext cx="7315200" cy="320040"/>
          </a:xfrm>
          <a:prstGeom prst="rect">
            <a:avLst/>
          </a:prstGeom>
          <a:noFill/>
          <a:ln/>
        </p:spPr>
        <p:txBody>
          <a:bodyPr wrap="square" lIns="0" tIns="0" rIns="0" bIns="0" rtlCol="0" anchor="ctr"/>
          <a:lstStyle/>
          <a:p>
            <a:pPr indent="0" marL="0">
              <a:buNone/>
            </a:pPr>
            <a:r>
              <a:rPr lang="en-US" sz="1300" b="1" spc="200" kern="0" dirty="0">
                <a:solidFill>
                  <a:srgbClr val="6D8DFF"/>
                </a:solidFill>
                <a:latin typeface="Calibri" pitchFamily="34" charset="0"/>
                <a:ea typeface="Calibri" pitchFamily="34" charset="-122"/>
                <a:cs typeface="Calibri" pitchFamily="34" charset="-120"/>
              </a:rPr>
              <a:t>CORRECT TOOLS &amp; METHODS</a:t>
            </a:r>
            <a:endParaRPr lang="en-US" sz="1300" dirty="0"/>
          </a:p>
        </p:txBody>
      </p:sp>
      <p:sp>
        <p:nvSpPr>
          <p:cNvPr id="5" name="Text 3"/>
          <p:cNvSpPr txBox="1"/>
          <p:nvPr/>
        </p:nvSpPr>
        <p:spPr>
          <a:xfrm>
            <a:off x="548640" y="621792"/>
            <a:ext cx="10515600" cy="640080"/>
          </a:xfrm>
          <a:prstGeom prst="rect">
            <a:avLst/>
          </a:prstGeom>
          <a:noFill/>
          <a:ln/>
        </p:spPr>
        <p:txBody>
          <a:bodyPr wrap="square" lIns="0" tIns="0" rIns="0" bIns="0" rtlCol="0" anchor="ctr"/>
          <a:lstStyle/>
          <a:p>
            <a:pPr indent="0" marL="0">
              <a:buNone/>
            </a:pPr>
            <a:r>
              <a:rPr lang="en-US" sz="3000" b="1" dirty="0">
                <a:solidFill>
                  <a:srgbClr val="1A1D29"/>
                </a:solidFill>
                <a:latin typeface="Cambria" pitchFamily="34" charset="0"/>
                <a:ea typeface="Cambria" pitchFamily="34" charset="-122"/>
                <a:cs typeface="Cambria" pitchFamily="34" charset="-120"/>
              </a:rPr>
              <a:t>Technology Stack — Chosen, Not Defaulted</a:t>
            </a:r>
            <a:endParaRPr lang="en-US" sz="3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64240" cy="914400"/>
        </p:xfrm>
        <a:graphic>
          <a:graphicData uri="http://schemas.openxmlformats.org/drawingml/2006/table">
            <a:tbl>
              <a:tblPr/>
              <a:tblGrid>
                <a:gridCol w="2103120"/>
                <a:gridCol w="3108960"/>
                <a:gridCol w="5852160"/>
              </a:tblGrid>
              <a:tr h="548640">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Layer</a:t>
                      </a:r>
                      <a:endParaRPr lang="en-US" sz="1250" dirty="0">
                        <a:latin typeface="Calibri" charset="0"/>
                        <a:ea typeface="Calibri" charset="0"/>
                        <a:cs typeface="Calibri" charset="0"/>
                      </a:endParaRPr>
                    </a:p>
                  </a:txBody>
                  <a:tcPr marL="91440" marR="91440" marT="45720" marB="45720" anchor="ctr">
                    <a:lnL w="12700" cap="flat" cmpd="sng" algn="ctr">
                      <a:solidFill>
                        <a:srgbClr val="D8DCEC"/>
                      </a:solidFill>
                      <a:prstDash val="solid"/>
                      <a:round/>
                      <a:headEnd type="none" w="med" len="med"/>
                      <a:tailEnd type="none" w="med" len="med"/>
                    </a:lnL>
                    <a:lnR w="12700" cap="flat" cmpd="sng" algn="ctr">
                      <a:solidFill>
                        <a:srgbClr val="D8DCEC"/>
                      </a:solidFill>
                      <a:prstDash val="solid"/>
                      <a:round/>
                      <a:headEnd type="none" w="med" len="med"/>
                      <a:tailEnd type="none" w="med" len="med"/>
                    </a:lnR>
                    <a:lnT w="12700" cap="flat" cmpd="sng" algn="ctr">
                      <a:solidFill>
                        <a:srgbClr val="D8DCEC"/>
                      </a:solidFill>
                      <a:prstDash val="solid"/>
                      <a:round/>
                      <a:headEnd type="none" w="med" len="med"/>
                      <a:tailEnd type="none" w="med" len="med"/>
                    </a:lnT>
                    <a:lnB w="12700" cap="flat" cmpd="sng" algn="ctr">
                      <a:solidFill>
                        <a:srgbClr val="D8DCEC"/>
                      </a:solidFill>
                      <a:prstDash val="solid"/>
                      <a:round/>
                      <a:headEnd type="none" w="med" len="med"/>
                      <a:tailEnd type="none" w="med" len="med"/>
                    </a:lnB>
                    <a:solidFill>
                      <a:srgbClr val="12163A"/>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Technology</a:t>
                      </a:r>
                      <a:endParaRPr lang="en-US" sz="1250" dirty="0">
                        <a:latin typeface="Calibri" charset="0"/>
                        <a:ea typeface="Calibri" charset="0"/>
                        <a:cs typeface="Calibri" charset="0"/>
                      </a:endParaRPr>
                    </a:p>
                  </a:txBody>
                  <a:tcPr marL="91440" marR="91440" marT="45720" marB="45720" anchor="ctr">
                    <a:lnL w="12700" cap="flat" cmpd="sng" algn="ctr">
                      <a:solidFill>
                        <a:srgbClr val="D8DCEC"/>
                      </a:solidFill>
                      <a:prstDash val="solid"/>
                      <a:round/>
                      <a:headEnd type="none" w="med" len="med"/>
                      <a:tailEnd type="none" w="med" len="med"/>
                    </a:lnL>
                    <a:lnR w="12700" cap="flat" cmpd="sng" algn="ctr">
                      <a:solidFill>
                        <a:srgbClr val="D8DCEC"/>
                      </a:solidFill>
                      <a:prstDash val="solid"/>
                      <a:round/>
                      <a:headEnd type="none" w="med" len="med"/>
                      <a:tailEnd type="none" w="med" len="med"/>
                    </a:lnR>
                    <a:lnT w="12700" cap="flat" cmpd="sng" algn="ctr">
                      <a:solidFill>
                        <a:srgbClr val="D8DCEC"/>
                      </a:solidFill>
                      <a:prstDash val="solid"/>
                      <a:round/>
                      <a:headEnd type="none" w="med" len="med"/>
                      <a:tailEnd type="none" w="med" len="med"/>
                    </a:lnT>
                    <a:lnB w="12700" cap="flat" cmpd="sng" algn="ctr">
                      <a:solidFill>
                        <a:srgbClr val="D8DCEC"/>
                      </a:solidFill>
                      <a:prstDash val="solid"/>
                      <a:round/>
                      <a:headEnd type="none" w="med" len="med"/>
                      <a:tailEnd type="none" w="med" len="med"/>
                    </a:lnB>
                    <a:solidFill>
                      <a:srgbClr val="12163A"/>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Why This Choice</a:t>
                      </a:r>
                      <a:endParaRPr lang="en-US" sz="1250" dirty="0">
                        <a:latin typeface="Calibri" charset="0"/>
                        <a:ea typeface="Calibri" charset="0"/>
                        <a:cs typeface="Calibri" charset="0"/>
                      </a:endParaRPr>
                    </a:p>
                  </a:txBody>
                  <a:tcPr marL="91440" marR="91440" marT="45720" marB="45720" anchor="ctr">
                    <a:lnL w="12700" cap="flat" cmpd="sng" algn="ctr">
                      <a:solidFill>
                        <a:srgbClr val="D8DCEC"/>
                      </a:solidFill>
                      <a:prstDash val="solid"/>
                      <a:round/>
                      <a:headEnd type="none" w="med" len="med"/>
                      <a:tailEnd type="none" w="med" len="med"/>
                    </a:lnL>
                    <a:lnR w="12700" cap="flat" cmpd="sng" algn="ctr">
                      <a:solidFill>
                        <a:srgbClr val="D8DCEC"/>
                      </a:solidFill>
                      <a:prstDash val="solid"/>
                      <a:round/>
                      <a:headEnd type="none" w="med" len="med"/>
                      <a:tailEnd type="none" w="med" len="med"/>
                    </a:lnR>
                    <a:lnT w="12700" cap="flat" cmpd="sng" algn="ctr">
                      <a:solidFill>
                        <a:srgbClr val="D8DCEC"/>
                      </a:solidFill>
                      <a:prstDash val="solid"/>
                      <a:round/>
                      <a:headEnd type="none" w="med" len="med"/>
                      <a:tailEnd type="none" w="med" len="med"/>
                    </a:lnT>
                    <a:lnB w="12700" cap="flat" cmpd="sng" algn="ctr">
                      <a:solidFill>
                        <a:srgbClr val="D8DCEC"/>
                      </a:solidFill>
                      <a:prstDash val="solid"/>
                      <a:round/>
                      <a:headEnd type="none" w="med" len="med"/>
                      <a:tailEnd type="none" w="med" len="med"/>
                    </a:lnB>
                    <a:solidFill>
                      <a:srgbClr val="12163A"/>
                    </a:solidFill>
                  </a:tcPr>
                </a:tc>
              </a:tr>
              <a:tr h="548640">
                <a:tc>
                  <a:txBody>
                    <a:bodyPr/>
                    <a:lstStyle/>
                    <a:p>
                      <a:pPr indent="0" marL="0">
                        <a:buNone/>
                      </a:pPr>
                      <a:r>
                        <a:rPr lang="en-US" sz="1250" b="1" dirty="0">
                          <a:solidFill>
                            <a:srgbClr val="1A1D29"/>
                          </a:solidFill>
                          <a:latin typeface="Calibri" pitchFamily="34" charset="0"/>
                          <a:ea typeface="Calibri" pitchFamily="34" charset="-122"/>
                          <a:cs typeface="Calibri" pitchFamily="34" charset="-120"/>
                        </a:rPr>
                        <a:t>API Server</a:t>
                      </a:r>
                      <a:endParaRPr lang="en-US" sz="1250" dirty="0">
                        <a:latin typeface="Calibri" charset="0"/>
                        <a:ea typeface="Calibri" charset="0"/>
                        <a:cs typeface="Calibri" charset="0"/>
                      </a:endParaRPr>
                    </a:p>
                  </a:txBody>
                  <a:tcPr marL="91440" marR="91440" marT="45720" marB="45720" anchor="ctr">
                    <a:lnL w="12700" cap="flat" cmpd="sng" algn="ctr">
                      <a:solidFill>
                        <a:srgbClr val="D8DCEC"/>
                      </a:solidFill>
                      <a:prstDash val="solid"/>
                      <a:round/>
                      <a:headEnd type="none" w="med" len="med"/>
                      <a:tailEnd type="none" w="med" len="med"/>
                    </a:lnL>
                    <a:lnR w="12700" cap="flat" cmpd="sng" algn="ctr">
                      <a:solidFill>
                        <a:srgbClr val="D8DCEC"/>
                      </a:solidFill>
                      <a:prstDash val="solid"/>
                      <a:round/>
                      <a:headEnd type="none" w="med" len="med"/>
                      <a:tailEnd type="none" w="med" len="med"/>
                    </a:lnR>
                    <a:lnT w="12700" cap="flat" cmpd="sng" algn="ctr">
                      <a:solidFill>
                        <a:srgbClr val="D8DCEC"/>
                      </a:solidFill>
                      <a:prstDash val="solid"/>
                      <a:round/>
                      <a:headEnd type="none" w="med" len="med"/>
                      <a:tailEnd type="none" w="med" len="med"/>
                    </a:lnT>
                    <a:lnB w="12700" cap="flat" cmpd="sng" algn="ctr">
                      <a:solidFill>
                        <a:srgbClr val="D8DCEC"/>
                      </a:solidFill>
                      <a:prstDash val="solid"/>
                      <a:round/>
                      <a:headEnd type="none" w="med" len="med"/>
                      <a:tailEnd type="none" w="med" len="med"/>
                    </a:lnB>
                  </a:tcPr>
                </a:tc>
                <a:tc>
                  <a:txBody>
                    <a:bodyPr/>
                    <a:lstStyle/>
                    <a:p>
                      <a:pPr indent="0" marL="0">
                        <a:buNone/>
                      </a:pPr>
                      <a:r>
                        <a:rPr lang="en-US" sz="1250" dirty="0">
                          <a:solidFill>
                            <a:srgbClr val="1A1D29"/>
                          </a:solidFill>
                          <a:latin typeface="Calibri" pitchFamily="34" charset="0"/>
                          <a:ea typeface="Calibri" pitchFamily="34" charset="-122"/>
                          <a:cs typeface="Calibri" pitchFamily="34" charset="-120"/>
                        </a:rPr>
                        <a:t>FastAPI + Uvicorn + Pydantic</a:t>
                      </a:r>
                      <a:endParaRPr lang="en-US" sz="1250" dirty="0">
                        <a:latin typeface="Calibri" charset="0"/>
                        <a:ea typeface="Calibri" charset="0"/>
                        <a:cs typeface="Calibri" charset="0"/>
                      </a:endParaRPr>
                    </a:p>
                  </a:txBody>
                  <a:tcPr marL="91440" marR="91440" marT="45720" marB="45720" anchor="ctr">
                    <a:lnL w="12700" cap="flat" cmpd="sng" algn="ctr">
                      <a:solidFill>
                        <a:srgbClr val="D8DCEC"/>
                      </a:solidFill>
                      <a:prstDash val="solid"/>
                      <a:round/>
                      <a:headEnd type="none" w="med" len="med"/>
                      <a:tailEnd type="none" w="med" len="med"/>
                    </a:lnL>
                    <a:lnR w="12700" cap="flat" cmpd="sng" algn="ctr">
                      <a:solidFill>
                        <a:srgbClr val="D8DCEC"/>
                      </a:solidFill>
                      <a:prstDash val="solid"/>
                      <a:round/>
                      <a:headEnd type="none" w="med" len="med"/>
                      <a:tailEnd type="none" w="med" len="med"/>
                    </a:lnR>
                    <a:lnT w="12700" cap="flat" cmpd="sng" algn="ctr">
                      <a:solidFill>
                        <a:srgbClr val="D8DCEC"/>
                      </a:solidFill>
                      <a:prstDash val="solid"/>
                      <a:round/>
                      <a:headEnd type="none" w="med" len="med"/>
                      <a:tailEnd type="none" w="med" len="med"/>
                    </a:lnT>
                    <a:lnB w="12700" cap="flat" cmpd="sng" algn="ctr">
                      <a:solidFill>
                        <a:srgbClr val="D8DCEC"/>
                      </a:solidFill>
                      <a:prstDash val="solid"/>
                      <a:round/>
                      <a:headEnd type="none" w="med" len="med"/>
                      <a:tailEnd type="none" w="med" len="med"/>
                    </a:lnB>
                  </a:tcPr>
                </a:tc>
                <a:tc>
                  <a:txBody>
                    <a:bodyPr/>
                    <a:lstStyle/>
                    <a:p>
                      <a:pPr indent="0" marL="0">
                        <a:buNone/>
                      </a:pPr>
                      <a:r>
                        <a:rPr lang="en-US" sz="1150" dirty="0">
                          <a:solidFill>
                            <a:srgbClr val="5B6072"/>
                          </a:solidFill>
                          <a:latin typeface="Calibri" pitchFamily="34" charset="0"/>
                          <a:ea typeface="Calibri" pitchFamily="34" charset="-122"/>
                          <a:cs typeface="Calibri" pitchFamily="34" charset="-120"/>
                        </a:rPr>
                        <a:t>Async, typed, auto-documented</a:t>
                      </a:r>
                      <a:endParaRPr lang="en-US" sz="1150" dirty="0">
                        <a:latin typeface="Calibri" charset="0"/>
                        <a:ea typeface="Calibri" charset="0"/>
                        <a:cs typeface="Calibri" charset="0"/>
                      </a:endParaRPr>
                    </a:p>
                  </a:txBody>
                  <a:tcPr marL="91440" marR="91440" marT="45720" marB="45720" anchor="ctr">
                    <a:lnL w="12700" cap="flat" cmpd="sng" algn="ctr">
                      <a:solidFill>
                        <a:srgbClr val="D8DCEC"/>
                      </a:solidFill>
                      <a:prstDash val="solid"/>
                      <a:round/>
                      <a:headEnd type="none" w="med" len="med"/>
                      <a:tailEnd type="none" w="med" len="med"/>
                    </a:lnL>
                    <a:lnR w="12700" cap="flat" cmpd="sng" algn="ctr">
                      <a:solidFill>
                        <a:srgbClr val="D8DCEC"/>
                      </a:solidFill>
                      <a:prstDash val="solid"/>
                      <a:round/>
                      <a:headEnd type="none" w="med" len="med"/>
                      <a:tailEnd type="none" w="med" len="med"/>
                    </a:lnR>
                    <a:lnT w="12700" cap="flat" cmpd="sng" algn="ctr">
                      <a:solidFill>
                        <a:srgbClr val="D8DCEC"/>
                      </a:solidFill>
                      <a:prstDash val="solid"/>
                      <a:round/>
                      <a:headEnd type="none" w="med" len="med"/>
                      <a:tailEnd type="none" w="med" len="med"/>
                    </a:lnT>
                    <a:lnB w="12700" cap="flat" cmpd="sng" algn="ctr">
                      <a:solidFill>
                        <a:srgbClr val="D8DCEC"/>
                      </a:solidFill>
                      <a:prstDash val="solid"/>
                      <a:round/>
                      <a:headEnd type="none" w="med" len="med"/>
                      <a:tailEnd type="none" w="med" len="med"/>
                    </a:lnB>
                  </a:tcPr>
                </a:tc>
              </a:tr>
              <a:tr h="548640">
                <a:tc>
                  <a:txBody>
                    <a:bodyPr/>
                    <a:lstStyle/>
                    <a:p>
                      <a:pPr indent="0" marL="0">
                        <a:buNone/>
                      </a:pPr>
                      <a:r>
                        <a:rPr lang="en-US" sz="1250" b="1" dirty="0">
                          <a:solidFill>
                            <a:srgbClr val="1A1D29"/>
                          </a:solidFill>
                          <a:latin typeface="Calibri" pitchFamily="34" charset="0"/>
                          <a:ea typeface="Calibri" pitchFamily="34" charset="-122"/>
                          <a:cs typeface="Calibri" pitchFamily="34" charset="-120"/>
                        </a:rPr>
                        <a:t>Speech-to-Text</a:t>
                      </a:r>
                      <a:endParaRPr lang="en-US" sz="1250" dirty="0">
                        <a:latin typeface="Calibri" charset="0"/>
                        <a:ea typeface="Calibri" charset="0"/>
                        <a:cs typeface="Calibri" charset="0"/>
                      </a:endParaRPr>
                    </a:p>
                  </a:txBody>
                  <a:tcPr marL="91440" marR="91440" marT="45720" marB="45720" anchor="ctr">
                    <a:lnL w="12700" cap="flat" cmpd="sng" algn="ctr">
                      <a:solidFill>
                        <a:srgbClr val="D8DCEC"/>
                      </a:solidFill>
                      <a:prstDash val="solid"/>
                      <a:round/>
                      <a:headEnd type="none" w="med" len="med"/>
                      <a:tailEnd type="none" w="med" len="med"/>
                    </a:lnL>
                    <a:lnR w="12700" cap="flat" cmpd="sng" algn="ctr">
                      <a:solidFill>
                        <a:srgbClr val="D8DCEC"/>
                      </a:solidFill>
                      <a:prstDash val="solid"/>
                      <a:round/>
                      <a:headEnd type="none" w="med" len="med"/>
                      <a:tailEnd type="none" w="med" len="med"/>
                    </a:lnR>
                    <a:lnT w="12700" cap="flat" cmpd="sng" algn="ctr">
                      <a:solidFill>
                        <a:srgbClr val="D8DCEC"/>
                      </a:solidFill>
                      <a:prstDash val="solid"/>
                      <a:round/>
                      <a:headEnd type="none" w="med" len="med"/>
                      <a:tailEnd type="none" w="med" len="med"/>
                    </a:lnT>
                    <a:lnB w="12700" cap="flat" cmpd="sng" algn="ctr">
                      <a:solidFill>
                        <a:srgbClr val="D8DCEC"/>
                      </a:solidFill>
                      <a:prstDash val="solid"/>
                      <a:round/>
                      <a:headEnd type="none" w="med" len="med"/>
                      <a:tailEnd type="none" w="med" len="med"/>
                    </a:lnB>
                  </a:tcPr>
                </a:tc>
                <a:tc>
                  <a:txBody>
                    <a:bodyPr/>
                    <a:lstStyle/>
                    <a:p>
                      <a:pPr indent="0" marL="0">
                        <a:buNone/>
                      </a:pPr>
                      <a:r>
                        <a:rPr lang="en-US" sz="1250" dirty="0">
                          <a:solidFill>
                            <a:srgbClr val="1A1D29"/>
                          </a:solidFill>
                          <a:latin typeface="Calibri" pitchFamily="34" charset="0"/>
                          <a:ea typeface="Calibri" pitchFamily="34" charset="-122"/>
                          <a:cs typeface="Calibri" pitchFamily="34" charset="-120"/>
                        </a:rPr>
                        <a:t>Faster-Whisper (base, int8)</a:t>
                      </a:r>
                      <a:endParaRPr lang="en-US" sz="1250" dirty="0">
                        <a:latin typeface="Calibri" charset="0"/>
                        <a:ea typeface="Calibri" charset="0"/>
                        <a:cs typeface="Calibri" charset="0"/>
                      </a:endParaRPr>
                    </a:p>
                  </a:txBody>
                  <a:tcPr marL="91440" marR="91440" marT="45720" marB="45720" anchor="ctr">
                    <a:lnL w="12700" cap="flat" cmpd="sng" algn="ctr">
                      <a:solidFill>
                        <a:srgbClr val="D8DCEC"/>
                      </a:solidFill>
                      <a:prstDash val="solid"/>
                      <a:round/>
                      <a:headEnd type="none" w="med" len="med"/>
                      <a:tailEnd type="none" w="med" len="med"/>
                    </a:lnL>
                    <a:lnR w="12700" cap="flat" cmpd="sng" algn="ctr">
                      <a:solidFill>
                        <a:srgbClr val="D8DCEC"/>
                      </a:solidFill>
                      <a:prstDash val="solid"/>
                      <a:round/>
                      <a:headEnd type="none" w="med" len="med"/>
                      <a:tailEnd type="none" w="med" len="med"/>
                    </a:lnR>
                    <a:lnT w="12700" cap="flat" cmpd="sng" algn="ctr">
                      <a:solidFill>
                        <a:srgbClr val="D8DCEC"/>
                      </a:solidFill>
                      <a:prstDash val="solid"/>
                      <a:round/>
                      <a:headEnd type="none" w="med" len="med"/>
                      <a:tailEnd type="none" w="med" len="med"/>
                    </a:lnT>
                    <a:lnB w="12700" cap="flat" cmpd="sng" algn="ctr">
                      <a:solidFill>
                        <a:srgbClr val="D8DCEC"/>
                      </a:solidFill>
                      <a:prstDash val="solid"/>
                      <a:round/>
                      <a:headEnd type="none" w="med" len="med"/>
                      <a:tailEnd type="none" w="med" len="med"/>
                    </a:lnB>
                  </a:tcPr>
                </a:tc>
                <a:tc>
                  <a:txBody>
                    <a:bodyPr/>
                    <a:lstStyle/>
                    <a:p>
                      <a:pPr indent="0" marL="0">
                        <a:buNone/>
                      </a:pPr>
                      <a:r>
                        <a:rPr lang="en-US" sz="1150" dirty="0">
                          <a:solidFill>
                            <a:srgbClr val="5B6072"/>
                          </a:solidFill>
                          <a:latin typeface="Calibri" pitchFamily="34" charset="0"/>
                          <a:ea typeface="Calibri" pitchFamily="34" charset="-122"/>
                          <a:cs typeface="Calibri" pitchFamily="34" charset="-120"/>
                        </a:rPr>
                        <a:t>CTranslate2 engine: 2-4x faster than reference Whisper on CPU</a:t>
                      </a:r>
                      <a:endParaRPr lang="en-US" sz="1150" dirty="0">
                        <a:latin typeface="Calibri" charset="0"/>
                        <a:ea typeface="Calibri" charset="0"/>
                        <a:cs typeface="Calibri" charset="0"/>
                      </a:endParaRPr>
                    </a:p>
                  </a:txBody>
                  <a:tcPr marL="91440" marR="91440" marT="45720" marB="45720" anchor="ctr">
                    <a:lnL w="12700" cap="flat" cmpd="sng" algn="ctr">
                      <a:solidFill>
                        <a:srgbClr val="D8DCEC"/>
                      </a:solidFill>
                      <a:prstDash val="solid"/>
                      <a:round/>
                      <a:headEnd type="none" w="med" len="med"/>
                      <a:tailEnd type="none" w="med" len="med"/>
                    </a:lnL>
                    <a:lnR w="12700" cap="flat" cmpd="sng" algn="ctr">
                      <a:solidFill>
                        <a:srgbClr val="D8DCEC"/>
                      </a:solidFill>
                      <a:prstDash val="solid"/>
                      <a:round/>
                      <a:headEnd type="none" w="med" len="med"/>
                      <a:tailEnd type="none" w="med" len="med"/>
                    </a:lnR>
                    <a:lnT w="12700" cap="flat" cmpd="sng" algn="ctr">
                      <a:solidFill>
                        <a:srgbClr val="D8DCEC"/>
                      </a:solidFill>
                      <a:prstDash val="solid"/>
                      <a:round/>
                      <a:headEnd type="none" w="med" len="med"/>
                      <a:tailEnd type="none" w="med" len="med"/>
                    </a:lnT>
                    <a:lnB w="12700" cap="flat" cmpd="sng" algn="ctr">
                      <a:solidFill>
                        <a:srgbClr val="D8DCEC"/>
                      </a:solidFill>
                      <a:prstDash val="solid"/>
                      <a:round/>
                      <a:headEnd type="none" w="med" len="med"/>
                      <a:tailEnd type="none" w="med" len="med"/>
                    </a:lnB>
                  </a:tcPr>
                </a:tc>
              </a:tr>
              <a:tr h="548640">
                <a:tc>
                  <a:txBody>
                    <a:bodyPr/>
                    <a:lstStyle/>
                    <a:p>
                      <a:pPr indent="0" marL="0">
                        <a:buNone/>
                      </a:pPr>
                      <a:r>
                        <a:rPr lang="en-US" sz="1250" b="1" dirty="0">
                          <a:solidFill>
                            <a:srgbClr val="1A1D29"/>
                          </a:solidFill>
                          <a:latin typeface="Calibri" pitchFamily="34" charset="0"/>
                          <a:ea typeface="Calibri" pitchFamily="34" charset="-122"/>
                          <a:cs typeface="Calibri" pitchFamily="34" charset="-120"/>
                        </a:rPr>
                        <a:t>Text Embeddings</a:t>
                      </a:r>
                      <a:endParaRPr lang="en-US" sz="1250" dirty="0">
                        <a:latin typeface="Calibri" charset="0"/>
                        <a:ea typeface="Calibri" charset="0"/>
                        <a:cs typeface="Calibri" charset="0"/>
                      </a:endParaRPr>
                    </a:p>
                  </a:txBody>
                  <a:tcPr marL="91440" marR="91440" marT="45720" marB="45720" anchor="ctr">
                    <a:lnL w="12700" cap="flat" cmpd="sng" algn="ctr">
                      <a:solidFill>
                        <a:srgbClr val="D8DCEC"/>
                      </a:solidFill>
                      <a:prstDash val="solid"/>
                      <a:round/>
                      <a:headEnd type="none" w="med" len="med"/>
                      <a:tailEnd type="none" w="med" len="med"/>
                    </a:lnL>
                    <a:lnR w="12700" cap="flat" cmpd="sng" algn="ctr">
                      <a:solidFill>
                        <a:srgbClr val="D8DCEC"/>
                      </a:solidFill>
                      <a:prstDash val="solid"/>
                      <a:round/>
                      <a:headEnd type="none" w="med" len="med"/>
                      <a:tailEnd type="none" w="med" len="med"/>
                    </a:lnR>
                    <a:lnT w="12700" cap="flat" cmpd="sng" algn="ctr">
                      <a:solidFill>
                        <a:srgbClr val="D8DCEC"/>
                      </a:solidFill>
                      <a:prstDash val="solid"/>
                      <a:round/>
                      <a:headEnd type="none" w="med" len="med"/>
                      <a:tailEnd type="none" w="med" len="med"/>
                    </a:lnT>
                    <a:lnB w="12700" cap="flat" cmpd="sng" algn="ctr">
                      <a:solidFill>
                        <a:srgbClr val="D8DCEC"/>
                      </a:solidFill>
                      <a:prstDash val="solid"/>
                      <a:round/>
                      <a:headEnd type="none" w="med" len="med"/>
                      <a:tailEnd type="none" w="med" len="med"/>
                    </a:lnB>
                  </a:tcPr>
                </a:tc>
                <a:tc>
                  <a:txBody>
                    <a:bodyPr/>
                    <a:lstStyle/>
                    <a:p>
                      <a:pPr indent="0" marL="0">
                        <a:buNone/>
                      </a:pPr>
                      <a:r>
                        <a:rPr lang="en-US" sz="1250" dirty="0">
                          <a:solidFill>
                            <a:srgbClr val="1A1D29"/>
                          </a:solidFill>
                          <a:latin typeface="Calibri" pitchFamily="34" charset="0"/>
                          <a:ea typeface="Calibri" pitchFamily="34" charset="-122"/>
                          <a:cs typeface="Calibri" pitchFamily="34" charset="-120"/>
                        </a:rPr>
                        <a:t>Sentence-Transformers (MiniLM)</a:t>
                      </a:r>
                      <a:endParaRPr lang="en-US" sz="1250" dirty="0">
                        <a:latin typeface="Calibri" charset="0"/>
                        <a:ea typeface="Calibri" charset="0"/>
                        <a:cs typeface="Calibri" charset="0"/>
                      </a:endParaRPr>
                    </a:p>
                  </a:txBody>
                  <a:tcPr marL="91440" marR="91440" marT="45720" marB="45720" anchor="ctr">
                    <a:lnL w="12700" cap="flat" cmpd="sng" algn="ctr">
                      <a:solidFill>
                        <a:srgbClr val="D8DCEC"/>
                      </a:solidFill>
                      <a:prstDash val="solid"/>
                      <a:round/>
                      <a:headEnd type="none" w="med" len="med"/>
                      <a:tailEnd type="none" w="med" len="med"/>
                    </a:lnL>
                    <a:lnR w="12700" cap="flat" cmpd="sng" algn="ctr">
                      <a:solidFill>
                        <a:srgbClr val="D8DCEC"/>
                      </a:solidFill>
                      <a:prstDash val="solid"/>
                      <a:round/>
                      <a:headEnd type="none" w="med" len="med"/>
                      <a:tailEnd type="none" w="med" len="med"/>
                    </a:lnR>
                    <a:lnT w="12700" cap="flat" cmpd="sng" algn="ctr">
                      <a:solidFill>
                        <a:srgbClr val="D8DCEC"/>
                      </a:solidFill>
                      <a:prstDash val="solid"/>
                      <a:round/>
                      <a:headEnd type="none" w="med" len="med"/>
                      <a:tailEnd type="none" w="med" len="med"/>
                    </a:lnT>
                    <a:lnB w="12700" cap="flat" cmpd="sng" algn="ctr">
                      <a:solidFill>
                        <a:srgbClr val="D8DCEC"/>
                      </a:solidFill>
                      <a:prstDash val="solid"/>
                      <a:round/>
                      <a:headEnd type="none" w="med" len="med"/>
                      <a:tailEnd type="none" w="med" len="med"/>
                    </a:lnB>
                  </a:tcPr>
                </a:tc>
                <a:tc>
                  <a:txBody>
                    <a:bodyPr/>
                    <a:lstStyle/>
                    <a:p>
                      <a:pPr indent="0" marL="0">
                        <a:buNone/>
                      </a:pPr>
                      <a:r>
                        <a:rPr lang="en-US" sz="1150" dirty="0">
                          <a:solidFill>
                            <a:srgbClr val="5B6072"/>
                          </a:solidFill>
                          <a:latin typeface="Calibri" pitchFamily="34" charset="0"/>
                          <a:ea typeface="Calibri" pitchFamily="34" charset="-122"/>
                          <a:cs typeface="Calibri" pitchFamily="34" charset="-120"/>
                        </a:rPr>
                        <a:t>Small, fast, CPU-suited sentence encoder</a:t>
                      </a:r>
                      <a:endParaRPr lang="en-US" sz="1150" dirty="0">
                        <a:latin typeface="Calibri" charset="0"/>
                        <a:ea typeface="Calibri" charset="0"/>
                        <a:cs typeface="Calibri" charset="0"/>
                      </a:endParaRPr>
                    </a:p>
                  </a:txBody>
                  <a:tcPr marL="91440" marR="91440" marT="45720" marB="45720" anchor="ctr">
                    <a:lnL w="12700" cap="flat" cmpd="sng" algn="ctr">
                      <a:solidFill>
                        <a:srgbClr val="D8DCEC"/>
                      </a:solidFill>
                      <a:prstDash val="solid"/>
                      <a:round/>
                      <a:headEnd type="none" w="med" len="med"/>
                      <a:tailEnd type="none" w="med" len="med"/>
                    </a:lnL>
                    <a:lnR w="12700" cap="flat" cmpd="sng" algn="ctr">
                      <a:solidFill>
                        <a:srgbClr val="D8DCEC"/>
                      </a:solidFill>
                      <a:prstDash val="solid"/>
                      <a:round/>
                      <a:headEnd type="none" w="med" len="med"/>
                      <a:tailEnd type="none" w="med" len="med"/>
                    </a:lnR>
                    <a:lnT w="12700" cap="flat" cmpd="sng" algn="ctr">
                      <a:solidFill>
                        <a:srgbClr val="D8DCEC"/>
                      </a:solidFill>
                      <a:prstDash val="solid"/>
                      <a:round/>
                      <a:headEnd type="none" w="med" len="med"/>
                      <a:tailEnd type="none" w="med" len="med"/>
                    </a:lnT>
                    <a:lnB w="12700" cap="flat" cmpd="sng" algn="ctr">
                      <a:solidFill>
                        <a:srgbClr val="D8DCEC"/>
                      </a:solidFill>
                      <a:prstDash val="solid"/>
                      <a:round/>
                      <a:headEnd type="none" w="med" len="med"/>
                      <a:tailEnd type="none" w="med" len="med"/>
                    </a:lnB>
                  </a:tcPr>
                </a:tc>
              </a:tr>
              <a:tr h="548640">
                <a:tc>
                  <a:txBody>
                    <a:bodyPr/>
                    <a:lstStyle/>
                    <a:p>
                      <a:pPr indent="0" marL="0">
                        <a:buNone/>
                      </a:pPr>
                      <a:r>
                        <a:rPr lang="en-US" sz="1250" b="1" dirty="0">
                          <a:solidFill>
                            <a:srgbClr val="1A1D29"/>
                          </a:solidFill>
                          <a:latin typeface="Calibri" pitchFamily="34" charset="0"/>
                          <a:ea typeface="Calibri" pitchFamily="34" charset="-122"/>
                          <a:cs typeface="Calibri" pitchFamily="34" charset="-120"/>
                        </a:rPr>
                        <a:t>Visual Embeddings</a:t>
                      </a:r>
                      <a:endParaRPr lang="en-US" sz="1250" dirty="0">
                        <a:latin typeface="Calibri" charset="0"/>
                        <a:ea typeface="Calibri" charset="0"/>
                        <a:cs typeface="Calibri" charset="0"/>
                      </a:endParaRPr>
                    </a:p>
                  </a:txBody>
                  <a:tcPr marL="91440" marR="91440" marT="45720" marB="45720" anchor="ctr">
                    <a:lnL w="12700" cap="flat" cmpd="sng" algn="ctr">
                      <a:solidFill>
                        <a:srgbClr val="D8DCEC"/>
                      </a:solidFill>
                      <a:prstDash val="solid"/>
                      <a:round/>
                      <a:headEnd type="none" w="med" len="med"/>
                      <a:tailEnd type="none" w="med" len="med"/>
                    </a:lnL>
                    <a:lnR w="12700" cap="flat" cmpd="sng" algn="ctr">
                      <a:solidFill>
                        <a:srgbClr val="D8DCEC"/>
                      </a:solidFill>
                      <a:prstDash val="solid"/>
                      <a:round/>
                      <a:headEnd type="none" w="med" len="med"/>
                      <a:tailEnd type="none" w="med" len="med"/>
                    </a:lnR>
                    <a:lnT w="12700" cap="flat" cmpd="sng" algn="ctr">
                      <a:solidFill>
                        <a:srgbClr val="D8DCEC"/>
                      </a:solidFill>
                      <a:prstDash val="solid"/>
                      <a:round/>
                      <a:headEnd type="none" w="med" len="med"/>
                      <a:tailEnd type="none" w="med" len="med"/>
                    </a:lnT>
                    <a:lnB w="12700" cap="flat" cmpd="sng" algn="ctr">
                      <a:solidFill>
                        <a:srgbClr val="D8DCEC"/>
                      </a:solidFill>
                      <a:prstDash val="solid"/>
                      <a:round/>
                      <a:headEnd type="none" w="med" len="med"/>
                      <a:tailEnd type="none" w="med" len="med"/>
                    </a:lnB>
                  </a:tcPr>
                </a:tc>
                <a:tc>
                  <a:txBody>
                    <a:bodyPr/>
                    <a:lstStyle/>
                    <a:p>
                      <a:pPr indent="0" marL="0">
                        <a:buNone/>
                      </a:pPr>
                      <a:r>
                        <a:rPr lang="en-US" sz="1250" dirty="0">
                          <a:solidFill>
                            <a:srgbClr val="1A1D29"/>
                          </a:solidFill>
                          <a:latin typeface="Calibri" pitchFamily="34" charset="0"/>
                          <a:ea typeface="Calibri" pitchFamily="34" charset="-122"/>
                          <a:cs typeface="Calibri" pitchFamily="34" charset="-120"/>
                        </a:rPr>
                        <a:t>CLIP (ViT-B/32)</a:t>
                      </a:r>
                      <a:endParaRPr lang="en-US" sz="1250" dirty="0">
                        <a:latin typeface="Calibri" charset="0"/>
                        <a:ea typeface="Calibri" charset="0"/>
                        <a:cs typeface="Calibri" charset="0"/>
                      </a:endParaRPr>
                    </a:p>
                  </a:txBody>
                  <a:tcPr marL="91440" marR="91440" marT="45720" marB="45720" anchor="ctr">
                    <a:lnL w="12700" cap="flat" cmpd="sng" algn="ctr">
                      <a:solidFill>
                        <a:srgbClr val="D8DCEC"/>
                      </a:solidFill>
                      <a:prstDash val="solid"/>
                      <a:round/>
                      <a:headEnd type="none" w="med" len="med"/>
                      <a:tailEnd type="none" w="med" len="med"/>
                    </a:lnL>
                    <a:lnR w="12700" cap="flat" cmpd="sng" algn="ctr">
                      <a:solidFill>
                        <a:srgbClr val="D8DCEC"/>
                      </a:solidFill>
                      <a:prstDash val="solid"/>
                      <a:round/>
                      <a:headEnd type="none" w="med" len="med"/>
                      <a:tailEnd type="none" w="med" len="med"/>
                    </a:lnR>
                    <a:lnT w="12700" cap="flat" cmpd="sng" algn="ctr">
                      <a:solidFill>
                        <a:srgbClr val="D8DCEC"/>
                      </a:solidFill>
                      <a:prstDash val="solid"/>
                      <a:round/>
                      <a:headEnd type="none" w="med" len="med"/>
                      <a:tailEnd type="none" w="med" len="med"/>
                    </a:lnT>
                    <a:lnB w="12700" cap="flat" cmpd="sng" algn="ctr">
                      <a:solidFill>
                        <a:srgbClr val="D8DCEC"/>
                      </a:solidFill>
                      <a:prstDash val="solid"/>
                      <a:round/>
                      <a:headEnd type="none" w="med" len="med"/>
                      <a:tailEnd type="none" w="med" len="med"/>
                    </a:lnB>
                  </a:tcPr>
                </a:tc>
                <a:tc>
                  <a:txBody>
                    <a:bodyPr/>
                    <a:lstStyle/>
                    <a:p>
                      <a:pPr indent="0" marL="0">
                        <a:buNone/>
                      </a:pPr>
                      <a:r>
                        <a:rPr lang="en-US" sz="1150" dirty="0">
                          <a:solidFill>
                            <a:srgbClr val="5B6072"/>
                          </a:solidFill>
                          <a:latin typeface="Calibri" pitchFamily="34" charset="0"/>
                          <a:ea typeface="Calibri" pitchFamily="34" charset="-122"/>
                          <a:cs typeface="Calibri" pitchFamily="34" charset="-120"/>
                        </a:rPr>
                        <a:t>Only model type embedding images + text into one comparable space</a:t>
                      </a:r>
                      <a:endParaRPr lang="en-US" sz="1150" dirty="0">
                        <a:latin typeface="Calibri" charset="0"/>
                        <a:ea typeface="Calibri" charset="0"/>
                        <a:cs typeface="Calibri" charset="0"/>
                      </a:endParaRPr>
                    </a:p>
                  </a:txBody>
                  <a:tcPr marL="91440" marR="91440" marT="45720" marB="45720" anchor="ctr">
                    <a:lnL w="12700" cap="flat" cmpd="sng" algn="ctr">
                      <a:solidFill>
                        <a:srgbClr val="D8DCEC"/>
                      </a:solidFill>
                      <a:prstDash val="solid"/>
                      <a:round/>
                      <a:headEnd type="none" w="med" len="med"/>
                      <a:tailEnd type="none" w="med" len="med"/>
                    </a:lnL>
                    <a:lnR w="12700" cap="flat" cmpd="sng" algn="ctr">
                      <a:solidFill>
                        <a:srgbClr val="D8DCEC"/>
                      </a:solidFill>
                      <a:prstDash val="solid"/>
                      <a:round/>
                      <a:headEnd type="none" w="med" len="med"/>
                      <a:tailEnd type="none" w="med" len="med"/>
                    </a:lnR>
                    <a:lnT w="12700" cap="flat" cmpd="sng" algn="ctr">
                      <a:solidFill>
                        <a:srgbClr val="D8DCEC"/>
                      </a:solidFill>
                      <a:prstDash val="solid"/>
                      <a:round/>
                      <a:headEnd type="none" w="med" len="med"/>
                      <a:tailEnd type="none" w="med" len="med"/>
                    </a:lnT>
                    <a:lnB w="12700" cap="flat" cmpd="sng" algn="ctr">
                      <a:solidFill>
                        <a:srgbClr val="D8DCEC"/>
                      </a:solidFill>
                      <a:prstDash val="solid"/>
                      <a:round/>
                      <a:headEnd type="none" w="med" len="med"/>
                      <a:tailEnd type="none" w="med" len="med"/>
                    </a:lnB>
                  </a:tcPr>
                </a:tc>
              </a:tr>
              <a:tr h="548640">
                <a:tc>
                  <a:txBody>
                    <a:bodyPr/>
                    <a:lstStyle/>
                    <a:p>
                      <a:pPr indent="0" marL="0">
                        <a:buNone/>
                      </a:pPr>
                      <a:r>
                        <a:rPr lang="en-US" sz="1250" b="1" dirty="0">
                          <a:solidFill>
                            <a:srgbClr val="1A1D29"/>
                          </a:solidFill>
                          <a:latin typeface="Calibri" pitchFamily="34" charset="0"/>
                          <a:ea typeface="Calibri" pitchFamily="34" charset="-122"/>
                          <a:cs typeface="Calibri" pitchFamily="34" charset="-120"/>
                        </a:rPr>
                        <a:t>Vector Database</a:t>
                      </a:r>
                      <a:endParaRPr lang="en-US" sz="1250" dirty="0">
                        <a:latin typeface="Calibri" charset="0"/>
                        <a:ea typeface="Calibri" charset="0"/>
                        <a:cs typeface="Calibri" charset="0"/>
                      </a:endParaRPr>
                    </a:p>
                  </a:txBody>
                  <a:tcPr marL="91440" marR="91440" marT="45720" marB="45720" anchor="ctr">
                    <a:lnL w="12700" cap="flat" cmpd="sng" algn="ctr">
                      <a:solidFill>
                        <a:srgbClr val="D8DCEC"/>
                      </a:solidFill>
                      <a:prstDash val="solid"/>
                      <a:round/>
                      <a:headEnd type="none" w="med" len="med"/>
                      <a:tailEnd type="none" w="med" len="med"/>
                    </a:lnL>
                    <a:lnR w="12700" cap="flat" cmpd="sng" algn="ctr">
                      <a:solidFill>
                        <a:srgbClr val="D8DCEC"/>
                      </a:solidFill>
                      <a:prstDash val="solid"/>
                      <a:round/>
                      <a:headEnd type="none" w="med" len="med"/>
                      <a:tailEnd type="none" w="med" len="med"/>
                    </a:lnR>
                    <a:lnT w="12700" cap="flat" cmpd="sng" algn="ctr">
                      <a:solidFill>
                        <a:srgbClr val="D8DCEC"/>
                      </a:solidFill>
                      <a:prstDash val="solid"/>
                      <a:round/>
                      <a:headEnd type="none" w="med" len="med"/>
                      <a:tailEnd type="none" w="med" len="med"/>
                    </a:lnT>
                    <a:lnB w="12700" cap="flat" cmpd="sng" algn="ctr">
                      <a:solidFill>
                        <a:srgbClr val="D8DCEC"/>
                      </a:solidFill>
                      <a:prstDash val="solid"/>
                      <a:round/>
                      <a:headEnd type="none" w="med" len="med"/>
                      <a:tailEnd type="none" w="med" len="med"/>
                    </a:lnB>
                  </a:tcPr>
                </a:tc>
                <a:tc>
                  <a:txBody>
                    <a:bodyPr/>
                    <a:lstStyle/>
                    <a:p>
                      <a:pPr indent="0" marL="0">
                        <a:buNone/>
                      </a:pPr>
                      <a:r>
                        <a:rPr lang="en-US" sz="1250" dirty="0">
                          <a:solidFill>
                            <a:srgbClr val="1A1D29"/>
                          </a:solidFill>
                          <a:latin typeface="Calibri" pitchFamily="34" charset="0"/>
                          <a:ea typeface="Calibri" pitchFamily="34" charset="-122"/>
                          <a:cs typeface="Calibri" pitchFamily="34" charset="-120"/>
                        </a:rPr>
                        <a:t>ChromaDB (embedded)</a:t>
                      </a:r>
                      <a:endParaRPr lang="en-US" sz="1250" dirty="0">
                        <a:latin typeface="Calibri" charset="0"/>
                        <a:ea typeface="Calibri" charset="0"/>
                        <a:cs typeface="Calibri" charset="0"/>
                      </a:endParaRPr>
                    </a:p>
                  </a:txBody>
                  <a:tcPr marL="91440" marR="91440" marT="45720" marB="45720" anchor="ctr">
                    <a:lnL w="12700" cap="flat" cmpd="sng" algn="ctr">
                      <a:solidFill>
                        <a:srgbClr val="D8DCEC"/>
                      </a:solidFill>
                      <a:prstDash val="solid"/>
                      <a:round/>
                      <a:headEnd type="none" w="med" len="med"/>
                      <a:tailEnd type="none" w="med" len="med"/>
                    </a:lnL>
                    <a:lnR w="12700" cap="flat" cmpd="sng" algn="ctr">
                      <a:solidFill>
                        <a:srgbClr val="D8DCEC"/>
                      </a:solidFill>
                      <a:prstDash val="solid"/>
                      <a:round/>
                      <a:headEnd type="none" w="med" len="med"/>
                      <a:tailEnd type="none" w="med" len="med"/>
                    </a:lnR>
                    <a:lnT w="12700" cap="flat" cmpd="sng" algn="ctr">
                      <a:solidFill>
                        <a:srgbClr val="D8DCEC"/>
                      </a:solidFill>
                      <a:prstDash val="solid"/>
                      <a:round/>
                      <a:headEnd type="none" w="med" len="med"/>
                      <a:tailEnd type="none" w="med" len="med"/>
                    </a:lnT>
                    <a:lnB w="12700" cap="flat" cmpd="sng" algn="ctr">
                      <a:solidFill>
                        <a:srgbClr val="D8DCEC"/>
                      </a:solidFill>
                      <a:prstDash val="solid"/>
                      <a:round/>
                      <a:headEnd type="none" w="med" len="med"/>
                      <a:tailEnd type="none" w="med" len="med"/>
                    </a:lnB>
                  </a:tcPr>
                </a:tc>
                <a:tc>
                  <a:txBody>
                    <a:bodyPr/>
                    <a:lstStyle/>
                    <a:p>
                      <a:pPr indent="0" marL="0">
                        <a:buNone/>
                      </a:pPr>
                      <a:r>
                        <a:rPr lang="en-US" sz="1150" dirty="0">
                          <a:solidFill>
                            <a:srgbClr val="5B6072"/>
                          </a:solidFill>
                          <a:latin typeface="Calibri" pitchFamily="34" charset="0"/>
                          <a:ea typeface="Calibri" pitchFamily="34" charset="-122"/>
                          <a:cs typeface="Calibri" pitchFamily="34" charset="-120"/>
                        </a:rPr>
                        <a:t>No server process; native cosine-similarity search</a:t>
                      </a:r>
                      <a:endParaRPr lang="en-US" sz="1150" dirty="0">
                        <a:latin typeface="Calibri" charset="0"/>
                        <a:ea typeface="Calibri" charset="0"/>
                        <a:cs typeface="Calibri" charset="0"/>
                      </a:endParaRPr>
                    </a:p>
                  </a:txBody>
                  <a:tcPr marL="91440" marR="91440" marT="45720" marB="45720" anchor="ctr">
                    <a:lnL w="12700" cap="flat" cmpd="sng" algn="ctr">
                      <a:solidFill>
                        <a:srgbClr val="D8DCEC"/>
                      </a:solidFill>
                      <a:prstDash val="solid"/>
                      <a:round/>
                      <a:headEnd type="none" w="med" len="med"/>
                      <a:tailEnd type="none" w="med" len="med"/>
                    </a:lnL>
                    <a:lnR w="12700" cap="flat" cmpd="sng" algn="ctr">
                      <a:solidFill>
                        <a:srgbClr val="D8DCEC"/>
                      </a:solidFill>
                      <a:prstDash val="solid"/>
                      <a:round/>
                      <a:headEnd type="none" w="med" len="med"/>
                      <a:tailEnd type="none" w="med" len="med"/>
                    </a:lnR>
                    <a:lnT w="12700" cap="flat" cmpd="sng" algn="ctr">
                      <a:solidFill>
                        <a:srgbClr val="D8DCEC"/>
                      </a:solidFill>
                      <a:prstDash val="solid"/>
                      <a:round/>
                      <a:headEnd type="none" w="med" len="med"/>
                      <a:tailEnd type="none" w="med" len="med"/>
                    </a:lnT>
                    <a:lnB w="12700" cap="flat" cmpd="sng" algn="ctr">
                      <a:solidFill>
                        <a:srgbClr val="D8DCEC"/>
                      </a:solidFill>
                      <a:prstDash val="solid"/>
                      <a:round/>
                      <a:headEnd type="none" w="med" len="med"/>
                      <a:tailEnd type="none" w="med" len="med"/>
                    </a:lnB>
                  </a:tcPr>
                </a:tc>
              </a:tr>
              <a:tr h="548640">
                <a:tc>
                  <a:txBody>
                    <a:bodyPr/>
                    <a:lstStyle/>
                    <a:p>
                      <a:pPr indent="0" marL="0">
                        <a:buNone/>
                      </a:pPr>
                      <a:r>
                        <a:rPr lang="en-US" sz="1250" b="1" dirty="0">
                          <a:solidFill>
                            <a:srgbClr val="1A1D29"/>
                          </a:solidFill>
                          <a:latin typeface="Calibri" pitchFamily="34" charset="0"/>
                          <a:ea typeface="Calibri" pitchFamily="34" charset="-122"/>
                          <a:cs typeface="Calibri" pitchFamily="34" charset="-120"/>
                        </a:rPr>
                        <a:t>LLM</a:t>
                      </a:r>
                      <a:endParaRPr lang="en-US" sz="1250" dirty="0">
                        <a:latin typeface="Calibri" charset="0"/>
                        <a:ea typeface="Calibri" charset="0"/>
                        <a:cs typeface="Calibri" charset="0"/>
                      </a:endParaRPr>
                    </a:p>
                  </a:txBody>
                  <a:tcPr marL="91440" marR="91440" marT="45720" marB="45720" anchor="ctr">
                    <a:lnL w="12700" cap="flat" cmpd="sng" algn="ctr">
                      <a:solidFill>
                        <a:srgbClr val="D8DCEC"/>
                      </a:solidFill>
                      <a:prstDash val="solid"/>
                      <a:round/>
                      <a:headEnd type="none" w="med" len="med"/>
                      <a:tailEnd type="none" w="med" len="med"/>
                    </a:lnL>
                    <a:lnR w="12700" cap="flat" cmpd="sng" algn="ctr">
                      <a:solidFill>
                        <a:srgbClr val="D8DCEC"/>
                      </a:solidFill>
                      <a:prstDash val="solid"/>
                      <a:round/>
                      <a:headEnd type="none" w="med" len="med"/>
                      <a:tailEnd type="none" w="med" len="med"/>
                    </a:lnR>
                    <a:lnT w="12700" cap="flat" cmpd="sng" algn="ctr">
                      <a:solidFill>
                        <a:srgbClr val="D8DCEC"/>
                      </a:solidFill>
                      <a:prstDash val="solid"/>
                      <a:round/>
                      <a:headEnd type="none" w="med" len="med"/>
                      <a:tailEnd type="none" w="med" len="med"/>
                    </a:lnT>
                    <a:lnB w="12700" cap="flat" cmpd="sng" algn="ctr">
                      <a:solidFill>
                        <a:srgbClr val="D8DCEC"/>
                      </a:solidFill>
                      <a:prstDash val="solid"/>
                      <a:round/>
                      <a:headEnd type="none" w="med" len="med"/>
                      <a:tailEnd type="none" w="med" len="med"/>
                    </a:lnB>
                  </a:tcPr>
                </a:tc>
                <a:tc>
                  <a:txBody>
                    <a:bodyPr/>
                    <a:lstStyle/>
                    <a:p>
                      <a:pPr indent="0" marL="0">
                        <a:buNone/>
                      </a:pPr>
                      <a:r>
                        <a:rPr lang="en-US" sz="1250" dirty="0">
                          <a:solidFill>
                            <a:srgbClr val="1A1D29"/>
                          </a:solidFill>
                          <a:latin typeface="Calibri" pitchFamily="34" charset="0"/>
                          <a:ea typeface="Calibri" pitchFamily="34" charset="-122"/>
                          <a:cs typeface="Calibri" pitchFamily="34" charset="-120"/>
                        </a:rPr>
                        <a:t>Qwen2.5-3B via Ollama (local)</a:t>
                      </a:r>
                      <a:endParaRPr lang="en-US" sz="1250" dirty="0">
                        <a:latin typeface="Calibri" charset="0"/>
                        <a:ea typeface="Calibri" charset="0"/>
                        <a:cs typeface="Calibri" charset="0"/>
                      </a:endParaRPr>
                    </a:p>
                  </a:txBody>
                  <a:tcPr marL="91440" marR="91440" marT="45720" marB="45720" anchor="ctr">
                    <a:lnL w="12700" cap="flat" cmpd="sng" algn="ctr">
                      <a:solidFill>
                        <a:srgbClr val="D8DCEC"/>
                      </a:solidFill>
                      <a:prstDash val="solid"/>
                      <a:round/>
                      <a:headEnd type="none" w="med" len="med"/>
                      <a:tailEnd type="none" w="med" len="med"/>
                    </a:lnL>
                    <a:lnR w="12700" cap="flat" cmpd="sng" algn="ctr">
                      <a:solidFill>
                        <a:srgbClr val="D8DCEC"/>
                      </a:solidFill>
                      <a:prstDash val="solid"/>
                      <a:round/>
                      <a:headEnd type="none" w="med" len="med"/>
                      <a:tailEnd type="none" w="med" len="med"/>
                    </a:lnR>
                    <a:lnT w="12700" cap="flat" cmpd="sng" algn="ctr">
                      <a:solidFill>
                        <a:srgbClr val="D8DCEC"/>
                      </a:solidFill>
                      <a:prstDash val="solid"/>
                      <a:round/>
                      <a:headEnd type="none" w="med" len="med"/>
                      <a:tailEnd type="none" w="med" len="med"/>
                    </a:lnT>
                    <a:lnB w="12700" cap="flat" cmpd="sng" algn="ctr">
                      <a:solidFill>
                        <a:srgbClr val="D8DCEC"/>
                      </a:solidFill>
                      <a:prstDash val="solid"/>
                      <a:round/>
                      <a:headEnd type="none" w="med" len="med"/>
                      <a:tailEnd type="none" w="med" len="med"/>
                    </a:lnB>
                  </a:tcPr>
                </a:tc>
                <a:tc>
                  <a:txBody>
                    <a:bodyPr/>
                    <a:lstStyle/>
                    <a:p>
                      <a:pPr indent="0" marL="0">
                        <a:buNone/>
                      </a:pPr>
                      <a:r>
                        <a:rPr lang="en-US" sz="1150" dirty="0">
                          <a:solidFill>
                            <a:srgbClr val="5B6072"/>
                          </a:solidFill>
                          <a:latin typeface="Calibri" pitchFamily="34" charset="0"/>
                          <a:ea typeface="Calibri" pitchFamily="34" charset="-122"/>
                          <a:cs typeface="Calibri" pitchFamily="34" charset="-120"/>
                        </a:rPr>
                        <a:t>Free, private, sized to 8 GB RAM / no usable GPU</a:t>
                      </a:r>
                      <a:endParaRPr lang="en-US" sz="1150" dirty="0">
                        <a:latin typeface="Calibri" charset="0"/>
                        <a:ea typeface="Calibri" charset="0"/>
                        <a:cs typeface="Calibri" charset="0"/>
                      </a:endParaRPr>
                    </a:p>
                  </a:txBody>
                  <a:tcPr marL="91440" marR="91440" marT="45720" marB="45720" anchor="ctr">
                    <a:lnL w="12700" cap="flat" cmpd="sng" algn="ctr">
                      <a:solidFill>
                        <a:srgbClr val="D8DCEC"/>
                      </a:solidFill>
                      <a:prstDash val="solid"/>
                      <a:round/>
                      <a:headEnd type="none" w="med" len="med"/>
                      <a:tailEnd type="none" w="med" len="med"/>
                    </a:lnL>
                    <a:lnR w="12700" cap="flat" cmpd="sng" algn="ctr">
                      <a:solidFill>
                        <a:srgbClr val="D8DCEC"/>
                      </a:solidFill>
                      <a:prstDash val="solid"/>
                      <a:round/>
                      <a:headEnd type="none" w="med" len="med"/>
                      <a:tailEnd type="none" w="med" len="med"/>
                    </a:lnR>
                    <a:lnT w="12700" cap="flat" cmpd="sng" algn="ctr">
                      <a:solidFill>
                        <a:srgbClr val="D8DCEC"/>
                      </a:solidFill>
                      <a:prstDash val="solid"/>
                      <a:round/>
                      <a:headEnd type="none" w="med" len="med"/>
                      <a:tailEnd type="none" w="med" len="med"/>
                    </a:lnT>
                    <a:lnB w="12700" cap="flat" cmpd="sng" algn="ctr">
                      <a:solidFill>
                        <a:srgbClr val="D8DCEC"/>
                      </a:solidFill>
                      <a:prstDash val="solid"/>
                      <a:round/>
                      <a:headEnd type="none" w="med" len="med"/>
                      <a:tailEnd type="none" w="med" len="med"/>
                    </a:lnB>
                  </a:tcPr>
                </a:tc>
              </a:tr>
              <a:tr h="548640">
                <a:tc>
                  <a:txBody>
                    <a:bodyPr/>
                    <a:lstStyle/>
                    <a:p>
                      <a:pPr indent="0" marL="0">
                        <a:buNone/>
                      </a:pPr>
                      <a:r>
                        <a:rPr lang="en-US" sz="1250" b="1" dirty="0">
                          <a:solidFill>
                            <a:srgbClr val="1A1D29"/>
                          </a:solidFill>
                          <a:latin typeface="Calibri" pitchFamily="34" charset="0"/>
                          <a:ea typeface="Calibri" pitchFamily="34" charset="-122"/>
                          <a:cs typeface="Calibri" pitchFamily="34" charset="-120"/>
                        </a:rPr>
                        <a:t>Ingestion</a:t>
                      </a:r>
                      <a:endParaRPr lang="en-US" sz="1250" dirty="0">
                        <a:latin typeface="Calibri" charset="0"/>
                        <a:ea typeface="Calibri" charset="0"/>
                        <a:cs typeface="Calibri" charset="0"/>
                      </a:endParaRPr>
                    </a:p>
                  </a:txBody>
                  <a:tcPr marL="91440" marR="91440" marT="45720" marB="45720" anchor="ctr">
                    <a:lnL w="12700" cap="flat" cmpd="sng" algn="ctr">
                      <a:solidFill>
                        <a:srgbClr val="D8DCEC"/>
                      </a:solidFill>
                      <a:prstDash val="solid"/>
                      <a:round/>
                      <a:headEnd type="none" w="med" len="med"/>
                      <a:tailEnd type="none" w="med" len="med"/>
                    </a:lnL>
                    <a:lnR w="12700" cap="flat" cmpd="sng" algn="ctr">
                      <a:solidFill>
                        <a:srgbClr val="D8DCEC"/>
                      </a:solidFill>
                      <a:prstDash val="solid"/>
                      <a:round/>
                      <a:headEnd type="none" w="med" len="med"/>
                      <a:tailEnd type="none" w="med" len="med"/>
                    </a:lnR>
                    <a:lnT w="12700" cap="flat" cmpd="sng" algn="ctr">
                      <a:solidFill>
                        <a:srgbClr val="D8DCEC"/>
                      </a:solidFill>
                      <a:prstDash val="solid"/>
                      <a:round/>
                      <a:headEnd type="none" w="med" len="med"/>
                      <a:tailEnd type="none" w="med" len="med"/>
                    </a:lnT>
                    <a:lnB w="12700" cap="flat" cmpd="sng" algn="ctr">
                      <a:solidFill>
                        <a:srgbClr val="D8DCEC"/>
                      </a:solidFill>
                      <a:prstDash val="solid"/>
                      <a:round/>
                      <a:headEnd type="none" w="med" len="med"/>
                      <a:tailEnd type="none" w="med" len="med"/>
                    </a:lnB>
                  </a:tcPr>
                </a:tc>
                <a:tc>
                  <a:txBody>
                    <a:bodyPr/>
                    <a:lstStyle/>
                    <a:p>
                      <a:pPr indent="0" marL="0">
                        <a:buNone/>
                      </a:pPr>
                      <a:r>
                        <a:rPr lang="en-US" sz="1250" dirty="0">
                          <a:solidFill>
                            <a:srgbClr val="1A1D29"/>
                          </a:solidFill>
                          <a:latin typeface="Calibri" pitchFamily="34" charset="0"/>
                          <a:ea typeface="Calibri" pitchFamily="34" charset="-122"/>
                          <a:cs typeface="Calibri" pitchFamily="34" charset="-120"/>
                        </a:rPr>
                        <a:t>FFmpeg, OpenCV, yt-dlp</a:t>
                      </a:r>
                      <a:endParaRPr lang="en-US" sz="1250" dirty="0">
                        <a:latin typeface="Calibri" charset="0"/>
                        <a:ea typeface="Calibri" charset="0"/>
                        <a:cs typeface="Calibri" charset="0"/>
                      </a:endParaRPr>
                    </a:p>
                  </a:txBody>
                  <a:tcPr marL="91440" marR="91440" marT="45720" marB="45720" anchor="ctr">
                    <a:lnL w="12700" cap="flat" cmpd="sng" algn="ctr">
                      <a:solidFill>
                        <a:srgbClr val="D8DCEC"/>
                      </a:solidFill>
                      <a:prstDash val="solid"/>
                      <a:round/>
                      <a:headEnd type="none" w="med" len="med"/>
                      <a:tailEnd type="none" w="med" len="med"/>
                    </a:lnL>
                    <a:lnR w="12700" cap="flat" cmpd="sng" algn="ctr">
                      <a:solidFill>
                        <a:srgbClr val="D8DCEC"/>
                      </a:solidFill>
                      <a:prstDash val="solid"/>
                      <a:round/>
                      <a:headEnd type="none" w="med" len="med"/>
                      <a:tailEnd type="none" w="med" len="med"/>
                    </a:lnR>
                    <a:lnT w="12700" cap="flat" cmpd="sng" algn="ctr">
                      <a:solidFill>
                        <a:srgbClr val="D8DCEC"/>
                      </a:solidFill>
                      <a:prstDash val="solid"/>
                      <a:round/>
                      <a:headEnd type="none" w="med" len="med"/>
                      <a:tailEnd type="none" w="med" len="med"/>
                    </a:lnT>
                    <a:lnB w="12700" cap="flat" cmpd="sng" algn="ctr">
                      <a:solidFill>
                        <a:srgbClr val="D8DCEC"/>
                      </a:solidFill>
                      <a:prstDash val="solid"/>
                      <a:round/>
                      <a:headEnd type="none" w="med" len="med"/>
                      <a:tailEnd type="none" w="med" len="med"/>
                    </a:lnB>
                  </a:tcPr>
                </a:tc>
                <a:tc>
                  <a:txBody>
                    <a:bodyPr/>
                    <a:lstStyle/>
                    <a:p>
                      <a:pPr indent="0" marL="0">
                        <a:buNone/>
                      </a:pPr>
                      <a:r>
                        <a:rPr lang="en-US" sz="1150" dirty="0">
                          <a:solidFill>
                            <a:srgbClr val="5B6072"/>
                          </a:solidFill>
                          <a:latin typeface="Calibri" pitchFamily="34" charset="0"/>
                          <a:ea typeface="Calibri" pitchFamily="34" charset="-122"/>
                          <a:cs typeface="Calibri" pitchFamily="34" charset="-120"/>
                        </a:rPr>
                        <a:t>One file OR one URL, same downstream pipeline</a:t>
                      </a:r>
                      <a:endParaRPr lang="en-US" sz="1150" dirty="0">
                        <a:latin typeface="Calibri" charset="0"/>
                        <a:ea typeface="Calibri" charset="0"/>
                        <a:cs typeface="Calibri" charset="0"/>
                      </a:endParaRPr>
                    </a:p>
                  </a:txBody>
                  <a:tcPr marL="91440" marR="91440" marT="45720" marB="45720" anchor="ctr">
                    <a:lnL w="12700" cap="flat" cmpd="sng" algn="ctr">
                      <a:solidFill>
                        <a:srgbClr val="D8DCEC"/>
                      </a:solidFill>
                      <a:prstDash val="solid"/>
                      <a:round/>
                      <a:headEnd type="none" w="med" len="med"/>
                      <a:tailEnd type="none" w="med" len="med"/>
                    </a:lnL>
                    <a:lnR w="12700" cap="flat" cmpd="sng" algn="ctr">
                      <a:solidFill>
                        <a:srgbClr val="D8DCEC"/>
                      </a:solidFill>
                      <a:prstDash val="solid"/>
                      <a:round/>
                      <a:headEnd type="none" w="med" len="med"/>
                      <a:tailEnd type="none" w="med" len="med"/>
                    </a:lnR>
                    <a:lnT w="12700" cap="flat" cmpd="sng" algn="ctr">
                      <a:solidFill>
                        <a:srgbClr val="D8DCEC"/>
                      </a:solidFill>
                      <a:prstDash val="solid"/>
                      <a:round/>
                      <a:headEnd type="none" w="med" len="med"/>
                      <a:tailEnd type="none" w="med" len="med"/>
                    </a:lnT>
                    <a:lnB w="12700" cap="flat" cmpd="sng" algn="ctr">
                      <a:solidFill>
                        <a:srgbClr val="D8DCEC"/>
                      </a:solidFill>
                      <a:prstDash val="solid"/>
                      <a:round/>
                      <a:headEnd type="none" w="med" len="med"/>
                      <a:tailEnd type="none" w="med" len="med"/>
                    </a:lnB>
                  </a:tcPr>
                </a:tc>
              </a:tr>
            </a:tbl>
          </a:graphicData>
        </a:graphic>
      </p:graphicFrame>
      <p:sp>
        <p:nvSpPr>
          <p:cNvPr id="7" name="Text 4"/>
          <p:cNvSpPr txBox="1"/>
          <p:nvPr/>
        </p:nvSpPr>
        <p:spPr>
          <a:xfrm>
            <a:off x="11658600" y="6473952"/>
            <a:ext cx="457200" cy="274320"/>
          </a:xfrm>
          <a:prstGeom prst="rect">
            <a:avLst/>
          </a:prstGeom>
          <a:noFill/>
          <a:ln/>
        </p:spPr>
        <p:txBody>
          <a:bodyPr wrap="square" lIns="0" tIns="0" rIns="0" bIns="0" rtlCol="0" anchor="ctr"/>
          <a:lstStyle/>
          <a:p>
            <a:pPr algn="r" indent="0" marL="0">
              <a:buNone/>
            </a:pPr>
            <a:r>
              <a:rPr lang="en-US" sz="1000" dirty="0">
                <a:solidFill>
                  <a:srgbClr val="5B6072"/>
                </a:solidFill>
                <a:latin typeface="Calibri" pitchFamily="34" charset="0"/>
                <a:ea typeface="Calibri" pitchFamily="34" charset="-122"/>
                <a:cs typeface="Calibri"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EF2FA"/>
        </a:solidFill>
      </p:bgPr>
    </p:bg>
    <p:spTree>
      <p:nvGrpSpPr>
        <p:cNvPr id="1" name=""/>
        <p:cNvGrpSpPr/>
        <p:nvPr/>
      </p:nvGrpSpPr>
      <p:grpSpPr>
        <a:xfrm>
          <a:off x="0" y="0"/>
          <a:ext cx="0" cy="0"/>
          <a:chOff x="0" y="0"/>
          <a:chExt cx="0" cy="0"/>
        </a:xfrm>
      </p:grpSpPr>
      <p:sp>
        <p:nvSpPr>
          <p:cNvPr id="2" name="Shape 0"/>
          <p:cNvSpPr/>
          <p:nvPr/>
        </p:nvSpPr>
        <p:spPr>
          <a:xfrm>
            <a:off x="8869680" y="320040"/>
            <a:ext cx="2788920" cy="384048"/>
          </a:xfrm>
          <a:prstGeom prst="roundRect">
            <a:avLst>
              <a:gd name="adj" fmla="val 19048"/>
            </a:avLst>
          </a:prstGeom>
          <a:solidFill>
            <a:srgbClr val="12163A"/>
          </a:solidFill>
          <a:ln/>
        </p:spPr>
      </p:sp>
      <p:sp>
        <p:nvSpPr>
          <p:cNvPr id="3" name="Text 1"/>
          <p:cNvSpPr txBox="1"/>
          <p:nvPr/>
        </p:nvSpPr>
        <p:spPr>
          <a:xfrm>
            <a:off x="8869680" y="320040"/>
            <a:ext cx="2788920"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CRITERION 3 · 3 MARKS</a:t>
            </a:r>
            <a:endParaRPr lang="en-US" sz="1100" dirty="0"/>
          </a:p>
        </p:txBody>
      </p:sp>
      <p:sp>
        <p:nvSpPr>
          <p:cNvPr id="4" name="Text 2"/>
          <p:cNvSpPr txBox="1"/>
          <p:nvPr/>
        </p:nvSpPr>
        <p:spPr>
          <a:xfrm>
            <a:off x="548640" y="320040"/>
            <a:ext cx="7315200" cy="320040"/>
          </a:xfrm>
          <a:prstGeom prst="rect">
            <a:avLst/>
          </a:prstGeom>
          <a:noFill/>
          <a:ln/>
        </p:spPr>
        <p:txBody>
          <a:bodyPr wrap="square" lIns="0" tIns="0" rIns="0" bIns="0" rtlCol="0" anchor="ctr"/>
          <a:lstStyle/>
          <a:p>
            <a:pPr indent="0" marL="0">
              <a:buNone/>
            </a:pPr>
            <a:r>
              <a:rPr lang="en-US" sz="1300" b="1" spc="200" kern="0" dirty="0">
                <a:solidFill>
                  <a:srgbClr val="6D8DFF"/>
                </a:solidFill>
                <a:latin typeface="Calibri" pitchFamily="34" charset="0"/>
                <a:ea typeface="Calibri" pitchFamily="34" charset="-122"/>
                <a:cs typeface="Calibri" pitchFamily="34" charset="-120"/>
              </a:rPr>
              <a:t>DEPTH OF TECHNICAL UNDERSTANDING</a:t>
            </a:r>
            <a:endParaRPr lang="en-US" sz="1300" dirty="0"/>
          </a:p>
        </p:txBody>
      </p:sp>
      <p:sp>
        <p:nvSpPr>
          <p:cNvPr id="5" name="Text 3"/>
          <p:cNvSpPr txBox="1"/>
          <p:nvPr/>
        </p:nvSpPr>
        <p:spPr>
          <a:xfrm>
            <a:off x="548640" y="621792"/>
            <a:ext cx="10515600" cy="640080"/>
          </a:xfrm>
          <a:prstGeom prst="rect">
            <a:avLst/>
          </a:prstGeom>
          <a:noFill/>
          <a:ln/>
        </p:spPr>
        <p:txBody>
          <a:bodyPr wrap="square" lIns="0" tIns="0" rIns="0" bIns="0" rtlCol="0" anchor="ctr"/>
          <a:lstStyle/>
          <a:p>
            <a:pPr indent="0" marL="0">
              <a:buNone/>
            </a:pPr>
            <a:r>
              <a:rPr lang="en-US" sz="3000" b="1" dirty="0">
                <a:solidFill>
                  <a:srgbClr val="1A1D29"/>
                </a:solidFill>
                <a:latin typeface="Cambria" pitchFamily="34" charset="0"/>
                <a:ea typeface="Cambria" pitchFamily="34" charset="-122"/>
                <a:cs typeface="Cambria" pitchFamily="34" charset="-120"/>
              </a:rPr>
              <a:t>Key Technical Decisions &amp; Justifications</a:t>
            </a:r>
            <a:endParaRPr lang="en-US" sz="3000" dirty="0"/>
          </a:p>
        </p:txBody>
      </p:sp>
      <p:sp>
        <p:nvSpPr>
          <p:cNvPr id="6" name="Shape 4"/>
          <p:cNvSpPr/>
          <p:nvPr/>
        </p:nvSpPr>
        <p:spPr>
          <a:xfrm>
            <a:off x="548640" y="1554480"/>
            <a:ext cx="5349240" cy="2148840"/>
          </a:xfrm>
          <a:prstGeom prst="roundRect">
            <a:avLst>
              <a:gd name="adj" fmla="val 2979"/>
            </a:avLst>
          </a:prstGeom>
          <a:solidFill>
            <a:srgbClr val="FFFFFF"/>
          </a:solidFill>
          <a:ln/>
          <a:effectLst>
            <a:outerShdw sx="100000" sy="100000" kx="0" ky="0" algn="bl" rotWithShape="0" blurRad="76200" dist="25400" dir="5400000">
              <a:srgbClr val="9AA3C2">
                <a:alpha val="30000"/>
              </a:srgbClr>
            </a:outerShdw>
          </a:effectLst>
        </p:spPr>
      </p:sp>
      <p:sp>
        <p:nvSpPr>
          <p:cNvPr id="7" name="Shape 5"/>
          <p:cNvSpPr/>
          <p:nvPr/>
        </p:nvSpPr>
        <p:spPr>
          <a:xfrm>
            <a:off x="804672" y="1810512"/>
            <a:ext cx="73152" cy="457200"/>
          </a:xfrm>
          <a:prstGeom prst="rect">
            <a:avLst/>
          </a:prstGeom>
          <a:solidFill>
            <a:srgbClr val="6D8DFF"/>
          </a:solidFill>
          <a:ln/>
        </p:spPr>
      </p:sp>
      <p:sp>
        <p:nvSpPr>
          <p:cNvPr id="8" name="Text 6"/>
          <p:cNvSpPr txBox="1"/>
          <p:nvPr/>
        </p:nvSpPr>
        <p:spPr>
          <a:xfrm>
            <a:off x="1005840" y="1755648"/>
            <a:ext cx="4663440" cy="548640"/>
          </a:xfrm>
          <a:prstGeom prst="rect">
            <a:avLst/>
          </a:prstGeom>
          <a:noFill/>
          <a:ln/>
        </p:spPr>
        <p:txBody>
          <a:bodyPr wrap="square" lIns="0" tIns="0" rIns="0" bIns="0" rtlCol="0" anchor="ctr"/>
          <a:lstStyle/>
          <a:p>
            <a:pPr indent="0" marL="0">
              <a:buNone/>
            </a:pPr>
            <a:r>
              <a:rPr lang="en-US" sz="1450" b="1" dirty="0">
                <a:solidFill>
                  <a:srgbClr val="1A1D29"/>
                </a:solidFill>
                <a:latin typeface="Calibri" pitchFamily="34" charset="0"/>
                <a:ea typeface="Calibri" pitchFamily="34" charset="-122"/>
                <a:cs typeface="Calibri" pitchFamily="34" charset="-120"/>
              </a:rPr>
              <a:t>Cosine similarity, normalized</a:t>
            </a:r>
            <a:endParaRPr lang="en-US" sz="1450" dirty="0"/>
          </a:p>
        </p:txBody>
      </p:sp>
      <p:sp>
        <p:nvSpPr>
          <p:cNvPr id="9" name="Text 7"/>
          <p:cNvSpPr txBox="1"/>
          <p:nvPr/>
        </p:nvSpPr>
        <p:spPr>
          <a:xfrm>
            <a:off x="822960" y="2423160"/>
            <a:ext cx="4800600" cy="1143000"/>
          </a:xfrm>
          <a:prstGeom prst="rect">
            <a:avLst/>
          </a:prstGeom>
          <a:noFill/>
          <a:ln/>
        </p:spPr>
        <p:txBody>
          <a:bodyPr wrap="square" lIns="0" tIns="0" rIns="0" bIns="0" rtlCol="0" anchor="ctr"/>
          <a:lstStyle/>
          <a:p>
            <a:pPr indent="0" marL="0">
              <a:buNone/>
            </a:pPr>
            <a:r>
              <a:rPr lang="en-US" sz="1200" dirty="0">
                <a:solidFill>
                  <a:srgbClr val="5B6072"/>
                </a:solidFill>
                <a:latin typeface="Calibri" pitchFamily="34" charset="0"/>
                <a:ea typeface="Calibri" pitchFamily="34" charset="-122"/>
                <a:cs typeface="Calibri" pitchFamily="34" charset="-120"/>
              </a:rPr>
              <a:t>MiniLM/CLIP are trained/evaluated on cosine similarity. Vectors are L2-normalized so cosine reduces to a cheap dot product — matching what the vector DB optimizes for.</a:t>
            </a:r>
            <a:endParaRPr lang="en-US" sz="1200" dirty="0"/>
          </a:p>
        </p:txBody>
      </p:sp>
      <p:sp>
        <p:nvSpPr>
          <p:cNvPr id="10" name="Shape 8"/>
          <p:cNvSpPr/>
          <p:nvPr/>
        </p:nvSpPr>
        <p:spPr>
          <a:xfrm>
            <a:off x="6263640" y="1554480"/>
            <a:ext cx="5349240" cy="2148840"/>
          </a:xfrm>
          <a:prstGeom prst="roundRect">
            <a:avLst>
              <a:gd name="adj" fmla="val 2979"/>
            </a:avLst>
          </a:prstGeom>
          <a:solidFill>
            <a:srgbClr val="FFFFFF"/>
          </a:solidFill>
          <a:ln/>
          <a:effectLst>
            <a:outerShdw sx="100000" sy="100000" kx="0" ky="0" algn="bl" rotWithShape="0" blurRad="76200" dist="25400" dir="5400000">
              <a:srgbClr val="9AA3C2">
                <a:alpha val="30000"/>
              </a:srgbClr>
            </a:outerShdw>
          </a:effectLst>
        </p:spPr>
      </p:sp>
      <p:sp>
        <p:nvSpPr>
          <p:cNvPr id="11" name="Shape 9"/>
          <p:cNvSpPr/>
          <p:nvPr/>
        </p:nvSpPr>
        <p:spPr>
          <a:xfrm>
            <a:off x="6519672" y="1810512"/>
            <a:ext cx="73152" cy="457200"/>
          </a:xfrm>
          <a:prstGeom prst="rect">
            <a:avLst/>
          </a:prstGeom>
          <a:solidFill>
            <a:srgbClr val="6D8DFF"/>
          </a:solidFill>
          <a:ln/>
        </p:spPr>
      </p:sp>
      <p:sp>
        <p:nvSpPr>
          <p:cNvPr id="12" name="Text 10"/>
          <p:cNvSpPr txBox="1"/>
          <p:nvPr/>
        </p:nvSpPr>
        <p:spPr>
          <a:xfrm>
            <a:off x="6720840" y="1755648"/>
            <a:ext cx="4663440" cy="548640"/>
          </a:xfrm>
          <a:prstGeom prst="rect">
            <a:avLst/>
          </a:prstGeom>
          <a:noFill/>
          <a:ln/>
        </p:spPr>
        <p:txBody>
          <a:bodyPr wrap="square" lIns="0" tIns="0" rIns="0" bIns="0" rtlCol="0" anchor="ctr"/>
          <a:lstStyle/>
          <a:p>
            <a:pPr indent="0" marL="0">
              <a:buNone/>
            </a:pPr>
            <a:r>
              <a:rPr lang="en-US" sz="1450" b="1" dirty="0">
                <a:solidFill>
                  <a:srgbClr val="1A1D29"/>
                </a:solidFill>
                <a:latin typeface="Calibri" pitchFamily="34" charset="0"/>
                <a:ea typeface="Calibri" pitchFamily="34" charset="-122"/>
                <a:cs typeface="Calibri" pitchFamily="34" charset="-120"/>
              </a:rPr>
              <a:t>Citations from retrieval, not generation</a:t>
            </a:r>
            <a:endParaRPr lang="en-US" sz="1450" dirty="0"/>
          </a:p>
        </p:txBody>
      </p:sp>
      <p:sp>
        <p:nvSpPr>
          <p:cNvPr id="13" name="Text 11"/>
          <p:cNvSpPr txBox="1"/>
          <p:nvPr/>
        </p:nvSpPr>
        <p:spPr>
          <a:xfrm>
            <a:off x="6537960" y="2423160"/>
            <a:ext cx="4800600" cy="1143000"/>
          </a:xfrm>
          <a:prstGeom prst="rect">
            <a:avLst/>
          </a:prstGeom>
          <a:noFill/>
          <a:ln/>
        </p:spPr>
        <p:txBody>
          <a:bodyPr wrap="square" lIns="0" tIns="0" rIns="0" bIns="0" rtlCol="0" anchor="ctr"/>
          <a:lstStyle/>
          <a:p>
            <a:pPr indent="0" marL="0">
              <a:buNone/>
            </a:pPr>
            <a:r>
              <a:rPr lang="en-US" sz="1200" dirty="0">
                <a:solidFill>
                  <a:srgbClr val="5B6072"/>
                </a:solidFill>
                <a:latin typeface="Calibri" pitchFamily="34" charset="0"/>
                <a:ea typeface="Calibri" pitchFamily="34" charset="-122"/>
                <a:cs typeface="Calibri" pitchFamily="34" charset="-120"/>
              </a:rPr>
              <a:t>The LLM only writes the answer text. Timestamps/citations are attached from the retrieval results our own code already trusts — a 3B model asked to also emit exact citations would be unreliable.</a:t>
            </a:r>
            <a:endParaRPr lang="en-US" sz="1200" dirty="0"/>
          </a:p>
        </p:txBody>
      </p:sp>
      <p:sp>
        <p:nvSpPr>
          <p:cNvPr id="14" name="Shape 12"/>
          <p:cNvSpPr/>
          <p:nvPr/>
        </p:nvSpPr>
        <p:spPr>
          <a:xfrm>
            <a:off x="548640" y="3931920"/>
            <a:ext cx="5349240" cy="2148840"/>
          </a:xfrm>
          <a:prstGeom prst="roundRect">
            <a:avLst>
              <a:gd name="adj" fmla="val 2979"/>
            </a:avLst>
          </a:prstGeom>
          <a:solidFill>
            <a:srgbClr val="FFFFFF"/>
          </a:solidFill>
          <a:ln/>
          <a:effectLst>
            <a:outerShdw sx="100000" sy="100000" kx="0" ky="0" algn="bl" rotWithShape="0" blurRad="76200" dist="25400" dir="5400000">
              <a:srgbClr val="9AA3C2">
                <a:alpha val="30000"/>
              </a:srgbClr>
            </a:outerShdw>
          </a:effectLst>
        </p:spPr>
      </p:sp>
      <p:sp>
        <p:nvSpPr>
          <p:cNvPr id="15" name="Shape 13"/>
          <p:cNvSpPr/>
          <p:nvPr/>
        </p:nvSpPr>
        <p:spPr>
          <a:xfrm>
            <a:off x="804672" y="4187952"/>
            <a:ext cx="73152" cy="457200"/>
          </a:xfrm>
          <a:prstGeom prst="rect">
            <a:avLst/>
          </a:prstGeom>
          <a:solidFill>
            <a:srgbClr val="6D8DFF"/>
          </a:solidFill>
          <a:ln/>
        </p:spPr>
      </p:sp>
      <p:sp>
        <p:nvSpPr>
          <p:cNvPr id="16" name="Text 14"/>
          <p:cNvSpPr txBox="1"/>
          <p:nvPr/>
        </p:nvSpPr>
        <p:spPr>
          <a:xfrm>
            <a:off x="1005840" y="4133088"/>
            <a:ext cx="4663440" cy="548640"/>
          </a:xfrm>
          <a:prstGeom prst="rect">
            <a:avLst/>
          </a:prstGeom>
          <a:noFill/>
          <a:ln/>
        </p:spPr>
        <p:txBody>
          <a:bodyPr wrap="square" lIns="0" tIns="0" rIns="0" bIns="0" rtlCol="0" anchor="ctr"/>
          <a:lstStyle/>
          <a:p>
            <a:pPr indent="0" marL="0">
              <a:buNone/>
            </a:pPr>
            <a:r>
              <a:rPr lang="en-US" sz="1450" b="1" dirty="0">
                <a:solidFill>
                  <a:srgbClr val="1A1D29"/>
                </a:solidFill>
                <a:latin typeface="Calibri" pitchFamily="34" charset="0"/>
                <a:ea typeface="Calibri" pitchFamily="34" charset="-122"/>
                <a:cs typeface="Calibri" pitchFamily="34" charset="-120"/>
              </a:rPr>
              <a:t>Chunk by merging Whisper segments</a:t>
            </a:r>
            <a:endParaRPr lang="en-US" sz="1450" dirty="0"/>
          </a:p>
        </p:txBody>
      </p:sp>
      <p:sp>
        <p:nvSpPr>
          <p:cNvPr id="17" name="Text 15"/>
          <p:cNvSpPr txBox="1"/>
          <p:nvPr/>
        </p:nvSpPr>
        <p:spPr>
          <a:xfrm>
            <a:off x="822960" y="4800600"/>
            <a:ext cx="4800600" cy="1143000"/>
          </a:xfrm>
          <a:prstGeom prst="rect">
            <a:avLst/>
          </a:prstGeom>
          <a:noFill/>
          <a:ln/>
        </p:spPr>
        <p:txBody>
          <a:bodyPr wrap="square" lIns="0" tIns="0" rIns="0" bIns="0" rtlCol="0" anchor="ctr"/>
          <a:lstStyle/>
          <a:p>
            <a:pPr indent="0" marL="0">
              <a:buNone/>
            </a:pPr>
            <a:r>
              <a:rPr lang="en-US" sz="1200" dirty="0">
                <a:solidFill>
                  <a:srgbClr val="5B6072"/>
                </a:solidFill>
                <a:latin typeface="Calibri" pitchFamily="34" charset="0"/>
                <a:ea typeface="Calibri" pitchFamily="34" charset="-122"/>
                <a:cs typeface="Calibri" pitchFamily="34" charset="-120"/>
              </a:rPr>
              <a:t>Never cut text at a fixed character offset. Every chunk boundary is a real, measured timestamp — never interpolated.</a:t>
            </a:r>
            <a:endParaRPr lang="en-US" sz="1200" dirty="0"/>
          </a:p>
        </p:txBody>
      </p:sp>
      <p:sp>
        <p:nvSpPr>
          <p:cNvPr id="18" name="Shape 16"/>
          <p:cNvSpPr/>
          <p:nvPr/>
        </p:nvSpPr>
        <p:spPr>
          <a:xfrm>
            <a:off x="6263640" y="3931920"/>
            <a:ext cx="5349240" cy="2148840"/>
          </a:xfrm>
          <a:prstGeom prst="roundRect">
            <a:avLst>
              <a:gd name="adj" fmla="val 2979"/>
            </a:avLst>
          </a:prstGeom>
          <a:solidFill>
            <a:srgbClr val="FFFFFF"/>
          </a:solidFill>
          <a:ln/>
          <a:effectLst>
            <a:outerShdw sx="100000" sy="100000" kx="0" ky="0" algn="bl" rotWithShape="0" blurRad="76200" dist="25400" dir="5400000">
              <a:srgbClr val="9AA3C2">
                <a:alpha val="30000"/>
              </a:srgbClr>
            </a:outerShdw>
          </a:effectLst>
        </p:spPr>
      </p:sp>
      <p:sp>
        <p:nvSpPr>
          <p:cNvPr id="19" name="Shape 17"/>
          <p:cNvSpPr/>
          <p:nvPr/>
        </p:nvSpPr>
        <p:spPr>
          <a:xfrm>
            <a:off x="6519672" y="4187952"/>
            <a:ext cx="73152" cy="457200"/>
          </a:xfrm>
          <a:prstGeom prst="rect">
            <a:avLst/>
          </a:prstGeom>
          <a:solidFill>
            <a:srgbClr val="6D8DFF"/>
          </a:solidFill>
          <a:ln/>
        </p:spPr>
      </p:sp>
      <p:sp>
        <p:nvSpPr>
          <p:cNvPr id="20" name="Text 18"/>
          <p:cNvSpPr txBox="1"/>
          <p:nvPr/>
        </p:nvSpPr>
        <p:spPr>
          <a:xfrm>
            <a:off x="6720840" y="4133088"/>
            <a:ext cx="4663440" cy="548640"/>
          </a:xfrm>
          <a:prstGeom prst="rect">
            <a:avLst/>
          </a:prstGeom>
          <a:noFill/>
          <a:ln/>
        </p:spPr>
        <p:txBody>
          <a:bodyPr wrap="square" lIns="0" tIns="0" rIns="0" bIns="0" rtlCol="0" anchor="ctr"/>
          <a:lstStyle/>
          <a:p>
            <a:pPr indent="0" marL="0">
              <a:buNone/>
            </a:pPr>
            <a:r>
              <a:rPr lang="en-US" sz="1450" b="1" dirty="0">
                <a:solidFill>
                  <a:srgbClr val="1A1D29"/>
                </a:solidFill>
                <a:latin typeface="Calibri" pitchFamily="34" charset="0"/>
                <a:ea typeface="Calibri" pitchFamily="34" charset="-122"/>
                <a:cs typeface="Calibri" pitchFamily="34" charset="-120"/>
              </a:rPr>
              <a:t>Explicit cosine config on ChromaDB</a:t>
            </a:r>
            <a:endParaRPr lang="en-US" sz="1450" dirty="0"/>
          </a:p>
        </p:txBody>
      </p:sp>
      <p:sp>
        <p:nvSpPr>
          <p:cNvPr id="21" name="Text 19"/>
          <p:cNvSpPr txBox="1"/>
          <p:nvPr/>
        </p:nvSpPr>
        <p:spPr>
          <a:xfrm>
            <a:off x="6537960" y="4800600"/>
            <a:ext cx="4800600" cy="1143000"/>
          </a:xfrm>
          <a:prstGeom prst="rect">
            <a:avLst/>
          </a:prstGeom>
          <a:noFill/>
          <a:ln/>
        </p:spPr>
        <p:txBody>
          <a:bodyPr wrap="square" lIns="0" tIns="0" rIns="0" bIns="0" rtlCol="0" anchor="ctr"/>
          <a:lstStyle/>
          <a:p>
            <a:pPr indent="0" marL="0">
              <a:buNone/>
            </a:pPr>
            <a:r>
              <a:rPr lang="en-US" sz="1200" dirty="0">
                <a:solidFill>
                  <a:srgbClr val="5B6072"/>
                </a:solidFill>
                <a:latin typeface="Calibri" pitchFamily="34" charset="0"/>
                <a:ea typeface="Calibri" pitchFamily="34" charset="-122"/>
                <a:cs typeface="Calibri" pitchFamily="34" charset="-120"/>
              </a:rPr>
              <a:t>Chroma's default distance is squared-L2, not cosine — silently ranking results by the wrong metric if not set explicitly. Caught and fixed.</a:t>
            </a:r>
            <a:endParaRPr lang="en-US" sz="1200" dirty="0"/>
          </a:p>
        </p:txBody>
      </p:sp>
      <p:sp>
        <p:nvSpPr>
          <p:cNvPr id="22" name="Text 20"/>
          <p:cNvSpPr txBox="1"/>
          <p:nvPr/>
        </p:nvSpPr>
        <p:spPr>
          <a:xfrm>
            <a:off x="11658600" y="6473952"/>
            <a:ext cx="457200" cy="274320"/>
          </a:xfrm>
          <a:prstGeom prst="rect">
            <a:avLst/>
          </a:prstGeom>
          <a:noFill/>
          <a:ln/>
        </p:spPr>
        <p:txBody>
          <a:bodyPr wrap="square" lIns="0" tIns="0" rIns="0" bIns="0" rtlCol="0" anchor="ctr"/>
          <a:lstStyle/>
          <a:p>
            <a:pPr algn="r" indent="0" marL="0">
              <a:buNone/>
            </a:pPr>
            <a:r>
              <a:rPr lang="en-US" sz="1000" dirty="0">
                <a:solidFill>
                  <a:srgbClr val="5B6072"/>
                </a:solidFill>
                <a:latin typeface="Calibri" pitchFamily="34" charset="0"/>
                <a:ea typeface="Calibri" pitchFamily="34" charset="-122"/>
                <a:cs typeface="Calibri"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EEF2FA"/>
        </a:solidFill>
      </p:bgPr>
    </p:bg>
    <p:spTree>
      <p:nvGrpSpPr>
        <p:cNvPr id="1" name=""/>
        <p:cNvGrpSpPr/>
        <p:nvPr/>
      </p:nvGrpSpPr>
      <p:grpSpPr>
        <a:xfrm>
          <a:off x="0" y="0"/>
          <a:ext cx="0" cy="0"/>
          <a:chOff x="0" y="0"/>
          <a:chExt cx="0" cy="0"/>
        </a:xfrm>
      </p:grpSpPr>
      <p:sp>
        <p:nvSpPr>
          <p:cNvPr id="2" name="Shape 0"/>
          <p:cNvSpPr/>
          <p:nvPr/>
        </p:nvSpPr>
        <p:spPr>
          <a:xfrm>
            <a:off x="8869680" y="320040"/>
            <a:ext cx="2788920" cy="384048"/>
          </a:xfrm>
          <a:prstGeom prst="roundRect">
            <a:avLst>
              <a:gd name="adj" fmla="val 19048"/>
            </a:avLst>
          </a:prstGeom>
          <a:solidFill>
            <a:srgbClr val="12163A"/>
          </a:solidFill>
          <a:ln/>
        </p:spPr>
      </p:sp>
      <p:sp>
        <p:nvSpPr>
          <p:cNvPr id="3" name="Text 1"/>
          <p:cNvSpPr txBox="1"/>
          <p:nvPr/>
        </p:nvSpPr>
        <p:spPr>
          <a:xfrm>
            <a:off x="8869680" y="320040"/>
            <a:ext cx="2788920"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CRITERION 4 · 3 MARKS</a:t>
            </a:r>
            <a:endParaRPr lang="en-US" sz="1100" dirty="0"/>
          </a:p>
        </p:txBody>
      </p:sp>
      <p:sp>
        <p:nvSpPr>
          <p:cNvPr id="4" name="Text 2"/>
          <p:cNvSpPr txBox="1"/>
          <p:nvPr/>
        </p:nvSpPr>
        <p:spPr>
          <a:xfrm>
            <a:off x="548640" y="320040"/>
            <a:ext cx="7315200" cy="320040"/>
          </a:xfrm>
          <a:prstGeom prst="rect">
            <a:avLst/>
          </a:prstGeom>
          <a:noFill/>
          <a:ln/>
        </p:spPr>
        <p:txBody>
          <a:bodyPr wrap="square" lIns="0" tIns="0" rIns="0" bIns="0" rtlCol="0" anchor="ctr"/>
          <a:lstStyle/>
          <a:p>
            <a:pPr indent="0" marL="0">
              <a:buNone/>
            </a:pPr>
            <a:r>
              <a:rPr lang="en-US" sz="1300" b="1" spc="200" kern="0" dirty="0">
                <a:solidFill>
                  <a:srgbClr val="6D8DFF"/>
                </a:solidFill>
                <a:latin typeface="Calibri" pitchFamily="34" charset="0"/>
                <a:ea typeface="Calibri" pitchFamily="34" charset="-122"/>
                <a:cs typeface="Calibri" pitchFamily="34" charset="-120"/>
              </a:rPr>
              <a:t>METRICS, NOT CLAIMS</a:t>
            </a:r>
            <a:endParaRPr lang="en-US" sz="1300" dirty="0"/>
          </a:p>
        </p:txBody>
      </p:sp>
      <p:sp>
        <p:nvSpPr>
          <p:cNvPr id="5" name="Text 3"/>
          <p:cNvSpPr txBox="1"/>
          <p:nvPr/>
        </p:nvSpPr>
        <p:spPr>
          <a:xfrm>
            <a:off x="548640" y="621792"/>
            <a:ext cx="10515600" cy="640080"/>
          </a:xfrm>
          <a:prstGeom prst="rect">
            <a:avLst/>
          </a:prstGeom>
          <a:noFill/>
          <a:ln/>
        </p:spPr>
        <p:txBody>
          <a:bodyPr wrap="square" lIns="0" tIns="0" rIns="0" bIns="0" rtlCol="0" anchor="ctr"/>
          <a:lstStyle/>
          <a:p>
            <a:pPr indent="0" marL="0">
              <a:buNone/>
            </a:pPr>
            <a:r>
              <a:rPr lang="en-US" sz="3000" b="1" dirty="0">
                <a:solidFill>
                  <a:srgbClr val="1A1D29"/>
                </a:solidFill>
                <a:latin typeface="Cambria" pitchFamily="34" charset="0"/>
                <a:ea typeface="Cambria" pitchFamily="34" charset="-122"/>
                <a:cs typeface="Cambria" pitchFamily="34" charset="-120"/>
              </a:rPr>
              <a:t>Interim Testing &amp; Results</a:t>
            </a:r>
            <a:endParaRPr lang="en-US" sz="3000" dirty="0"/>
          </a:p>
        </p:txBody>
      </p:sp>
      <p:sp>
        <p:nvSpPr>
          <p:cNvPr id="6" name="Shape 4"/>
          <p:cNvSpPr/>
          <p:nvPr/>
        </p:nvSpPr>
        <p:spPr>
          <a:xfrm>
            <a:off x="548640" y="1508760"/>
            <a:ext cx="3520440" cy="1234440"/>
          </a:xfrm>
          <a:prstGeom prst="roundRect">
            <a:avLst>
              <a:gd name="adj" fmla="val 5926"/>
            </a:avLst>
          </a:prstGeom>
          <a:solidFill>
            <a:srgbClr val="12163A"/>
          </a:solidFill>
          <a:ln/>
        </p:spPr>
      </p:sp>
      <p:sp>
        <p:nvSpPr>
          <p:cNvPr id="7" name="Text 5"/>
          <p:cNvSpPr txBox="1"/>
          <p:nvPr/>
        </p:nvSpPr>
        <p:spPr>
          <a:xfrm>
            <a:off x="548640" y="1572768"/>
            <a:ext cx="3520440" cy="640080"/>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105</a:t>
            </a:r>
            <a:endParaRPr lang="en-US" sz="2600" dirty="0"/>
          </a:p>
        </p:txBody>
      </p:sp>
      <p:sp>
        <p:nvSpPr>
          <p:cNvPr id="8" name="Text 6"/>
          <p:cNvSpPr txBox="1"/>
          <p:nvPr/>
        </p:nvSpPr>
        <p:spPr>
          <a:xfrm>
            <a:off x="548640" y="2148840"/>
            <a:ext cx="3520440" cy="502920"/>
          </a:xfrm>
          <a:prstGeom prst="rect">
            <a:avLst/>
          </a:prstGeom>
          <a:noFill/>
          <a:ln/>
        </p:spPr>
        <p:txBody>
          <a:bodyPr wrap="square" lIns="0" tIns="0" rIns="0" bIns="0" rtlCol="0" anchor="ctr"/>
          <a:lstStyle/>
          <a:p>
            <a:pPr algn="ctr" indent="0" marL="0">
              <a:buNone/>
            </a:pPr>
            <a:r>
              <a:rPr lang="en-US" sz="1150" dirty="0">
                <a:solidFill>
                  <a:srgbClr val="C7D0F5"/>
                </a:solidFill>
                <a:latin typeface="Calibri" pitchFamily="34" charset="0"/>
                <a:ea typeface="Calibri" pitchFamily="34" charset="-122"/>
                <a:cs typeface="Calibri" pitchFamily="34" charset="-120"/>
              </a:rPr>
              <a:t>automated tests</a:t>
            </a:r>
            <a:endParaRPr lang="en-US" sz="1150" dirty="0"/>
          </a:p>
          <a:p>
            <a:pPr algn="ctr" indent="0" marL="0">
              <a:buNone/>
            </a:pPr>
            <a:r>
              <a:rPr lang="en-US" sz="1150" dirty="0">
                <a:solidFill>
                  <a:srgbClr val="C7D0F5"/>
                </a:solidFill>
                <a:latin typeface="Calibri" pitchFamily="34" charset="0"/>
                <a:ea typeface="Calibri" pitchFamily="34" charset="-122"/>
                <a:cs typeface="Calibri" pitchFamily="34" charset="-120"/>
              </a:rPr>
              <a:t>passing</a:t>
            </a:r>
            <a:endParaRPr lang="en-US" sz="1150" dirty="0"/>
          </a:p>
        </p:txBody>
      </p:sp>
      <p:sp>
        <p:nvSpPr>
          <p:cNvPr id="9" name="Shape 7"/>
          <p:cNvSpPr/>
          <p:nvPr/>
        </p:nvSpPr>
        <p:spPr>
          <a:xfrm>
            <a:off x="4206240" y="1508760"/>
            <a:ext cx="3520440" cy="1234440"/>
          </a:xfrm>
          <a:prstGeom prst="roundRect">
            <a:avLst>
              <a:gd name="adj" fmla="val 5926"/>
            </a:avLst>
          </a:prstGeom>
          <a:solidFill>
            <a:srgbClr val="12163A"/>
          </a:solidFill>
          <a:ln/>
        </p:spPr>
      </p:sp>
      <p:sp>
        <p:nvSpPr>
          <p:cNvPr id="10" name="Text 8"/>
          <p:cNvSpPr txBox="1"/>
          <p:nvPr/>
        </p:nvSpPr>
        <p:spPr>
          <a:xfrm>
            <a:off x="4206240" y="1572768"/>
            <a:ext cx="3520440" cy="640080"/>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0.80 vs 0.50</a:t>
            </a:r>
            <a:endParaRPr lang="en-US" sz="2600" dirty="0"/>
          </a:p>
        </p:txBody>
      </p:sp>
      <p:sp>
        <p:nvSpPr>
          <p:cNvPr id="11" name="Text 9"/>
          <p:cNvSpPr txBox="1"/>
          <p:nvPr/>
        </p:nvSpPr>
        <p:spPr>
          <a:xfrm>
            <a:off x="4206240" y="2148840"/>
            <a:ext cx="3520440" cy="502920"/>
          </a:xfrm>
          <a:prstGeom prst="rect">
            <a:avLst/>
          </a:prstGeom>
          <a:noFill/>
          <a:ln/>
        </p:spPr>
        <p:txBody>
          <a:bodyPr wrap="square" lIns="0" tIns="0" rIns="0" bIns="0" rtlCol="0" anchor="ctr"/>
          <a:lstStyle/>
          <a:p>
            <a:pPr algn="ctr" indent="0" marL="0">
              <a:buNone/>
            </a:pPr>
            <a:r>
              <a:rPr lang="en-US" sz="1150" dirty="0">
                <a:solidFill>
                  <a:srgbClr val="C7D0F5"/>
                </a:solidFill>
                <a:latin typeface="Calibri" pitchFamily="34" charset="0"/>
                <a:ea typeface="Calibri" pitchFamily="34" charset="-122"/>
                <a:cs typeface="Calibri" pitchFamily="34" charset="-120"/>
              </a:rPr>
              <a:t>topic-match vs.</a:t>
            </a:r>
            <a:endParaRPr lang="en-US" sz="1150" dirty="0"/>
          </a:p>
          <a:p>
            <a:pPr algn="ctr" indent="0" marL="0">
              <a:buNone/>
            </a:pPr>
            <a:r>
              <a:rPr lang="en-US" sz="1150" dirty="0">
                <a:solidFill>
                  <a:srgbClr val="C7D0F5"/>
                </a:solidFill>
                <a:latin typeface="Calibri" pitchFamily="34" charset="0"/>
                <a:ea typeface="Calibri" pitchFamily="34" charset="-122"/>
                <a:cs typeface="Calibri" pitchFamily="34" charset="-120"/>
              </a:rPr>
              <a:t>unrelated similarity</a:t>
            </a:r>
            <a:endParaRPr lang="en-US" sz="1150" dirty="0"/>
          </a:p>
        </p:txBody>
      </p:sp>
      <p:sp>
        <p:nvSpPr>
          <p:cNvPr id="12" name="Shape 10"/>
          <p:cNvSpPr/>
          <p:nvPr/>
        </p:nvSpPr>
        <p:spPr>
          <a:xfrm>
            <a:off x="7863840" y="1508760"/>
            <a:ext cx="3520440" cy="1234440"/>
          </a:xfrm>
          <a:prstGeom prst="roundRect">
            <a:avLst>
              <a:gd name="adj" fmla="val 5926"/>
            </a:avLst>
          </a:prstGeom>
          <a:solidFill>
            <a:srgbClr val="12163A"/>
          </a:solidFill>
          <a:ln/>
        </p:spPr>
      </p:sp>
      <p:sp>
        <p:nvSpPr>
          <p:cNvPr id="13" name="Text 11"/>
          <p:cNvSpPr txBox="1"/>
          <p:nvPr/>
        </p:nvSpPr>
        <p:spPr>
          <a:xfrm>
            <a:off x="7863840" y="1572768"/>
            <a:ext cx="3520440" cy="640080"/>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0.70</a:t>
            </a:r>
            <a:endParaRPr lang="en-US" sz="2600" dirty="0"/>
          </a:p>
        </p:txBody>
      </p:sp>
      <p:sp>
        <p:nvSpPr>
          <p:cNvPr id="14" name="Text 12"/>
          <p:cNvSpPr txBox="1"/>
          <p:nvPr/>
        </p:nvSpPr>
        <p:spPr>
          <a:xfrm>
            <a:off x="7863840" y="2148840"/>
            <a:ext cx="3520440" cy="502920"/>
          </a:xfrm>
          <a:prstGeom prst="rect">
            <a:avLst/>
          </a:prstGeom>
          <a:noFill/>
          <a:ln/>
        </p:spPr>
        <p:txBody>
          <a:bodyPr wrap="square" lIns="0" tIns="0" rIns="0" bIns="0" rtlCol="0" anchor="ctr"/>
          <a:lstStyle/>
          <a:p>
            <a:pPr algn="ctr" indent="0" marL="0">
              <a:buNone/>
            </a:pPr>
            <a:r>
              <a:rPr lang="en-US" sz="1150" dirty="0">
                <a:solidFill>
                  <a:srgbClr val="C7D0F5"/>
                </a:solidFill>
                <a:latin typeface="Calibri" pitchFamily="34" charset="0"/>
                <a:ea typeface="Calibri" pitchFamily="34" charset="-122"/>
                <a:cs typeface="Calibri" pitchFamily="34" charset="-120"/>
              </a:rPr>
              <a:t>RAG citation</a:t>
            </a:r>
            <a:endParaRPr lang="en-US" sz="1150" dirty="0"/>
          </a:p>
          <a:p>
            <a:pPr algn="ctr" indent="0" marL="0">
              <a:buNone/>
            </a:pPr>
            <a:r>
              <a:rPr lang="en-US" sz="1150" dirty="0">
                <a:solidFill>
                  <a:srgbClr val="C7D0F5"/>
                </a:solidFill>
                <a:latin typeface="Calibri" pitchFamily="34" charset="0"/>
                <a:ea typeface="Calibri" pitchFamily="34" charset="-122"/>
                <a:cs typeface="Calibri" pitchFamily="34" charset="-120"/>
              </a:rPr>
              <a:t>relevance score</a:t>
            </a:r>
            <a:endParaRPr lang="en-US" sz="115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2971800"/>
          <a:ext cx="11064240" cy="914400"/>
        </p:xfrm>
        <a:graphic>
          <a:graphicData uri="http://schemas.openxmlformats.org/drawingml/2006/table">
            <a:tbl>
              <a:tblPr/>
              <a:tblGrid>
                <a:gridCol w="2743200"/>
                <a:gridCol w="8321040"/>
              </a:tblGrid>
              <a:tr h="566928">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Test</a:t>
                      </a:r>
                      <a:endParaRPr lang="en-US" sz="1200" dirty="0">
                        <a:latin typeface="Calibri" charset="0"/>
                        <a:ea typeface="Calibri" charset="0"/>
                        <a:cs typeface="Calibri" charset="0"/>
                      </a:endParaRPr>
                    </a:p>
                  </a:txBody>
                  <a:tcPr marL="91440" marR="91440" marT="45720" marB="45720" anchor="ctr">
                    <a:lnL w="12700" cap="flat" cmpd="sng" algn="ctr">
                      <a:solidFill>
                        <a:srgbClr val="D8DCEC"/>
                      </a:solidFill>
                      <a:prstDash val="solid"/>
                      <a:round/>
                      <a:headEnd type="none" w="med" len="med"/>
                      <a:tailEnd type="none" w="med" len="med"/>
                    </a:lnL>
                    <a:lnR w="12700" cap="flat" cmpd="sng" algn="ctr">
                      <a:solidFill>
                        <a:srgbClr val="D8DCEC"/>
                      </a:solidFill>
                      <a:prstDash val="solid"/>
                      <a:round/>
                      <a:headEnd type="none" w="med" len="med"/>
                      <a:tailEnd type="none" w="med" len="med"/>
                    </a:lnR>
                    <a:lnT w="12700" cap="flat" cmpd="sng" algn="ctr">
                      <a:solidFill>
                        <a:srgbClr val="D8DCEC"/>
                      </a:solidFill>
                      <a:prstDash val="solid"/>
                      <a:round/>
                      <a:headEnd type="none" w="med" len="med"/>
                      <a:tailEnd type="none" w="med" len="med"/>
                    </a:lnT>
                    <a:lnB w="12700" cap="flat" cmpd="sng" algn="ctr">
                      <a:solidFill>
                        <a:srgbClr val="D8DCEC"/>
                      </a:solidFill>
                      <a:prstDash val="solid"/>
                      <a:round/>
                      <a:headEnd type="none" w="med" len="med"/>
                      <a:tailEnd type="none" w="med" len="med"/>
                    </a:lnB>
                    <a:solidFill>
                      <a:srgbClr val="12163A"/>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Result</a:t>
                      </a:r>
                      <a:endParaRPr lang="en-US" sz="1200" dirty="0">
                        <a:latin typeface="Calibri" charset="0"/>
                        <a:ea typeface="Calibri" charset="0"/>
                        <a:cs typeface="Calibri" charset="0"/>
                      </a:endParaRPr>
                    </a:p>
                  </a:txBody>
                  <a:tcPr marL="91440" marR="91440" marT="45720" marB="45720" anchor="ctr">
                    <a:lnL w="12700" cap="flat" cmpd="sng" algn="ctr">
                      <a:solidFill>
                        <a:srgbClr val="D8DCEC"/>
                      </a:solidFill>
                      <a:prstDash val="solid"/>
                      <a:round/>
                      <a:headEnd type="none" w="med" len="med"/>
                      <a:tailEnd type="none" w="med" len="med"/>
                    </a:lnL>
                    <a:lnR w="12700" cap="flat" cmpd="sng" algn="ctr">
                      <a:solidFill>
                        <a:srgbClr val="D8DCEC"/>
                      </a:solidFill>
                      <a:prstDash val="solid"/>
                      <a:round/>
                      <a:headEnd type="none" w="med" len="med"/>
                      <a:tailEnd type="none" w="med" len="med"/>
                    </a:lnR>
                    <a:lnT w="12700" cap="flat" cmpd="sng" algn="ctr">
                      <a:solidFill>
                        <a:srgbClr val="D8DCEC"/>
                      </a:solidFill>
                      <a:prstDash val="solid"/>
                      <a:round/>
                      <a:headEnd type="none" w="med" len="med"/>
                      <a:tailEnd type="none" w="med" len="med"/>
                    </a:lnT>
                    <a:lnB w="12700" cap="flat" cmpd="sng" algn="ctr">
                      <a:solidFill>
                        <a:srgbClr val="D8DCEC"/>
                      </a:solidFill>
                      <a:prstDash val="solid"/>
                      <a:round/>
                      <a:headEnd type="none" w="med" len="med"/>
                      <a:tailEnd type="none" w="med" len="med"/>
                    </a:lnB>
                    <a:solidFill>
                      <a:srgbClr val="12163A"/>
                    </a:solidFill>
                  </a:tcPr>
                </a:tc>
              </a:tr>
              <a:tr h="566928">
                <a:tc>
                  <a:txBody>
                    <a:bodyPr/>
                    <a:lstStyle/>
                    <a:p>
                      <a:pPr indent="0" marL="0">
                        <a:buNone/>
                      </a:pPr>
                      <a:r>
                        <a:rPr lang="en-US" sz="1200" b="1" dirty="0">
                          <a:solidFill>
                            <a:srgbClr val="1A1D29"/>
                          </a:solidFill>
                          <a:latin typeface="Calibri" pitchFamily="34" charset="0"/>
                          <a:ea typeface="Calibri" pitchFamily="34" charset="-122"/>
                          <a:cs typeface="Calibri" pitchFamily="34" charset="-120"/>
                        </a:rPr>
                        <a:t>Whisper transcription</a:t>
                      </a:r>
                      <a:endParaRPr lang="en-US" sz="1200" dirty="0">
                        <a:latin typeface="Calibri" charset="0"/>
                        <a:ea typeface="Calibri" charset="0"/>
                        <a:cs typeface="Calibri" charset="0"/>
                      </a:endParaRPr>
                    </a:p>
                  </a:txBody>
                  <a:tcPr marL="91440" marR="91440" marT="45720" marB="45720" anchor="ctr">
                    <a:lnL w="12700" cap="flat" cmpd="sng" algn="ctr">
                      <a:solidFill>
                        <a:srgbClr val="D8DCEC"/>
                      </a:solidFill>
                      <a:prstDash val="solid"/>
                      <a:round/>
                      <a:headEnd type="none" w="med" len="med"/>
                      <a:tailEnd type="none" w="med" len="med"/>
                    </a:lnL>
                    <a:lnR w="12700" cap="flat" cmpd="sng" algn="ctr">
                      <a:solidFill>
                        <a:srgbClr val="D8DCEC"/>
                      </a:solidFill>
                      <a:prstDash val="solid"/>
                      <a:round/>
                      <a:headEnd type="none" w="med" len="med"/>
                      <a:tailEnd type="none" w="med" len="med"/>
                    </a:lnR>
                    <a:lnT w="12700" cap="flat" cmpd="sng" algn="ctr">
                      <a:solidFill>
                        <a:srgbClr val="D8DCEC"/>
                      </a:solidFill>
                      <a:prstDash val="solid"/>
                      <a:round/>
                      <a:headEnd type="none" w="med" len="med"/>
                      <a:tailEnd type="none" w="med" len="med"/>
                    </a:lnT>
                    <a:lnB w="12700" cap="flat" cmpd="sng" algn="ctr">
                      <a:solidFill>
                        <a:srgbClr val="D8DCEC"/>
                      </a:solidFill>
                      <a:prstDash val="solid"/>
                      <a:round/>
                      <a:headEnd type="none" w="med" len="med"/>
                      <a:tailEnd type="none" w="med" len="med"/>
                    </a:lnB>
                  </a:tcPr>
                </a:tc>
                <a:tc>
                  <a:txBody>
                    <a:bodyPr/>
                    <a:lstStyle/>
                    <a:p>
                      <a:pPr indent="0" marL="0">
                        <a:buNone/>
                      </a:pPr>
                      <a:r>
                        <a:rPr lang="en-US" sz="1150" dirty="0">
                          <a:solidFill>
                            <a:srgbClr val="5B6072"/>
                          </a:solidFill>
                          <a:latin typeface="Calibri" pitchFamily="34" charset="0"/>
                          <a:ea typeface="Calibri" pitchFamily="34" charset="-122"/>
                          <a:cs typeface="Calibri" pitchFamily="34" charset="-120"/>
                        </a:rPr>
                        <a:t>Word-for-word accurate on a controlled test lecture; coherent on a real 21-min YouTube lecture</a:t>
                      </a:r>
                      <a:endParaRPr lang="en-US" sz="1150" dirty="0">
                        <a:latin typeface="Calibri" charset="0"/>
                        <a:ea typeface="Calibri" charset="0"/>
                        <a:cs typeface="Calibri" charset="0"/>
                      </a:endParaRPr>
                    </a:p>
                  </a:txBody>
                  <a:tcPr marL="91440" marR="91440" marT="45720" marB="45720" anchor="ctr">
                    <a:lnL w="12700" cap="flat" cmpd="sng" algn="ctr">
                      <a:solidFill>
                        <a:srgbClr val="D8DCEC"/>
                      </a:solidFill>
                      <a:prstDash val="solid"/>
                      <a:round/>
                      <a:headEnd type="none" w="med" len="med"/>
                      <a:tailEnd type="none" w="med" len="med"/>
                    </a:lnL>
                    <a:lnR w="12700" cap="flat" cmpd="sng" algn="ctr">
                      <a:solidFill>
                        <a:srgbClr val="D8DCEC"/>
                      </a:solidFill>
                      <a:prstDash val="solid"/>
                      <a:round/>
                      <a:headEnd type="none" w="med" len="med"/>
                      <a:tailEnd type="none" w="med" len="med"/>
                    </a:lnR>
                    <a:lnT w="12700" cap="flat" cmpd="sng" algn="ctr">
                      <a:solidFill>
                        <a:srgbClr val="D8DCEC"/>
                      </a:solidFill>
                      <a:prstDash val="solid"/>
                      <a:round/>
                      <a:headEnd type="none" w="med" len="med"/>
                      <a:tailEnd type="none" w="med" len="med"/>
                    </a:lnT>
                    <a:lnB w="12700" cap="flat" cmpd="sng" algn="ctr">
                      <a:solidFill>
                        <a:srgbClr val="D8DCEC"/>
                      </a:solidFill>
                      <a:prstDash val="solid"/>
                      <a:round/>
                      <a:headEnd type="none" w="med" len="med"/>
                      <a:tailEnd type="none" w="med" len="med"/>
                    </a:lnB>
                  </a:tcPr>
                </a:tc>
              </a:tr>
              <a:tr h="566928">
                <a:tc>
                  <a:txBody>
                    <a:bodyPr/>
                    <a:lstStyle/>
                    <a:p>
                      <a:pPr indent="0" marL="0">
                        <a:buNone/>
                      </a:pPr>
                      <a:r>
                        <a:rPr lang="en-US" sz="1200" b="1" dirty="0">
                          <a:solidFill>
                            <a:srgbClr val="1A1D29"/>
                          </a:solidFill>
                          <a:latin typeface="Calibri" pitchFamily="34" charset="0"/>
                          <a:ea typeface="Calibri" pitchFamily="34" charset="-122"/>
                          <a:cs typeface="Calibri" pitchFamily="34" charset="-120"/>
                        </a:rPr>
                        <a:t>Semantic search ranking</a:t>
                      </a:r>
                      <a:endParaRPr lang="en-US" sz="1200" dirty="0">
                        <a:latin typeface="Calibri" charset="0"/>
                        <a:ea typeface="Calibri" charset="0"/>
                        <a:cs typeface="Calibri" charset="0"/>
                      </a:endParaRPr>
                    </a:p>
                  </a:txBody>
                  <a:tcPr marL="91440" marR="91440" marT="45720" marB="45720" anchor="ctr">
                    <a:lnL w="12700" cap="flat" cmpd="sng" algn="ctr">
                      <a:solidFill>
                        <a:srgbClr val="D8DCEC"/>
                      </a:solidFill>
                      <a:prstDash val="solid"/>
                      <a:round/>
                      <a:headEnd type="none" w="med" len="med"/>
                      <a:tailEnd type="none" w="med" len="med"/>
                    </a:lnL>
                    <a:lnR w="12700" cap="flat" cmpd="sng" algn="ctr">
                      <a:solidFill>
                        <a:srgbClr val="D8DCEC"/>
                      </a:solidFill>
                      <a:prstDash val="solid"/>
                      <a:round/>
                      <a:headEnd type="none" w="med" len="med"/>
                      <a:tailEnd type="none" w="med" len="med"/>
                    </a:lnR>
                    <a:lnT w="12700" cap="flat" cmpd="sng" algn="ctr">
                      <a:solidFill>
                        <a:srgbClr val="D8DCEC"/>
                      </a:solidFill>
                      <a:prstDash val="solid"/>
                      <a:round/>
                      <a:headEnd type="none" w="med" len="med"/>
                      <a:tailEnd type="none" w="med" len="med"/>
                    </a:lnT>
                    <a:lnB w="12700" cap="flat" cmpd="sng" algn="ctr">
                      <a:solidFill>
                        <a:srgbClr val="D8DCEC"/>
                      </a:solidFill>
                      <a:prstDash val="solid"/>
                      <a:round/>
                      <a:headEnd type="none" w="med" len="med"/>
                      <a:tailEnd type="none" w="med" len="med"/>
                    </a:lnB>
                  </a:tcPr>
                </a:tc>
                <a:tc>
                  <a:txBody>
                    <a:bodyPr/>
                    <a:lstStyle/>
                    <a:p>
                      <a:pPr indent="0" marL="0">
                        <a:buNone/>
                      </a:pPr>
                      <a:r>
                        <a:rPr lang="en-US" sz="1150" dirty="0">
                          <a:solidFill>
                            <a:srgbClr val="5B6072"/>
                          </a:solidFill>
                          <a:latin typeface="Calibri" pitchFamily="34" charset="0"/>
                          <a:ea typeface="Calibri" pitchFamily="34" charset="-122"/>
                          <a:cs typeface="Calibri" pitchFamily="34" charset="-120"/>
                        </a:rPr>
                        <a:t>Deadlock-topic query ranked the deadlock chunk first (0.80) over an unrelated chunk (0.50)</a:t>
                      </a:r>
                      <a:endParaRPr lang="en-US" sz="1150" dirty="0">
                        <a:latin typeface="Calibri" charset="0"/>
                        <a:ea typeface="Calibri" charset="0"/>
                        <a:cs typeface="Calibri" charset="0"/>
                      </a:endParaRPr>
                    </a:p>
                  </a:txBody>
                  <a:tcPr marL="91440" marR="91440" marT="45720" marB="45720" anchor="ctr">
                    <a:lnL w="12700" cap="flat" cmpd="sng" algn="ctr">
                      <a:solidFill>
                        <a:srgbClr val="D8DCEC"/>
                      </a:solidFill>
                      <a:prstDash val="solid"/>
                      <a:round/>
                      <a:headEnd type="none" w="med" len="med"/>
                      <a:tailEnd type="none" w="med" len="med"/>
                    </a:lnL>
                    <a:lnR w="12700" cap="flat" cmpd="sng" algn="ctr">
                      <a:solidFill>
                        <a:srgbClr val="D8DCEC"/>
                      </a:solidFill>
                      <a:prstDash val="solid"/>
                      <a:round/>
                      <a:headEnd type="none" w="med" len="med"/>
                      <a:tailEnd type="none" w="med" len="med"/>
                    </a:lnR>
                    <a:lnT w="12700" cap="flat" cmpd="sng" algn="ctr">
                      <a:solidFill>
                        <a:srgbClr val="D8DCEC"/>
                      </a:solidFill>
                      <a:prstDash val="solid"/>
                      <a:round/>
                      <a:headEnd type="none" w="med" len="med"/>
                      <a:tailEnd type="none" w="med" len="med"/>
                    </a:lnT>
                    <a:lnB w="12700" cap="flat" cmpd="sng" algn="ctr">
                      <a:solidFill>
                        <a:srgbClr val="D8DCEC"/>
                      </a:solidFill>
                      <a:prstDash val="solid"/>
                      <a:round/>
                      <a:headEnd type="none" w="med" len="med"/>
                      <a:tailEnd type="none" w="med" len="med"/>
                    </a:lnB>
                  </a:tcPr>
                </a:tc>
              </a:tr>
              <a:tr h="566928">
                <a:tc>
                  <a:txBody>
                    <a:bodyPr/>
                    <a:lstStyle/>
                    <a:p>
                      <a:pPr indent="0" marL="0">
                        <a:buNone/>
                      </a:pPr>
                      <a:r>
                        <a:rPr lang="en-US" sz="1200" b="1" dirty="0">
                          <a:solidFill>
                            <a:srgbClr val="1A1D29"/>
                          </a:solidFill>
                          <a:latin typeface="Calibri" pitchFamily="34" charset="0"/>
                          <a:ea typeface="Calibri" pitchFamily="34" charset="-122"/>
                          <a:cs typeface="Calibri" pitchFamily="34" charset="-120"/>
                        </a:rPr>
                        <a:t>RAG hallucination safeguard</a:t>
                      </a:r>
                      <a:endParaRPr lang="en-US" sz="1200" dirty="0">
                        <a:latin typeface="Calibri" charset="0"/>
                        <a:ea typeface="Calibri" charset="0"/>
                        <a:cs typeface="Calibri" charset="0"/>
                      </a:endParaRPr>
                    </a:p>
                  </a:txBody>
                  <a:tcPr marL="91440" marR="91440" marT="45720" marB="45720" anchor="ctr">
                    <a:lnL w="12700" cap="flat" cmpd="sng" algn="ctr">
                      <a:solidFill>
                        <a:srgbClr val="D8DCEC"/>
                      </a:solidFill>
                      <a:prstDash val="solid"/>
                      <a:round/>
                      <a:headEnd type="none" w="med" len="med"/>
                      <a:tailEnd type="none" w="med" len="med"/>
                    </a:lnL>
                    <a:lnR w="12700" cap="flat" cmpd="sng" algn="ctr">
                      <a:solidFill>
                        <a:srgbClr val="D8DCEC"/>
                      </a:solidFill>
                      <a:prstDash val="solid"/>
                      <a:round/>
                      <a:headEnd type="none" w="med" len="med"/>
                      <a:tailEnd type="none" w="med" len="med"/>
                    </a:lnR>
                    <a:lnT w="12700" cap="flat" cmpd="sng" algn="ctr">
                      <a:solidFill>
                        <a:srgbClr val="D8DCEC"/>
                      </a:solidFill>
                      <a:prstDash val="solid"/>
                      <a:round/>
                      <a:headEnd type="none" w="med" len="med"/>
                      <a:tailEnd type="none" w="med" len="med"/>
                    </a:lnT>
                    <a:lnB w="12700" cap="flat" cmpd="sng" algn="ctr">
                      <a:solidFill>
                        <a:srgbClr val="D8DCEC"/>
                      </a:solidFill>
                      <a:prstDash val="solid"/>
                      <a:round/>
                      <a:headEnd type="none" w="med" len="med"/>
                      <a:tailEnd type="none" w="med" len="med"/>
                    </a:lnB>
                  </a:tcPr>
                </a:tc>
                <a:tc>
                  <a:txBody>
                    <a:bodyPr/>
                    <a:lstStyle/>
                    <a:p>
                      <a:pPr indent="0" marL="0">
                        <a:buNone/>
                      </a:pPr>
                      <a:r>
                        <a:rPr lang="en-US" sz="1150" dirty="0">
                          <a:solidFill>
                            <a:srgbClr val="5B6072"/>
                          </a:solidFill>
                          <a:latin typeface="Calibri" pitchFamily="34" charset="0"/>
                          <a:ea typeface="Calibri" pitchFamily="34" charset="-122"/>
                          <a:cs typeface="Calibri" pitchFamily="34" charset="-120"/>
                        </a:rPr>
                        <a:t>A query with no relevant indexed content correctly returns “not enough information”, not a guess</a:t>
                      </a:r>
                      <a:endParaRPr lang="en-US" sz="1150" dirty="0">
                        <a:latin typeface="Calibri" charset="0"/>
                        <a:ea typeface="Calibri" charset="0"/>
                        <a:cs typeface="Calibri" charset="0"/>
                      </a:endParaRPr>
                    </a:p>
                  </a:txBody>
                  <a:tcPr marL="91440" marR="91440" marT="45720" marB="45720" anchor="ctr">
                    <a:lnL w="12700" cap="flat" cmpd="sng" algn="ctr">
                      <a:solidFill>
                        <a:srgbClr val="D8DCEC"/>
                      </a:solidFill>
                      <a:prstDash val="solid"/>
                      <a:round/>
                      <a:headEnd type="none" w="med" len="med"/>
                      <a:tailEnd type="none" w="med" len="med"/>
                    </a:lnL>
                    <a:lnR w="12700" cap="flat" cmpd="sng" algn="ctr">
                      <a:solidFill>
                        <a:srgbClr val="D8DCEC"/>
                      </a:solidFill>
                      <a:prstDash val="solid"/>
                      <a:round/>
                      <a:headEnd type="none" w="med" len="med"/>
                      <a:tailEnd type="none" w="med" len="med"/>
                    </a:lnR>
                    <a:lnT w="12700" cap="flat" cmpd="sng" algn="ctr">
                      <a:solidFill>
                        <a:srgbClr val="D8DCEC"/>
                      </a:solidFill>
                      <a:prstDash val="solid"/>
                      <a:round/>
                      <a:headEnd type="none" w="med" len="med"/>
                      <a:tailEnd type="none" w="med" len="med"/>
                    </a:lnT>
                    <a:lnB w="12700" cap="flat" cmpd="sng" algn="ctr">
                      <a:solidFill>
                        <a:srgbClr val="D8DCEC"/>
                      </a:solidFill>
                      <a:prstDash val="solid"/>
                      <a:round/>
                      <a:headEnd type="none" w="med" len="med"/>
                      <a:tailEnd type="none" w="med" len="med"/>
                    </a:lnB>
                  </a:tcPr>
                </a:tc>
              </a:tr>
              <a:tr h="566928">
                <a:tc>
                  <a:txBody>
                    <a:bodyPr/>
                    <a:lstStyle/>
                    <a:p>
                      <a:pPr indent="0" marL="0">
                        <a:buNone/>
                      </a:pPr>
                      <a:r>
                        <a:rPr lang="en-US" sz="1200" b="1" dirty="0">
                          <a:solidFill>
                            <a:srgbClr val="1A1D29"/>
                          </a:solidFill>
                          <a:latin typeface="Calibri" pitchFamily="34" charset="0"/>
                          <a:ea typeface="Calibri" pitchFamily="34" charset="-122"/>
                          <a:cs typeface="Calibri" pitchFamily="34" charset="-120"/>
                        </a:rPr>
                        <a:t>Visual search (CLIP)</a:t>
                      </a:r>
                      <a:endParaRPr lang="en-US" sz="1200" dirty="0">
                        <a:latin typeface="Calibri" charset="0"/>
                        <a:ea typeface="Calibri" charset="0"/>
                        <a:cs typeface="Calibri" charset="0"/>
                      </a:endParaRPr>
                    </a:p>
                  </a:txBody>
                  <a:tcPr marL="91440" marR="91440" marT="45720" marB="45720" anchor="ctr">
                    <a:lnL w="12700" cap="flat" cmpd="sng" algn="ctr">
                      <a:solidFill>
                        <a:srgbClr val="D8DCEC"/>
                      </a:solidFill>
                      <a:prstDash val="solid"/>
                      <a:round/>
                      <a:headEnd type="none" w="med" len="med"/>
                      <a:tailEnd type="none" w="med" len="med"/>
                    </a:lnL>
                    <a:lnR w="12700" cap="flat" cmpd="sng" algn="ctr">
                      <a:solidFill>
                        <a:srgbClr val="D8DCEC"/>
                      </a:solidFill>
                      <a:prstDash val="solid"/>
                      <a:round/>
                      <a:headEnd type="none" w="med" len="med"/>
                      <a:tailEnd type="none" w="med" len="med"/>
                    </a:lnR>
                    <a:lnT w="12700" cap="flat" cmpd="sng" algn="ctr">
                      <a:solidFill>
                        <a:srgbClr val="D8DCEC"/>
                      </a:solidFill>
                      <a:prstDash val="solid"/>
                      <a:round/>
                      <a:headEnd type="none" w="med" len="med"/>
                      <a:tailEnd type="none" w="med" len="med"/>
                    </a:lnT>
                    <a:lnB w="12700" cap="flat" cmpd="sng" algn="ctr">
                      <a:solidFill>
                        <a:srgbClr val="D8DCEC"/>
                      </a:solidFill>
                      <a:prstDash val="solid"/>
                      <a:round/>
                      <a:headEnd type="none" w="med" len="med"/>
                      <a:tailEnd type="none" w="med" len="med"/>
                    </a:lnB>
                  </a:tcPr>
                </a:tc>
                <a:tc>
                  <a:txBody>
                    <a:bodyPr/>
                    <a:lstStyle/>
                    <a:p>
                      <a:pPr indent="0" marL="0">
                        <a:buNone/>
                      </a:pPr>
                      <a:r>
                        <a:rPr lang="en-US" sz="1150" dirty="0">
                          <a:solidFill>
                            <a:srgbClr val="5B6072"/>
                          </a:solidFill>
                          <a:latin typeface="Calibri" pitchFamily="34" charset="0"/>
                          <a:ea typeface="Calibri" pitchFamily="34" charset="-122"/>
                          <a:cs typeface="Calibri" pitchFamily="34" charset="-120"/>
                        </a:rPr>
                        <a:t>Correct scene discrimination verified with the real model — not just assumed to work</a:t>
                      </a:r>
                      <a:endParaRPr lang="en-US" sz="1150" dirty="0">
                        <a:latin typeface="Calibri" charset="0"/>
                        <a:ea typeface="Calibri" charset="0"/>
                        <a:cs typeface="Calibri" charset="0"/>
                      </a:endParaRPr>
                    </a:p>
                  </a:txBody>
                  <a:tcPr marL="91440" marR="91440" marT="45720" marB="45720" anchor="ctr">
                    <a:lnL w="12700" cap="flat" cmpd="sng" algn="ctr">
                      <a:solidFill>
                        <a:srgbClr val="D8DCEC"/>
                      </a:solidFill>
                      <a:prstDash val="solid"/>
                      <a:round/>
                      <a:headEnd type="none" w="med" len="med"/>
                      <a:tailEnd type="none" w="med" len="med"/>
                    </a:lnL>
                    <a:lnR w="12700" cap="flat" cmpd="sng" algn="ctr">
                      <a:solidFill>
                        <a:srgbClr val="D8DCEC"/>
                      </a:solidFill>
                      <a:prstDash val="solid"/>
                      <a:round/>
                      <a:headEnd type="none" w="med" len="med"/>
                      <a:tailEnd type="none" w="med" len="med"/>
                    </a:lnR>
                    <a:lnT w="12700" cap="flat" cmpd="sng" algn="ctr">
                      <a:solidFill>
                        <a:srgbClr val="D8DCEC"/>
                      </a:solidFill>
                      <a:prstDash val="solid"/>
                      <a:round/>
                      <a:headEnd type="none" w="med" len="med"/>
                      <a:tailEnd type="none" w="med" len="med"/>
                    </a:lnT>
                    <a:lnB w="12700" cap="flat" cmpd="sng" algn="ctr">
                      <a:solidFill>
                        <a:srgbClr val="D8DCEC"/>
                      </a:solidFill>
                      <a:prstDash val="solid"/>
                      <a:round/>
                      <a:headEnd type="none" w="med" len="med"/>
                      <a:tailEnd type="none" w="med" len="med"/>
                    </a:lnB>
                  </a:tcPr>
                </a:tc>
              </a:tr>
            </a:tbl>
          </a:graphicData>
        </a:graphic>
      </p:graphicFrame>
      <p:sp>
        <p:nvSpPr>
          <p:cNvPr id="16" name="Text 13"/>
          <p:cNvSpPr txBox="1"/>
          <p:nvPr/>
        </p:nvSpPr>
        <p:spPr>
          <a:xfrm>
            <a:off x="11658600" y="6473952"/>
            <a:ext cx="457200" cy="274320"/>
          </a:xfrm>
          <a:prstGeom prst="rect">
            <a:avLst/>
          </a:prstGeom>
          <a:noFill/>
          <a:ln/>
        </p:spPr>
        <p:txBody>
          <a:bodyPr wrap="square" lIns="0" tIns="0" rIns="0" bIns="0" rtlCol="0" anchor="ctr"/>
          <a:lstStyle/>
          <a:p>
            <a:pPr algn="r" indent="0" marL="0">
              <a:buNone/>
            </a:pPr>
            <a:r>
              <a:rPr lang="en-US" sz="1000" dirty="0">
                <a:solidFill>
                  <a:srgbClr val="5B6072"/>
                </a:solidFill>
                <a:latin typeface="Calibri" pitchFamily="34" charset="0"/>
                <a:ea typeface="Calibri" pitchFamily="34" charset="-122"/>
                <a:cs typeface="Calibri" pitchFamily="34" charset="-120"/>
              </a:rPr>
              <a:t>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EEF2FA"/>
        </a:solidFill>
      </p:bgPr>
    </p:bg>
    <p:spTree>
      <p:nvGrpSpPr>
        <p:cNvPr id="1" name=""/>
        <p:cNvGrpSpPr/>
        <p:nvPr/>
      </p:nvGrpSpPr>
      <p:grpSpPr>
        <a:xfrm>
          <a:off x="0" y="0"/>
          <a:ext cx="0" cy="0"/>
          <a:chOff x="0" y="0"/>
          <a:chExt cx="0" cy="0"/>
        </a:xfrm>
      </p:grpSpPr>
      <p:sp>
        <p:nvSpPr>
          <p:cNvPr id="2" name="Shape 0"/>
          <p:cNvSpPr/>
          <p:nvPr/>
        </p:nvSpPr>
        <p:spPr>
          <a:xfrm>
            <a:off x="8869680" y="320040"/>
            <a:ext cx="2788920" cy="384048"/>
          </a:xfrm>
          <a:prstGeom prst="roundRect">
            <a:avLst>
              <a:gd name="adj" fmla="val 19048"/>
            </a:avLst>
          </a:prstGeom>
          <a:solidFill>
            <a:srgbClr val="12163A"/>
          </a:solidFill>
          <a:ln/>
        </p:spPr>
      </p:sp>
      <p:sp>
        <p:nvSpPr>
          <p:cNvPr id="3" name="Text 1"/>
          <p:cNvSpPr txBox="1"/>
          <p:nvPr/>
        </p:nvSpPr>
        <p:spPr>
          <a:xfrm>
            <a:off x="8869680" y="320040"/>
            <a:ext cx="2788920"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CRITERION 4 · 3 MARKS</a:t>
            </a:r>
            <a:endParaRPr lang="en-US" sz="1100" dirty="0"/>
          </a:p>
        </p:txBody>
      </p:sp>
      <p:sp>
        <p:nvSpPr>
          <p:cNvPr id="4" name="Text 2"/>
          <p:cNvSpPr txBox="1"/>
          <p:nvPr/>
        </p:nvSpPr>
        <p:spPr>
          <a:xfrm>
            <a:off x="548640" y="320040"/>
            <a:ext cx="7315200" cy="320040"/>
          </a:xfrm>
          <a:prstGeom prst="rect">
            <a:avLst/>
          </a:prstGeom>
          <a:noFill/>
          <a:ln/>
        </p:spPr>
        <p:txBody>
          <a:bodyPr wrap="square" lIns="0" tIns="0" rIns="0" bIns="0" rtlCol="0" anchor="ctr"/>
          <a:lstStyle/>
          <a:p>
            <a:pPr indent="0" marL="0">
              <a:buNone/>
            </a:pPr>
            <a:r>
              <a:rPr lang="en-US" sz="1300" b="1" spc="200" kern="0" dirty="0">
                <a:solidFill>
                  <a:srgbClr val="6D8DFF"/>
                </a:solidFill>
                <a:latin typeface="Calibri" pitchFamily="34" charset="0"/>
                <a:ea typeface="Calibri" pitchFamily="34" charset="-122"/>
                <a:cs typeface="Calibri" pitchFamily="34" charset="-120"/>
              </a:rPr>
              <a:t>LIVE SYSTEM OUTPUT</a:t>
            </a:r>
            <a:endParaRPr lang="en-US" sz="1300" dirty="0"/>
          </a:p>
        </p:txBody>
      </p:sp>
      <p:sp>
        <p:nvSpPr>
          <p:cNvPr id="5" name="Text 3"/>
          <p:cNvSpPr txBox="1"/>
          <p:nvPr/>
        </p:nvSpPr>
        <p:spPr>
          <a:xfrm>
            <a:off x="548640" y="621792"/>
            <a:ext cx="10515600" cy="640080"/>
          </a:xfrm>
          <a:prstGeom prst="rect">
            <a:avLst/>
          </a:prstGeom>
          <a:noFill/>
          <a:ln/>
        </p:spPr>
        <p:txBody>
          <a:bodyPr wrap="square" lIns="0" tIns="0" rIns="0" bIns="0" rtlCol="0" anchor="ctr"/>
          <a:lstStyle/>
          <a:p>
            <a:pPr indent="0" marL="0">
              <a:buNone/>
            </a:pPr>
            <a:r>
              <a:rPr lang="en-US" sz="3000" b="1" dirty="0">
                <a:solidFill>
                  <a:srgbClr val="1A1D29"/>
                </a:solidFill>
                <a:latin typeface="Cambria" pitchFamily="34" charset="0"/>
                <a:ea typeface="Cambria" pitchFamily="34" charset="-122"/>
                <a:cs typeface="Cambria" pitchFamily="34" charset="-120"/>
              </a:rPr>
              <a:t>Sample Question — Real Video, Real Answer</a:t>
            </a:r>
            <a:endParaRPr lang="en-US" sz="3000" dirty="0"/>
          </a:p>
        </p:txBody>
      </p:sp>
      <p:sp>
        <p:nvSpPr>
          <p:cNvPr id="6" name="Text 4"/>
          <p:cNvSpPr txBox="1"/>
          <p:nvPr/>
        </p:nvSpPr>
        <p:spPr>
          <a:xfrm>
            <a:off x="548640" y="1417320"/>
            <a:ext cx="11064240" cy="292608"/>
          </a:xfrm>
          <a:prstGeom prst="rect">
            <a:avLst/>
          </a:prstGeom>
          <a:noFill/>
          <a:ln/>
        </p:spPr>
        <p:txBody>
          <a:bodyPr wrap="square" lIns="0" tIns="0" rIns="0" bIns="0" rtlCol="0" anchor="ctr"/>
          <a:lstStyle/>
          <a:p>
            <a:pPr indent="0" marL="0">
              <a:buNone/>
            </a:pPr>
            <a:r>
              <a:rPr lang="en-US" sz="1200" i="1" dirty="0">
                <a:solidFill>
                  <a:srgbClr val="5B6072"/>
                </a:solidFill>
                <a:latin typeface="Calibri" pitchFamily="34" charset="0"/>
                <a:ea typeface="Calibri" pitchFamily="34" charset="-122"/>
                <a:cs typeface="Calibri" pitchFamily="34" charset="-120"/>
              </a:rPr>
              <a:t>Video: real ~21-minute YouTube lecture, “Introduction to Computer Science (CS101)”, ingested via URL</a:t>
            </a:r>
            <a:endParaRPr lang="en-US" sz="1200" dirty="0"/>
          </a:p>
        </p:txBody>
      </p:sp>
      <p:sp>
        <p:nvSpPr>
          <p:cNvPr id="7" name="Shape 5"/>
          <p:cNvSpPr/>
          <p:nvPr/>
        </p:nvSpPr>
        <p:spPr>
          <a:xfrm>
            <a:off x="548640" y="1828800"/>
            <a:ext cx="11064240" cy="3566160"/>
          </a:xfrm>
          <a:prstGeom prst="roundRect">
            <a:avLst>
              <a:gd name="adj" fmla="val 1795"/>
            </a:avLst>
          </a:prstGeom>
          <a:solidFill>
            <a:srgbClr val="1B2050"/>
          </a:solidFill>
          <a:ln/>
          <a:effectLst>
            <a:outerShdw sx="100000" sy="100000" kx="0" ky="0" algn="bl" rotWithShape="0" blurRad="76200" dist="25400" dir="5400000">
              <a:srgbClr val="9AA3C2">
                <a:alpha val="30000"/>
              </a:srgbClr>
            </a:outerShdw>
          </a:effectLst>
        </p:spPr>
      </p:sp>
      <p:sp>
        <p:nvSpPr>
          <p:cNvPr id="8" name="Shape 6"/>
          <p:cNvSpPr/>
          <p:nvPr/>
        </p:nvSpPr>
        <p:spPr>
          <a:xfrm>
            <a:off x="7863840" y="2103120"/>
            <a:ext cx="3566160" cy="502920"/>
          </a:xfrm>
          <a:prstGeom prst="roundRect">
            <a:avLst>
              <a:gd name="adj" fmla="val 18182"/>
            </a:avLst>
          </a:prstGeom>
          <a:solidFill>
            <a:srgbClr val="6D8DFF"/>
          </a:solidFill>
          <a:ln/>
        </p:spPr>
      </p:sp>
      <p:sp>
        <p:nvSpPr>
          <p:cNvPr id="9" name="Text 7"/>
          <p:cNvSpPr txBox="1"/>
          <p:nvPr/>
        </p:nvSpPr>
        <p:spPr>
          <a:xfrm>
            <a:off x="8001000" y="2103120"/>
            <a:ext cx="3291840" cy="50292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What is computer science?</a:t>
            </a:r>
            <a:endParaRPr lang="en-US" sz="1300" dirty="0"/>
          </a:p>
        </p:txBody>
      </p:sp>
      <p:sp>
        <p:nvSpPr>
          <p:cNvPr id="10" name="Shape 8"/>
          <p:cNvSpPr/>
          <p:nvPr/>
        </p:nvSpPr>
        <p:spPr>
          <a:xfrm>
            <a:off x="868680" y="2788920"/>
            <a:ext cx="9509760" cy="2331720"/>
          </a:xfrm>
          <a:prstGeom prst="roundRect">
            <a:avLst>
              <a:gd name="adj" fmla="val 3922"/>
            </a:avLst>
          </a:prstGeom>
          <a:solidFill>
            <a:srgbClr val="232A5C"/>
          </a:solidFill>
          <a:ln/>
        </p:spPr>
      </p:sp>
      <p:sp>
        <p:nvSpPr>
          <p:cNvPr id="11" name="Text 9"/>
          <p:cNvSpPr txBox="1"/>
          <p:nvPr/>
        </p:nvSpPr>
        <p:spPr>
          <a:xfrm>
            <a:off x="1097280" y="2926080"/>
            <a:ext cx="9052560" cy="1600200"/>
          </a:xfrm>
          <a:prstGeom prst="rect">
            <a:avLst/>
          </a:prstGeom>
          <a:noFill/>
          <a:ln/>
        </p:spPr>
        <p:txBody>
          <a:bodyPr wrap="square" lIns="0" tIns="0" rIns="0" bIns="0" rtlCol="0" anchor="ctr"/>
          <a:lstStyle/>
          <a:p>
            <a:pPr indent="0" marL="0">
              <a:buNone/>
            </a:pPr>
            <a:r>
              <a:rPr lang="en-US" sz="1300" dirty="0">
                <a:solidFill>
                  <a:srgbClr val="EDEFFA"/>
                </a:solidFill>
                <a:latin typeface="Calibri" pitchFamily="34" charset="0"/>
                <a:ea typeface="Calibri" pitchFamily="34" charset="-122"/>
                <a:cs typeface="Calibri" pitchFamily="34" charset="-120"/>
              </a:rPr>
              <a:t>“Computer science is the study and design of algorithms, computations, and information systems in both theory and practice, typically with the aid of computers. This can be traced back to before computers were widely available — as seen in the example of NASA's ‘computers’, women who performed complex calculations for space missions. Dijkstra, an influential figure in the field, once said computer science is no more about computers than astronomy is about telescopes.”</a:t>
            </a:r>
            <a:endParaRPr lang="en-US" sz="1300" dirty="0"/>
          </a:p>
        </p:txBody>
      </p:sp>
      <p:sp>
        <p:nvSpPr>
          <p:cNvPr id="12" name="Shape 10"/>
          <p:cNvSpPr/>
          <p:nvPr/>
        </p:nvSpPr>
        <p:spPr>
          <a:xfrm>
            <a:off x="1097280" y="4617720"/>
            <a:ext cx="2286000" cy="365760"/>
          </a:xfrm>
          <a:prstGeom prst="roundRect">
            <a:avLst>
              <a:gd name="adj" fmla="val 50000"/>
            </a:avLst>
          </a:prstGeom>
          <a:solidFill>
            <a:srgbClr val="12163A"/>
          </a:solidFill>
          <a:ln/>
        </p:spPr>
      </p:sp>
      <p:sp>
        <p:nvSpPr>
          <p:cNvPr id="13" name="Text 11"/>
          <p:cNvSpPr txBox="1"/>
          <p:nvPr/>
        </p:nvSpPr>
        <p:spPr>
          <a:xfrm>
            <a:off x="1097280" y="4617720"/>
            <a:ext cx="2286000" cy="365760"/>
          </a:xfrm>
          <a:prstGeom prst="rect">
            <a:avLst/>
          </a:prstGeom>
          <a:noFill/>
          <a:ln/>
        </p:spPr>
        <p:txBody>
          <a:bodyPr wrap="square" lIns="0" tIns="0" rIns="0" bIns="0" rtlCol="0" anchor="ctr"/>
          <a:lstStyle/>
          <a:p>
            <a:pPr algn="ctr" indent="0" marL="0">
              <a:buNone/>
            </a:pPr>
            <a:r>
              <a:rPr lang="en-US" sz="1050" b="1" dirty="0">
                <a:solidFill>
                  <a:srgbClr val="6D8DFF"/>
                </a:solidFill>
                <a:latin typeface="Calibri" pitchFamily="34" charset="0"/>
                <a:ea typeface="Calibri" pitchFamily="34" charset="-122"/>
                <a:cs typeface="Calibri" pitchFamily="34" charset="-120"/>
              </a:rPr>
              <a:t>▶ 00:58  ·  score 0.61</a:t>
            </a:r>
            <a:endParaRPr lang="en-US" sz="1050" dirty="0"/>
          </a:p>
        </p:txBody>
      </p:sp>
      <p:sp>
        <p:nvSpPr>
          <p:cNvPr id="14" name="Text 12"/>
          <p:cNvSpPr txBox="1"/>
          <p:nvPr/>
        </p:nvSpPr>
        <p:spPr>
          <a:xfrm>
            <a:off x="868680" y="5166360"/>
            <a:ext cx="9509760" cy="320040"/>
          </a:xfrm>
          <a:prstGeom prst="rect">
            <a:avLst/>
          </a:prstGeom>
          <a:noFill/>
          <a:ln/>
        </p:spPr>
        <p:txBody>
          <a:bodyPr wrap="square" lIns="0" tIns="0" rIns="0" bIns="0" rtlCol="0" anchor="ctr"/>
          <a:lstStyle/>
          <a:p>
            <a:pPr indent="0" marL="0">
              <a:buNone/>
            </a:pPr>
            <a:r>
              <a:rPr lang="en-US" sz="1050" i="1" dirty="0">
                <a:solidFill>
                  <a:srgbClr val="9AA3C2"/>
                </a:solidFill>
                <a:latin typeface="Calibri" pitchFamily="34" charset="0"/>
                <a:ea typeface="Calibri" pitchFamily="34" charset="-122"/>
                <a:cs typeface="Calibri" pitchFamily="34" charset="-120"/>
              </a:rPr>
              <a:t>Answer text is genuinely synthesized (not copy-pasted) and grounded in the transcript, with an exact, clickable timestamp citation.</a:t>
            </a:r>
            <a:endParaRPr lang="en-US" sz="1050" dirty="0"/>
          </a:p>
        </p:txBody>
      </p:sp>
      <p:sp>
        <p:nvSpPr>
          <p:cNvPr id="15" name="Text 13"/>
          <p:cNvSpPr txBox="1"/>
          <p:nvPr/>
        </p:nvSpPr>
        <p:spPr>
          <a:xfrm>
            <a:off x="11658600" y="6473952"/>
            <a:ext cx="457200" cy="274320"/>
          </a:xfrm>
          <a:prstGeom prst="rect">
            <a:avLst/>
          </a:prstGeom>
          <a:noFill/>
          <a:ln/>
        </p:spPr>
        <p:txBody>
          <a:bodyPr wrap="square" lIns="0" tIns="0" rIns="0" bIns="0" rtlCol="0" anchor="ctr"/>
          <a:lstStyle/>
          <a:p>
            <a:pPr algn="r" indent="0" marL="0">
              <a:buNone/>
            </a:pPr>
            <a:r>
              <a:rPr lang="en-US" sz="1000" dirty="0">
                <a:solidFill>
                  <a:srgbClr val="5B6072"/>
                </a:solidFill>
                <a:latin typeface="Calibri" pitchFamily="34" charset="0"/>
                <a:ea typeface="Calibri" pitchFamily="34" charset="-122"/>
                <a:cs typeface="Calibri" pitchFamily="34" charset="-120"/>
              </a:rPr>
              <a:t>10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EEF2FA"/>
        </a:solidFill>
      </p:bgPr>
    </p:bg>
    <p:spTree>
      <p:nvGrpSpPr>
        <p:cNvPr id="1" name=""/>
        <p:cNvGrpSpPr/>
        <p:nvPr/>
      </p:nvGrpSpPr>
      <p:grpSpPr>
        <a:xfrm>
          <a:off x="0" y="0"/>
          <a:ext cx="0" cy="0"/>
          <a:chOff x="0" y="0"/>
          <a:chExt cx="0" cy="0"/>
        </a:xfrm>
      </p:grpSpPr>
      <p:sp>
        <p:nvSpPr>
          <p:cNvPr id="2" name="Shape 0"/>
          <p:cNvSpPr/>
          <p:nvPr/>
        </p:nvSpPr>
        <p:spPr>
          <a:xfrm>
            <a:off x="8869680" y="320040"/>
            <a:ext cx="2788920" cy="384048"/>
          </a:xfrm>
          <a:prstGeom prst="roundRect">
            <a:avLst>
              <a:gd name="adj" fmla="val 19048"/>
            </a:avLst>
          </a:prstGeom>
          <a:solidFill>
            <a:srgbClr val="12163A"/>
          </a:solidFill>
          <a:ln/>
        </p:spPr>
      </p:sp>
      <p:sp>
        <p:nvSpPr>
          <p:cNvPr id="3" name="Text 1"/>
          <p:cNvSpPr txBox="1"/>
          <p:nvPr/>
        </p:nvSpPr>
        <p:spPr>
          <a:xfrm>
            <a:off x="8869680" y="320040"/>
            <a:ext cx="2788920"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CRITERION 5 · 2 MARKS</a:t>
            </a:r>
            <a:endParaRPr lang="en-US" sz="1100" dirty="0"/>
          </a:p>
        </p:txBody>
      </p:sp>
      <p:sp>
        <p:nvSpPr>
          <p:cNvPr id="4" name="Text 2"/>
          <p:cNvSpPr txBox="1"/>
          <p:nvPr/>
        </p:nvSpPr>
        <p:spPr>
          <a:xfrm>
            <a:off x="548640" y="320040"/>
            <a:ext cx="7315200" cy="320040"/>
          </a:xfrm>
          <a:prstGeom prst="rect">
            <a:avLst/>
          </a:prstGeom>
          <a:noFill/>
          <a:ln/>
        </p:spPr>
        <p:txBody>
          <a:bodyPr wrap="square" lIns="0" tIns="0" rIns="0" bIns="0" rtlCol="0" anchor="ctr"/>
          <a:lstStyle/>
          <a:p>
            <a:pPr indent="0" marL="0">
              <a:buNone/>
            </a:pPr>
            <a:r>
              <a:rPr lang="en-US" sz="1300" b="1" spc="200" kern="0" dirty="0">
                <a:solidFill>
                  <a:srgbClr val="6D8DFF"/>
                </a:solidFill>
                <a:latin typeface="Calibri" pitchFamily="34" charset="0"/>
                <a:ea typeface="Calibri" pitchFamily="34" charset="-122"/>
                <a:cs typeface="Calibri" pitchFamily="34" charset="-120"/>
              </a:rPr>
              <a:t>REAL ENGINEERING CHALLENGES</a:t>
            </a:r>
            <a:endParaRPr lang="en-US" sz="1300" dirty="0"/>
          </a:p>
        </p:txBody>
      </p:sp>
      <p:sp>
        <p:nvSpPr>
          <p:cNvPr id="5" name="Text 3"/>
          <p:cNvSpPr txBox="1"/>
          <p:nvPr/>
        </p:nvSpPr>
        <p:spPr>
          <a:xfrm>
            <a:off x="548640" y="621792"/>
            <a:ext cx="10515600" cy="640080"/>
          </a:xfrm>
          <a:prstGeom prst="rect">
            <a:avLst/>
          </a:prstGeom>
          <a:noFill/>
          <a:ln/>
        </p:spPr>
        <p:txBody>
          <a:bodyPr wrap="square" lIns="0" tIns="0" rIns="0" bIns="0" rtlCol="0" anchor="ctr"/>
          <a:lstStyle/>
          <a:p>
            <a:pPr indent="0" marL="0">
              <a:buNone/>
            </a:pPr>
            <a:r>
              <a:rPr lang="en-US" sz="3000" b="1" dirty="0">
                <a:solidFill>
                  <a:srgbClr val="1A1D29"/>
                </a:solidFill>
                <a:latin typeface="Cambria" pitchFamily="34" charset="0"/>
                <a:ea typeface="Cambria" pitchFamily="34" charset="-122"/>
                <a:cs typeface="Cambria" pitchFamily="34" charset="-120"/>
              </a:rPr>
              <a:t>Problem-Solving &amp; Technical Refinement</a:t>
            </a:r>
            <a:endParaRPr lang="en-US" sz="3000" dirty="0"/>
          </a:p>
        </p:txBody>
      </p:sp>
      <p:sp>
        <p:nvSpPr>
          <p:cNvPr id="6" name="Shape 4"/>
          <p:cNvSpPr/>
          <p:nvPr/>
        </p:nvSpPr>
        <p:spPr>
          <a:xfrm>
            <a:off x="548640" y="1508760"/>
            <a:ext cx="3611880" cy="3749040"/>
          </a:xfrm>
          <a:prstGeom prst="roundRect">
            <a:avLst>
              <a:gd name="adj" fmla="val 1772"/>
            </a:avLst>
          </a:prstGeom>
          <a:solidFill>
            <a:srgbClr val="FFFFFF"/>
          </a:solidFill>
          <a:ln/>
          <a:effectLst>
            <a:outerShdw sx="100000" sy="100000" kx="0" ky="0" algn="bl" rotWithShape="0" blurRad="76200" dist="25400" dir="5400000">
              <a:srgbClr val="9AA3C2">
                <a:alpha val="30000"/>
              </a:srgbClr>
            </a:outerShdw>
          </a:effectLst>
        </p:spPr>
      </p:sp>
      <p:sp>
        <p:nvSpPr>
          <p:cNvPr id="7" name="Shape 5"/>
          <p:cNvSpPr/>
          <p:nvPr/>
        </p:nvSpPr>
        <p:spPr>
          <a:xfrm>
            <a:off x="777240" y="1737360"/>
            <a:ext cx="3154680" cy="411480"/>
          </a:xfrm>
          <a:prstGeom prst="roundRect">
            <a:avLst>
              <a:gd name="adj" fmla="val 13333"/>
            </a:avLst>
          </a:prstGeom>
          <a:solidFill>
            <a:srgbClr val="FDECEA"/>
          </a:solidFill>
          <a:ln/>
        </p:spPr>
      </p:sp>
      <p:sp>
        <p:nvSpPr>
          <p:cNvPr id="8" name="Text 6"/>
          <p:cNvSpPr txBox="1"/>
          <p:nvPr/>
        </p:nvSpPr>
        <p:spPr>
          <a:xfrm>
            <a:off x="868680" y="1737360"/>
            <a:ext cx="2971800" cy="411480"/>
          </a:xfrm>
          <a:prstGeom prst="rect">
            <a:avLst/>
          </a:prstGeom>
          <a:noFill/>
          <a:ln/>
        </p:spPr>
        <p:txBody>
          <a:bodyPr wrap="square" lIns="0" tIns="0" rIns="0" bIns="0" rtlCol="0" anchor="ctr"/>
          <a:lstStyle/>
          <a:p>
            <a:pPr indent="0" marL="0">
              <a:buNone/>
            </a:pPr>
            <a:r>
              <a:rPr lang="en-US" sz="1000" b="1" spc="100" kern="0" dirty="0">
                <a:solidFill>
                  <a:srgbClr val="C0392B"/>
                </a:solidFill>
                <a:latin typeface="Calibri" pitchFamily="34" charset="0"/>
                <a:ea typeface="Calibri" pitchFamily="34" charset="-122"/>
                <a:cs typeface="Calibri" pitchFamily="34" charset="-120"/>
              </a:rPr>
              <a:t>CHALLENGE</a:t>
            </a:r>
            <a:endParaRPr lang="en-US" sz="1000" dirty="0"/>
          </a:p>
        </p:txBody>
      </p:sp>
      <p:sp>
        <p:nvSpPr>
          <p:cNvPr id="9" name="Text 7"/>
          <p:cNvSpPr txBox="1"/>
          <p:nvPr/>
        </p:nvSpPr>
        <p:spPr>
          <a:xfrm>
            <a:off x="777240" y="2212848"/>
            <a:ext cx="3154680" cy="502920"/>
          </a:xfrm>
          <a:prstGeom prst="rect">
            <a:avLst/>
          </a:prstGeom>
          <a:noFill/>
          <a:ln/>
        </p:spPr>
        <p:txBody>
          <a:bodyPr wrap="square" lIns="0" tIns="0" rIns="0" bIns="0" rtlCol="0" anchor="ctr"/>
          <a:lstStyle/>
          <a:p>
            <a:pPr indent="0" marL="0">
              <a:buNone/>
            </a:pPr>
            <a:r>
              <a:rPr lang="en-US" sz="1350" b="1" dirty="0">
                <a:solidFill>
                  <a:srgbClr val="1A1D29"/>
                </a:solidFill>
                <a:latin typeface="Calibri" pitchFamily="34" charset="0"/>
                <a:ea typeface="Calibri" pitchFamily="34" charset="-122"/>
                <a:cs typeface="Calibri" pitchFamily="34" charset="-120"/>
              </a:rPr>
              <a:t>GPU crashed the local LLM</a:t>
            </a:r>
            <a:endParaRPr lang="en-US" sz="1350" dirty="0"/>
          </a:p>
        </p:txBody>
      </p:sp>
      <p:sp>
        <p:nvSpPr>
          <p:cNvPr id="10" name="Text 8"/>
          <p:cNvSpPr txBox="1"/>
          <p:nvPr/>
        </p:nvSpPr>
        <p:spPr>
          <a:xfrm>
            <a:off x="777240" y="2724912"/>
            <a:ext cx="3154680" cy="960120"/>
          </a:xfrm>
          <a:prstGeom prst="rect">
            <a:avLst/>
          </a:prstGeom>
          <a:noFill/>
          <a:ln/>
        </p:spPr>
        <p:txBody>
          <a:bodyPr wrap="square" lIns="0" tIns="0" rIns="0" bIns="0" rtlCol="0" anchor="ctr"/>
          <a:lstStyle/>
          <a:p>
            <a:pPr indent="0" marL="0">
              <a:buNone/>
            </a:pPr>
            <a:r>
              <a:rPr lang="en-US" sz="1100" dirty="0">
                <a:solidFill>
                  <a:srgbClr val="5B6072"/>
                </a:solidFill>
                <a:latin typeface="Calibri" pitchFamily="34" charset="0"/>
                <a:ea typeface="Calibri" pitchFamily="34" charset="-122"/>
                <a:cs typeface="Calibri" pitchFamily="34" charset="-120"/>
              </a:rPr>
              <a:t>Ollama defaulted to a Vulkan GPU backend; this machine's old GPU doesn't support 16-bit storage, crashing every request.</a:t>
            </a:r>
            <a:endParaRPr lang="en-US" sz="1100" dirty="0"/>
          </a:p>
        </p:txBody>
      </p:sp>
      <p:sp>
        <p:nvSpPr>
          <p:cNvPr id="11" name="Shape 9"/>
          <p:cNvSpPr/>
          <p:nvPr/>
        </p:nvSpPr>
        <p:spPr>
          <a:xfrm>
            <a:off x="777240" y="3794760"/>
            <a:ext cx="3154680" cy="411480"/>
          </a:xfrm>
          <a:prstGeom prst="roundRect">
            <a:avLst>
              <a:gd name="adj" fmla="val 13333"/>
            </a:avLst>
          </a:prstGeom>
          <a:solidFill>
            <a:srgbClr val="E4F5E9"/>
          </a:solidFill>
          <a:ln/>
        </p:spPr>
      </p:sp>
      <p:sp>
        <p:nvSpPr>
          <p:cNvPr id="12" name="Text 10"/>
          <p:cNvSpPr txBox="1"/>
          <p:nvPr/>
        </p:nvSpPr>
        <p:spPr>
          <a:xfrm>
            <a:off x="868680" y="3794760"/>
            <a:ext cx="2971800" cy="411480"/>
          </a:xfrm>
          <a:prstGeom prst="rect">
            <a:avLst/>
          </a:prstGeom>
          <a:noFill/>
          <a:ln/>
        </p:spPr>
        <p:txBody>
          <a:bodyPr wrap="square" lIns="0" tIns="0" rIns="0" bIns="0" rtlCol="0" anchor="ctr"/>
          <a:lstStyle/>
          <a:p>
            <a:pPr indent="0" marL="0">
              <a:buNone/>
            </a:pPr>
            <a:r>
              <a:rPr lang="en-US" sz="1000" b="1" spc="100" kern="0" dirty="0">
                <a:solidFill>
                  <a:srgbClr val="2E9E5B"/>
                </a:solidFill>
                <a:latin typeface="Calibri" pitchFamily="34" charset="0"/>
                <a:ea typeface="Calibri" pitchFamily="34" charset="-122"/>
                <a:cs typeface="Calibri" pitchFamily="34" charset="-120"/>
              </a:rPr>
              <a:t>FIX</a:t>
            </a:r>
            <a:endParaRPr lang="en-US" sz="1000" dirty="0"/>
          </a:p>
        </p:txBody>
      </p:sp>
      <p:sp>
        <p:nvSpPr>
          <p:cNvPr id="13" name="Text 11"/>
          <p:cNvSpPr txBox="1"/>
          <p:nvPr/>
        </p:nvSpPr>
        <p:spPr>
          <a:xfrm>
            <a:off x="777240" y="4279392"/>
            <a:ext cx="3154680" cy="914400"/>
          </a:xfrm>
          <a:prstGeom prst="rect">
            <a:avLst/>
          </a:prstGeom>
          <a:noFill/>
          <a:ln/>
        </p:spPr>
        <p:txBody>
          <a:bodyPr wrap="square" lIns="0" tIns="0" rIns="0" bIns="0" rtlCol="0" anchor="ctr"/>
          <a:lstStyle/>
          <a:p>
            <a:pPr indent="0" marL="0">
              <a:buNone/>
            </a:pPr>
            <a:r>
              <a:rPr lang="en-US" sz="1100" dirty="0">
                <a:solidFill>
                  <a:srgbClr val="5B6072"/>
                </a:solidFill>
                <a:latin typeface="Calibri" pitchFamily="34" charset="0"/>
                <a:ea typeface="Calibri" pitchFamily="34" charset="-122"/>
                <a:cs typeface="Calibri" pitchFamily="34" charset="-120"/>
              </a:rPr>
              <a:t>Diagnosed from the actual server log. Fixed by forcing CPU-only inference — documented as a reproducible setup step.</a:t>
            </a:r>
            <a:endParaRPr lang="en-US" sz="1100" dirty="0"/>
          </a:p>
        </p:txBody>
      </p:sp>
      <p:sp>
        <p:nvSpPr>
          <p:cNvPr id="14" name="Shape 12"/>
          <p:cNvSpPr/>
          <p:nvPr/>
        </p:nvSpPr>
        <p:spPr>
          <a:xfrm>
            <a:off x="4297680" y="1508760"/>
            <a:ext cx="3611880" cy="3749040"/>
          </a:xfrm>
          <a:prstGeom prst="roundRect">
            <a:avLst>
              <a:gd name="adj" fmla="val 1772"/>
            </a:avLst>
          </a:prstGeom>
          <a:solidFill>
            <a:srgbClr val="FFFFFF"/>
          </a:solidFill>
          <a:ln/>
          <a:effectLst>
            <a:outerShdw sx="100000" sy="100000" kx="0" ky="0" algn="bl" rotWithShape="0" blurRad="76200" dist="25400" dir="5400000">
              <a:srgbClr val="9AA3C2">
                <a:alpha val="30000"/>
              </a:srgbClr>
            </a:outerShdw>
          </a:effectLst>
        </p:spPr>
      </p:sp>
      <p:sp>
        <p:nvSpPr>
          <p:cNvPr id="15" name="Shape 13"/>
          <p:cNvSpPr/>
          <p:nvPr/>
        </p:nvSpPr>
        <p:spPr>
          <a:xfrm>
            <a:off x="4526280" y="1737360"/>
            <a:ext cx="3154680" cy="411480"/>
          </a:xfrm>
          <a:prstGeom prst="roundRect">
            <a:avLst>
              <a:gd name="adj" fmla="val 13333"/>
            </a:avLst>
          </a:prstGeom>
          <a:solidFill>
            <a:srgbClr val="FDECEA"/>
          </a:solidFill>
          <a:ln/>
        </p:spPr>
      </p:sp>
      <p:sp>
        <p:nvSpPr>
          <p:cNvPr id="16" name="Text 14"/>
          <p:cNvSpPr txBox="1"/>
          <p:nvPr/>
        </p:nvSpPr>
        <p:spPr>
          <a:xfrm>
            <a:off x="4617720" y="1737360"/>
            <a:ext cx="2971800" cy="411480"/>
          </a:xfrm>
          <a:prstGeom prst="rect">
            <a:avLst/>
          </a:prstGeom>
          <a:noFill/>
          <a:ln/>
        </p:spPr>
        <p:txBody>
          <a:bodyPr wrap="square" lIns="0" tIns="0" rIns="0" bIns="0" rtlCol="0" anchor="ctr"/>
          <a:lstStyle/>
          <a:p>
            <a:pPr indent="0" marL="0">
              <a:buNone/>
            </a:pPr>
            <a:r>
              <a:rPr lang="en-US" sz="1000" b="1" spc="100" kern="0" dirty="0">
                <a:solidFill>
                  <a:srgbClr val="C0392B"/>
                </a:solidFill>
                <a:latin typeface="Calibri" pitchFamily="34" charset="0"/>
                <a:ea typeface="Calibri" pitchFamily="34" charset="-122"/>
                <a:cs typeface="Calibri" pitchFamily="34" charset="-120"/>
              </a:rPr>
              <a:t>CHALLENGE</a:t>
            </a:r>
            <a:endParaRPr lang="en-US" sz="1000" dirty="0"/>
          </a:p>
        </p:txBody>
      </p:sp>
      <p:sp>
        <p:nvSpPr>
          <p:cNvPr id="17" name="Text 15"/>
          <p:cNvSpPr txBox="1"/>
          <p:nvPr/>
        </p:nvSpPr>
        <p:spPr>
          <a:xfrm>
            <a:off x="4526280" y="2212848"/>
            <a:ext cx="3154680" cy="502920"/>
          </a:xfrm>
          <a:prstGeom prst="rect">
            <a:avLst/>
          </a:prstGeom>
          <a:noFill/>
          <a:ln/>
        </p:spPr>
        <p:txBody>
          <a:bodyPr wrap="square" lIns="0" tIns="0" rIns="0" bIns="0" rtlCol="0" anchor="ctr"/>
          <a:lstStyle/>
          <a:p>
            <a:pPr indent="0" marL="0">
              <a:buNone/>
            </a:pPr>
            <a:r>
              <a:rPr lang="en-US" sz="1350" b="1" dirty="0">
                <a:solidFill>
                  <a:srgbClr val="1A1D29"/>
                </a:solidFill>
                <a:latin typeface="Calibri" pitchFamily="34" charset="0"/>
                <a:ea typeface="Calibri" pitchFamily="34" charset="-122"/>
                <a:cs typeface="Calibri" pitchFamily="34" charset="-120"/>
              </a:rPr>
              <a:t>Model downloads stalled</a:t>
            </a:r>
            <a:endParaRPr lang="en-US" sz="1350" dirty="0"/>
          </a:p>
        </p:txBody>
      </p:sp>
      <p:sp>
        <p:nvSpPr>
          <p:cNvPr id="18" name="Text 16"/>
          <p:cNvSpPr txBox="1"/>
          <p:nvPr/>
        </p:nvSpPr>
        <p:spPr>
          <a:xfrm>
            <a:off x="4526280" y="2724912"/>
            <a:ext cx="3154680" cy="960120"/>
          </a:xfrm>
          <a:prstGeom prst="rect">
            <a:avLst/>
          </a:prstGeom>
          <a:noFill/>
          <a:ln/>
        </p:spPr>
        <p:txBody>
          <a:bodyPr wrap="square" lIns="0" tIns="0" rIns="0" bIns="0" rtlCol="0" anchor="ctr"/>
          <a:lstStyle/>
          <a:p>
            <a:pPr indent="0" marL="0">
              <a:buNone/>
            </a:pPr>
            <a:r>
              <a:rPr lang="en-US" sz="1100" dirty="0">
                <a:solidFill>
                  <a:srgbClr val="5B6072"/>
                </a:solidFill>
                <a:latin typeface="Calibri" pitchFamily="34" charset="0"/>
                <a:ea typeface="Calibri" pitchFamily="34" charset="-122"/>
                <a:cs typeface="Calibri" pitchFamily="34" charset="-120"/>
              </a:rPr>
              <a:t>HuggingFace's newer transfer backend collapsed to a few KB/s with repeated retries mid-download.</a:t>
            </a:r>
            <a:endParaRPr lang="en-US" sz="1100" dirty="0"/>
          </a:p>
        </p:txBody>
      </p:sp>
      <p:sp>
        <p:nvSpPr>
          <p:cNvPr id="19" name="Shape 17"/>
          <p:cNvSpPr/>
          <p:nvPr/>
        </p:nvSpPr>
        <p:spPr>
          <a:xfrm>
            <a:off x="4526280" y="3794760"/>
            <a:ext cx="3154680" cy="411480"/>
          </a:xfrm>
          <a:prstGeom prst="roundRect">
            <a:avLst>
              <a:gd name="adj" fmla="val 13333"/>
            </a:avLst>
          </a:prstGeom>
          <a:solidFill>
            <a:srgbClr val="E4F5E9"/>
          </a:solidFill>
          <a:ln/>
        </p:spPr>
      </p:sp>
      <p:sp>
        <p:nvSpPr>
          <p:cNvPr id="20" name="Text 18"/>
          <p:cNvSpPr txBox="1"/>
          <p:nvPr/>
        </p:nvSpPr>
        <p:spPr>
          <a:xfrm>
            <a:off x="4617720" y="3794760"/>
            <a:ext cx="2971800" cy="411480"/>
          </a:xfrm>
          <a:prstGeom prst="rect">
            <a:avLst/>
          </a:prstGeom>
          <a:noFill/>
          <a:ln/>
        </p:spPr>
        <p:txBody>
          <a:bodyPr wrap="square" lIns="0" tIns="0" rIns="0" bIns="0" rtlCol="0" anchor="ctr"/>
          <a:lstStyle/>
          <a:p>
            <a:pPr indent="0" marL="0">
              <a:buNone/>
            </a:pPr>
            <a:r>
              <a:rPr lang="en-US" sz="1000" b="1" spc="100" kern="0" dirty="0">
                <a:solidFill>
                  <a:srgbClr val="2E9E5B"/>
                </a:solidFill>
                <a:latin typeface="Calibri" pitchFamily="34" charset="0"/>
                <a:ea typeface="Calibri" pitchFamily="34" charset="-122"/>
                <a:cs typeface="Calibri" pitchFamily="34" charset="-120"/>
              </a:rPr>
              <a:t>FIX</a:t>
            </a:r>
            <a:endParaRPr lang="en-US" sz="1000" dirty="0"/>
          </a:p>
        </p:txBody>
      </p:sp>
      <p:sp>
        <p:nvSpPr>
          <p:cNvPr id="21" name="Text 19"/>
          <p:cNvSpPr txBox="1"/>
          <p:nvPr/>
        </p:nvSpPr>
        <p:spPr>
          <a:xfrm>
            <a:off x="4526280" y="4279392"/>
            <a:ext cx="3154680" cy="914400"/>
          </a:xfrm>
          <a:prstGeom prst="rect">
            <a:avLst/>
          </a:prstGeom>
          <a:noFill/>
          <a:ln/>
        </p:spPr>
        <p:txBody>
          <a:bodyPr wrap="square" lIns="0" tIns="0" rIns="0" bIns="0" rtlCol="0" anchor="ctr"/>
          <a:lstStyle/>
          <a:p>
            <a:pPr indent="0" marL="0">
              <a:buNone/>
            </a:pPr>
            <a:r>
              <a:rPr lang="en-US" sz="1100" dirty="0">
                <a:solidFill>
                  <a:srgbClr val="5B6072"/>
                </a:solidFill>
                <a:latin typeface="Calibri" pitchFamily="34" charset="0"/>
                <a:ea typeface="Calibri" pitchFamily="34" charset="-122"/>
                <a:cs typeface="Calibri" pitchFamily="34" charset="-120"/>
              </a:rPr>
              <a:t>Diagnosed via transfer logs. Switched to the plain HTTP downloader — completed reliably.</a:t>
            </a:r>
            <a:endParaRPr lang="en-US" sz="1100" dirty="0"/>
          </a:p>
        </p:txBody>
      </p:sp>
      <p:sp>
        <p:nvSpPr>
          <p:cNvPr id="22" name="Shape 20"/>
          <p:cNvSpPr/>
          <p:nvPr/>
        </p:nvSpPr>
        <p:spPr>
          <a:xfrm>
            <a:off x="8046720" y="1508760"/>
            <a:ext cx="3611880" cy="3749040"/>
          </a:xfrm>
          <a:prstGeom prst="roundRect">
            <a:avLst>
              <a:gd name="adj" fmla="val 1772"/>
            </a:avLst>
          </a:prstGeom>
          <a:solidFill>
            <a:srgbClr val="FFFFFF"/>
          </a:solidFill>
          <a:ln/>
          <a:effectLst>
            <a:outerShdw sx="100000" sy="100000" kx="0" ky="0" algn="bl" rotWithShape="0" blurRad="76200" dist="25400" dir="5400000">
              <a:srgbClr val="9AA3C2">
                <a:alpha val="30000"/>
              </a:srgbClr>
            </a:outerShdw>
          </a:effectLst>
        </p:spPr>
      </p:sp>
      <p:sp>
        <p:nvSpPr>
          <p:cNvPr id="23" name="Shape 21"/>
          <p:cNvSpPr/>
          <p:nvPr/>
        </p:nvSpPr>
        <p:spPr>
          <a:xfrm>
            <a:off x="8275320" y="1737360"/>
            <a:ext cx="3154680" cy="411480"/>
          </a:xfrm>
          <a:prstGeom prst="roundRect">
            <a:avLst>
              <a:gd name="adj" fmla="val 13333"/>
            </a:avLst>
          </a:prstGeom>
          <a:solidFill>
            <a:srgbClr val="FDECEA"/>
          </a:solidFill>
          <a:ln/>
        </p:spPr>
      </p:sp>
      <p:sp>
        <p:nvSpPr>
          <p:cNvPr id="24" name="Text 22"/>
          <p:cNvSpPr txBox="1"/>
          <p:nvPr/>
        </p:nvSpPr>
        <p:spPr>
          <a:xfrm>
            <a:off x="8366760" y="1737360"/>
            <a:ext cx="2971800" cy="411480"/>
          </a:xfrm>
          <a:prstGeom prst="rect">
            <a:avLst/>
          </a:prstGeom>
          <a:noFill/>
          <a:ln/>
        </p:spPr>
        <p:txBody>
          <a:bodyPr wrap="square" lIns="0" tIns="0" rIns="0" bIns="0" rtlCol="0" anchor="ctr"/>
          <a:lstStyle/>
          <a:p>
            <a:pPr indent="0" marL="0">
              <a:buNone/>
            </a:pPr>
            <a:r>
              <a:rPr lang="en-US" sz="1000" b="1" spc="100" kern="0" dirty="0">
                <a:solidFill>
                  <a:srgbClr val="C0392B"/>
                </a:solidFill>
                <a:latin typeface="Calibri" pitchFamily="34" charset="0"/>
                <a:ea typeface="Calibri" pitchFamily="34" charset="-122"/>
                <a:cs typeface="Calibri" pitchFamily="34" charset="-120"/>
              </a:rPr>
              <a:t>CHALLENGE</a:t>
            </a:r>
            <a:endParaRPr lang="en-US" sz="1000" dirty="0"/>
          </a:p>
        </p:txBody>
      </p:sp>
      <p:sp>
        <p:nvSpPr>
          <p:cNvPr id="25" name="Text 23"/>
          <p:cNvSpPr txBox="1"/>
          <p:nvPr/>
        </p:nvSpPr>
        <p:spPr>
          <a:xfrm>
            <a:off x="8275320" y="2212848"/>
            <a:ext cx="3154680" cy="502920"/>
          </a:xfrm>
          <a:prstGeom prst="rect">
            <a:avLst/>
          </a:prstGeom>
          <a:noFill/>
          <a:ln/>
        </p:spPr>
        <p:txBody>
          <a:bodyPr wrap="square" lIns="0" tIns="0" rIns="0" bIns="0" rtlCol="0" anchor="ctr"/>
          <a:lstStyle/>
          <a:p>
            <a:pPr indent="0" marL="0">
              <a:buNone/>
            </a:pPr>
            <a:r>
              <a:rPr lang="en-US" sz="1350" b="1" dirty="0">
                <a:solidFill>
                  <a:srgbClr val="1A1D29"/>
                </a:solidFill>
                <a:latin typeface="Calibri" pitchFamily="34" charset="0"/>
                <a:ea typeface="Calibri" pitchFamily="34" charset="-122"/>
                <a:cs typeface="Calibri" pitchFamily="34" charset="-120"/>
              </a:rPr>
              <a:t>YouTube ingestion failed silently</a:t>
            </a:r>
            <a:endParaRPr lang="en-US" sz="1350" dirty="0"/>
          </a:p>
        </p:txBody>
      </p:sp>
      <p:sp>
        <p:nvSpPr>
          <p:cNvPr id="26" name="Text 24"/>
          <p:cNvSpPr txBox="1"/>
          <p:nvPr/>
        </p:nvSpPr>
        <p:spPr>
          <a:xfrm>
            <a:off x="8275320" y="2724912"/>
            <a:ext cx="3154680" cy="960120"/>
          </a:xfrm>
          <a:prstGeom prst="rect">
            <a:avLst/>
          </a:prstGeom>
          <a:noFill/>
          <a:ln/>
        </p:spPr>
        <p:txBody>
          <a:bodyPr wrap="square" lIns="0" tIns="0" rIns="0" bIns="0" rtlCol="0" anchor="ctr"/>
          <a:lstStyle/>
          <a:p>
            <a:pPr indent="0" marL="0">
              <a:buNone/>
            </a:pPr>
            <a:r>
              <a:rPr lang="en-US" sz="1100" dirty="0">
                <a:solidFill>
                  <a:srgbClr val="5B6072"/>
                </a:solidFill>
                <a:latin typeface="Calibri" pitchFamily="34" charset="0"/>
                <a:ea typeface="Calibri" pitchFamily="34" charset="-122"/>
                <a:cs typeface="Calibri" pitchFamily="34" charset="-120"/>
              </a:rPr>
              <a:t>yt-dlp's ffmpeg path option doesn't resolve a bare command name via PATH the way a shell does.</a:t>
            </a:r>
            <a:endParaRPr lang="en-US" sz="1100" dirty="0"/>
          </a:p>
        </p:txBody>
      </p:sp>
      <p:sp>
        <p:nvSpPr>
          <p:cNvPr id="27" name="Shape 25"/>
          <p:cNvSpPr/>
          <p:nvPr/>
        </p:nvSpPr>
        <p:spPr>
          <a:xfrm>
            <a:off x="8275320" y="3794760"/>
            <a:ext cx="3154680" cy="411480"/>
          </a:xfrm>
          <a:prstGeom prst="roundRect">
            <a:avLst>
              <a:gd name="adj" fmla="val 13333"/>
            </a:avLst>
          </a:prstGeom>
          <a:solidFill>
            <a:srgbClr val="E4F5E9"/>
          </a:solidFill>
          <a:ln/>
        </p:spPr>
      </p:sp>
      <p:sp>
        <p:nvSpPr>
          <p:cNvPr id="28" name="Text 26"/>
          <p:cNvSpPr txBox="1"/>
          <p:nvPr/>
        </p:nvSpPr>
        <p:spPr>
          <a:xfrm>
            <a:off x="8366760" y="3794760"/>
            <a:ext cx="2971800" cy="411480"/>
          </a:xfrm>
          <a:prstGeom prst="rect">
            <a:avLst/>
          </a:prstGeom>
          <a:noFill/>
          <a:ln/>
        </p:spPr>
        <p:txBody>
          <a:bodyPr wrap="square" lIns="0" tIns="0" rIns="0" bIns="0" rtlCol="0" anchor="ctr"/>
          <a:lstStyle/>
          <a:p>
            <a:pPr indent="0" marL="0">
              <a:buNone/>
            </a:pPr>
            <a:r>
              <a:rPr lang="en-US" sz="1000" b="1" spc="100" kern="0" dirty="0">
                <a:solidFill>
                  <a:srgbClr val="2E9E5B"/>
                </a:solidFill>
                <a:latin typeface="Calibri" pitchFamily="34" charset="0"/>
                <a:ea typeface="Calibri" pitchFamily="34" charset="-122"/>
                <a:cs typeface="Calibri" pitchFamily="34" charset="-120"/>
              </a:rPr>
              <a:t>FIX</a:t>
            </a:r>
            <a:endParaRPr lang="en-US" sz="1000" dirty="0"/>
          </a:p>
        </p:txBody>
      </p:sp>
      <p:sp>
        <p:nvSpPr>
          <p:cNvPr id="29" name="Text 27"/>
          <p:cNvSpPr txBox="1"/>
          <p:nvPr/>
        </p:nvSpPr>
        <p:spPr>
          <a:xfrm>
            <a:off x="8275320" y="4279392"/>
            <a:ext cx="3154680" cy="914400"/>
          </a:xfrm>
          <a:prstGeom prst="rect">
            <a:avLst/>
          </a:prstGeom>
          <a:noFill/>
          <a:ln/>
        </p:spPr>
        <p:txBody>
          <a:bodyPr wrap="square" lIns="0" tIns="0" rIns="0" bIns="0" rtlCol="0" anchor="ctr"/>
          <a:lstStyle/>
          <a:p>
            <a:pPr indent="0" marL="0">
              <a:buNone/>
            </a:pPr>
            <a:r>
              <a:rPr lang="en-US" sz="1100" dirty="0">
                <a:solidFill>
                  <a:srgbClr val="5B6072"/>
                </a:solidFill>
                <a:latin typeface="Calibri" pitchFamily="34" charset="0"/>
                <a:ea typeface="Calibri" pitchFamily="34" charset="-122"/>
                <a:cs typeface="Calibri" pitchFamily="34" charset="-120"/>
              </a:rPr>
              <a:t>Root-caused to a resolution difference between tools. Fixed by resolving the path explicitly before passing it through.</a:t>
            </a:r>
            <a:endParaRPr lang="en-US" sz="1100" dirty="0"/>
          </a:p>
        </p:txBody>
      </p:sp>
      <p:sp>
        <p:nvSpPr>
          <p:cNvPr id="30" name="Text 28"/>
          <p:cNvSpPr txBox="1"/>
          <p:nvPr/>
        </p:nvSpPr>
        <p:spPr>
          <a:xfrm>
            <a:off x="11658600" y="6473952"/>
            <a:ext cx="457200" cy="274320"/>
          </a:xfrm>
          <a:prstGeom prst="rect">
            <a:avLst/>
          </a:prstGeom>
          <a:noFill/>
          <a:ln/>
        </p:spPr>
        <p:txBody>
          <a:bodyPr wrap="square" lIns="0" tIns="0" rIns="0" bIns="0" rtlCol="0" anchor="ctr"/>
          <a:lstStyle/>
          <a:p>
            <a:pPr algn="r" indent="0" marL="0">
              <a:buNone/>
            </a:pPr>
            <a:r>
              <a:rPr lang="en-US" sz="1000" dirty="0">
                <a:solidFill>
                  <a:srgbClr val="5B6072"/>
                </a:solidFill>
                <a:latin typeface="Calibri" pitchFamily="34" charset="0"/>
                <a:ea typeface="Calibri" pitchFamily="34" charset="-122"/>
                <a:cs typeface="Calibri" pitchFamily="34" charset="-120"/>
              </a:rPr>
              <a:t>11</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EEF2FA"/>
        </a:solidFill>
      </p:bgPr>
    </p:bg>
    <p:spTree>
      <p:nvGrpSpPr>
        <p:cNvPr id="1" name=""/>
        <p:cNvGrpSpPr/>
        <p:nvPr/>
      </p:nvGrpSpPr>
      <p:grpSpPr>
        <a:xfrm>
          <a:off x="0" y="0"/>
          <a:ext cx="0" cy="0"/>
          <a:chOff x="0" y="0"/>
          <a:chExt cx="0" cy="0"/>
        </a:xfrm>
      </p:grpSpPr>
      <p:sp>
        <p:nvSpPr>
          <p:cNvPr id="2" name="Shape 0"/>
          <p:cNvSpPr/>
          <p:nvPr/>
        </p:nvSpPr>
        <p:spPr>
          <a:xfrm>
            <a:off x="8869680" y="320040"/>
            <a:ext cx="2788920" cy="384048"/>
          </a:xfrm>
          <a:prstGeom prst="roundRect">
            <a:avLst>
              <a:gd name="adj" fmla="val 19048"/>
            </a:avLst>
          </a:prstGeom>
          <a:solidFill>
            <a:srgbClr val="12163A"/>
          </a:solidFill>
          <a:ln/>
        </p:spPr>
      </p:sp>
      <p:sp>
        <p:nvSpPr>
          <p:cNvPr id="3" name="Text 1"/>
          <p:cNvSpPr txBox="1"/>
          <p:nvPr/>
        </p:nvSpPr>
        <p:spPr>
          <a:xfrm>
            <a:off x="8869680" y="320040"/>
            <a:ext cx="2788920"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CRITERION 6 · 3 MARKS</a:t>
            </a:r>
            <a:endParaRPr lang="en-US" sz="1100" dirty="0"/>
          </a:p>
        </p:txBody>
      </p:sp>
      <p:sp>
        <p:nvSpPr>
          <p:cNvPr id="4" name="Text 2"/>
          <p:cNvSpPr txBox="1"/>
          <p:nvPr/>
        </p:nvSpPr>
        <p:spPr>
          <a:xfrm>
            <a:off x="548640" y="320040"/>
            <a:ext cx="7315200" cy="320040"/>
          </a:xfrm>
          <a:prstGeom prst="rect">
            <a:avLst/>
          </a:prstGeom>
          <a:noFill/>
          <a:ln/>
        </p:spPr>
        <p:txBody>
          <a:bodyPr wrap="square" lIns="0" tIns="0" rIns="0" bIns="0" rtlCol="0" anchor="ctr"/>
          <a:lstStyle/>
          <a:p>
            <a:pPr indent="0" marL="0">
              <a:buNone/>
            </a:pPr>
            <a:r>
              <a:rPr lang="en-US" sz="1300" b="1" spc="200" kern="0" dirty="0">
                <a:solidFill>
                  <a:srgbClr val="6D8DFF"/>
                </a:solidFill>
                <a:latin typeface="Calibri" pitchFamily="34" charset="0"/>
                <a:ea typeface="Calibri" pitchFamily="34" charset="-122"/>
                <a:cs typeface="Calibri" pitchFamily="34" charset="-120"/>
              </a:rPr>
              <a:t>WRITTEN RECORD</a:t>
            </a:r>
            <a:endParaRPr lang="en-US" sz="1300" dirty="0"/>
          </a:p>
        </p:txBody>
      </p:sp>
      <p:sp>
        <p:nvSpPr>
          <p:cNvPr id="5" name="Text 3"/>
          <p:cNvSpPr txBox="1"/>
          <p:nvPr/>
        </p:nvSpPr>
        <p:spPr>
          <a:xfrm>
            <a:off x="548640" y="621792"/>
            <a:ext cx="10515600" cy="640080"/>
          </a:xfrm>
          <a:prstGeom prst="rect">
            <a:avLst/>
          </a:prstGeom>
          <a:noFill/>
          <a:ln/>
        </p:spPr>
        <p:txBody>
          <a:bodyPr wrap="square" lIns="0" tIns="0" rIns="0" bIns="0" rtlCol="0" anchor="ctr"/>
          <a:lstStyle/>
          <a:p>
            <a:pPr indent="0" marL="0">
              <a:buNone/>
            </a:pPr>
            <a:r>
              <a:rPr lang="en-US" sz="3000" b="1" dirty="0">
                <a:solidFill>
                  <a:srgbClr val="1A1D29"/>
                </a:solidFill>
                <a:latin typeface="Cambria" pitchFamily="34" charset="0"/>
                <a:ea typeface="Cambria" pitchFamily="34" charset="-122"/>
                <a:cs typeface="Cambria" pitchFamily="34" charset="-120"/>
              </a:rPr>
              <a:t>Documentation Progress</a:t>
            </a:r>
            <a:endParaRPr lang="en-US" sz="3000" dirty="0"/>
          </a:p>
        </p:txBody>
      </p:sp>
      <p:sp>
        <p:nvSpPr>
          <p:cNvPr id="6" name="Shape 4"/>
          <p:cNvSpPr/>
          <p:nvPr/>
        </p:nvSpPr>
        <p:spPr>
          <a:xfrm>
            <a:off x="548640" y="1554480"/>
            <a:ext cx="3611880" cy="2377440"/>
          </a:xfrm>
          <a:prstGeom prst="roundRect">
            <a:avLst>
              <a:gd name="adj" fmla="val 2692"/>
            </a:avLst>
          </a:prstGeom>
          <a:solidFill>
            <a:srgbClr val="FFFFFF"/>
          </a:solidFill>
          <a:ln/>
          <a:effectLst>
            <a:outerShdw sx="100000" sy="100000" kx="0" ky="0" algn="bl" rotWithShape="0" blurRad="76200" dist="25400" dir="5400000">
              <a:srgbClr val="9AA3C2">
                <a:alpha val="30000"/>
              </a:srgbClr>
            </a:outerShdw>
          </a:effectLst>
        </p:spPr>
      </p:sp>
      <p:sp>
        <p:nvSpPr>
          <p:cNvPr id="7" name="Text 5"/>
          <p:cNvSpPr txBox="1"/>
          <p:nvPr/>
        </p:nvSpPr>
        <p:spPr>
          <a:xfrm>
            <a:off x="777240" y="1783080"/>
            <a:ext cx="3154680" cy="457200"/>
          </a:xfrm>
          <a:prstGeom prst="rect">
            <a:avLst/>
          </a:prstGeom>
          <a:noFill/>
          <a:ln/>
        </p:spPr>
        <p:txBody>
          <a:bodyPr wrap="square" lIns="0" tIns="0" rIns="0" bIns="0" rtlCol="0" anchor="ctr"/>
          <a:lstStyle/>
          <a:p>
            <a:pPr indent="0" marL="0">
              <a:buNone/>
            </a:pPr>
            <a:r>
              <a:rPr lang="en-US" sz="1500" b="1" dirty="0">
                <a:solidFill>
                  <a:srgbClr val="6D8DFF"/>
                </a:solidFill>
                <a:latin typeface="Calibri" pitchFamily="34" charset="0"/>
                <a:ea typeface="Calibri" pitchFamily="34" charset="-122"/>
                <a:cs typeface="Calibri" pitchFamily="34" charset="-120"/>
              </a:rPr>
              <a:t>architecture.md</a:t>
            </a:r>
            <a:endParaRPr lang="en-US" sz="1500" dirty="0"/>
          </a:p>
        </p:txBody>
      </p:sp>
      <p:sp>
        <p:nvSpPr>
          <p:cNvPr id="8" name="Text 6"/>
          <p:cNvSpPr txBox="1"/>
          <p:nvPr/>
        </p:nvSpPr>
        <p:spPr>
          <a:xfrm>
            <a:off x="777240" y="2286000"/>
            <a:ext cx="3154680" cy="1463040"/>
          </a:xfrm>
          <a:prstGeom prst="rect">
            <a:avLst/>
          </a:prstGeom>
          <a:noFill/>
          <a:ln/>
        </p:spPr>
        <p:txBody>
          <a:bodyPr wrap="square" lIns="0" tIns="0" rIns="0" bIns="0" rtlCol="0" anchor="ctr"/>
          <a:lstStyle/>
          <a:p>
            <a:pPr indent="0" marL="0">
              <a:buNone/>
            </a:pPr>
            <a:r>
              <a:rPr lang="en-US" sz="1200" dirty="0">
                <a:solidFill>
                  <a:srgbClr val="5B6072"/>
                </a:solidFill>
                <a:latin typeface="Calibri" pitchFamily="34" charset="0"/>
                <a:ea typeface="Calibri" pitchFamily="34" charset="-122"/>
                <a:cs typeface="Calibri" pitchFamily="34" charset="-120"/>
              </a:rPr>
              <a:t>Build log: what exists, per file, per phase, with verification evidence for every claim.</a:t>
            </a:r>
            <a:endParaRPr lang="en-US" sz="1200" dirty="0"/>
          </a:p>
        </p:txBody>
      </p:sp>
      <p:sp>
        <p:nvSpPr>
          <p:cNvPr id="9" name="Shape 7"/>
          <p:cNvSpPr/>
          <p:nvPr/>
        </p:nvSpPr>
        <p:spPr>
          <a:xfrm>
            <a:off x="4297680" y="1554480"/>
            <a:ext cx="3611880" cy="2377440"/>
          </a:xfrm>
          <a:prstGeom prst="roundRect">
            <a:avLst>
              <a:gd name="adj" fmla="val 2692"/>
            </a:avLst>
          </a:prstGeom>
          <a:solidFill>
            <a:srgbClr val="FFFFFF"/>
          </a:solidFill>
          <a:ln/>
          <a:effectLst>
            <a:outerShdw sx="100000" sy="100000" kx="0" ky="0" algn="bl" rotWithShape="0" blurRad="76200" dist="25400" dir="5400000">
              <a:srgbClr val="9AA3C2">
                <a:alpha val="30000"/>
              </a:srgbClr>
            </a:outerShdw>
          </a:effectLst>
        </p:spPr>
      </p:sp>
      <p:sp>
        <p:nvSpPr>
          <p:cNvPr id="10" name="Text 8"/>
          <p:cNvSpPr txBox="1"/>
          <p:nvPr/>
        </p:nvSpPr>
        <p:spPr>
          <a:xfrm>
            <a:off x="4526280" y="1783080"/>
            <a:ext cx="3154680" cy="457200"/>
          </a:xfrm>
          <a:prstGeom prst="rect">
            <a:avLst/>
          </a:prstGeom>
          <a:noFill/>
          <a:ln/>
        </p:spPr>
        <p:txBody>
          <a:bodyPr wrap="square" lIns="0" tIns="0" rIns="0" bIns="0" rtlCol="0" anchor="ctr"/>
          <a:lstStyle/>
          <a:p>
            <a:pPr indent="0" marL="0">
              <a:buNone/>
            </a:pPr>
            <a:r>
              <a:rPr lang="en-US" sz="1500" b="1" dirty="0">
                <a:solidFill>
                  <a:srgbClr val="6D8DFF"/>
                </a:solidFill>
                <a:latin typeface="Calibri" pitchFamily="34" charset="0"/>
                <a:ea typeface="Calibri" pitchFamily="34" charset="-122"/>
                <a:cs typeface="Calibri" pitchFamily="34" charset="-120"/>
              </a:rPr>
              <a:t>concepts.md</a:t>
            </a:r>
            <a:endParaRPr lang="en-US" sz="1500" dirty="0"/>
          </a:p>
        </p:txBody>
      </p:sp>
      <p:sp>
        <p:nvSpPr>
          <p:cNvPr id="11" name="Text 9"/>
          <p:cNvSpPr txBox="1"/>
          <p:nvPr/>
        </p:nvSpPr>
        <p:spPr>
          <a:xfrm>
            <a:off x="4526280" y="2286000"/>
            <a:ext cx="3154680" cy="1463040"/>
          </a:xfrm>
          <a:prstGeom prst="rect">
            <a:avLst/>
          </a:prstGeom>
          <a:noFill/>
          <a:ln/>
        </p:spPr>
        <p:txBody>
          <a:bodyPr wrap="square" lIns="0" tIns="0" rIns="0" bIns="0" rtlCol="0" anchor="ctr"/>
          <a:lstStyle/>
          <a:p>
            <a:pPr indent="0" marL="0">
              <a:buNone/>
            </a:pPr>
            <a:r>
              <a:rPr lang="en-US" sz="1200" dirty="0">
                <a:solidFill>
                  <a:srgbClr val="5B6072"/>
                </a:solidFill>
                <a:latin typeface="Calibri" pitchFamily="34" charset="0"/>
                <a:ea typeface="Calibri" pitchFamily="34" charset="-122"/>
                <a:cs typeface="Calibri" pitchFamily="34" charset="-120"/>
              </a:rPr>
              <a:t>In-depth knowledge reference: what each technology is, why it was chosen, alternatives, limitations, viva-style Q&amp;A.</a:t>
            </a:r>
            <a:endParaRPr lang="en-US" sz="1200" dirty="0"/>
          </a:p>
        </p:txBody>
      </p:sp>
      <p:sp>
        <p:nvSpPr>
          <p:cNvPr id="12" name="Shape 10"/>
          <p:cNvSpPr/>
          <p:nvPr/>
        </p:nvSpPr>
        <p:spPr>
          <a:xfrm>
            <a:off x="8046720" y="1554480"/>
            <a:ext cx="3611880" cy="2377440"/>
          </a:xfrm>
          <a:prstGeom prst="roundRect">
            <a:avLst>
              <a:gd name="adj" fmla="val 2692"/>
            </a:avLst>
          </a:prstGeom>
          <a:solidFill>
            <a:srgbClr val="FFFFFF"/>
          </a:solidFill>
          <a:ln/>
          <a:effectLst>
            <a:outerShdw sx="100000" sy="100000" kx="0" ky="0" algn="bl" rotWithShape="0" blurRad="76200" dist="25400" dir="5400000">
              <a:srgbClr val="9AA3C2">
                <a:alpha val="30000"/>
              </a:srgbClr>
            </a:outerShdw>
          </a:effectLst>
        </p:spPr>
      </p:sp>
      <p:sp>
        <p:nvSpPr>
          <p:cNvPr id="13" name="Text 11"/>
          <p:cNvSpPr txBox="1"/>
          <p:nvPr/>
        </p:nvSpPr>
        <p:spPr>
          <a:xfrm>
            <a:off x="8275320" y="1783080"/>
            <a:ext cx="3154680" cy="457200"/>
          </a:xfrm>
          <a:prstGeom prst="rect">
            <a:avLst/>
          </a:prstGeom>
          <a:noFill/>
          <a:ln/>
        </p:spPr>
        <p:txBody>
          <a:bodyPr wrap="square" lIns="0" tIns="0" rIns="0" bIns="0" rtlCol="0" anchor="ctr"/>
          <a:lstStyle/>
          <a:p>
            <a:pPr indent="0" marL="0">
              <a:buNone/>
            </a:pPr>
            <a:r>
              <a:rPr lang="en-US" sz="1500" b="1" dirty="0">
                <a:solidFill>
                  <a:srgbClr val="6D8DFF"/>
                </a:solidFill>
                <a:latin typeface="Calibri" pitchFamily="34" charset="0"/>
                <a:ea typeface="Calibri" pitchFamily="34" charset="-122"/>
                <a:cs typeface="Calibri" pitchFamily="34" charset="-120"/>
              </a:rPr>
              <a:t>Progress Report (.docx)</a:t>
            </a:r>
            <a:endParaRPr lang="en-US" sz="1500" dirty="0"/>
          </a:p>
        </p:txBody>
      </p:sp>
      <p:sp>
        <p:nvSpPr>
          <p:cNvPr id="14" name="Text 12"/>
          <p:cNvSpPr txBox="1"/>
          <p:nvPr/>
        </p:nvSpPr>
        <p:spPr>
          <a:xfrm>
            <a:off x="8275320" y="2286000"/>
            <a:ext cx="3154680" cy="1463040"/>
          </a:xfrm>
          <a:prstGeom prst="rect">
            <a:avLst/>
          </a:prstGeom>
          <a:noFill/>
          <a:ln/>
        </p:spPr>
        <p:txBody>
          <a:bodyPr wrap="square" lIns="0" tIns="0" rIns="0" bIns="0" rtlCol="0" anchor="ctr"/>
          <a:lstStyle/>
          <a:p>
            <a:pPr indent="0" marL="0">
              <a:buNone/>
            </a:pPr>
            <a:r>
              <a:rPr lang="en-US" sz="1200" dirty="0">
                <a:solidFill>
                  <a:srgbClr val="5B6072"/>
                </a:solidFill>
                <a:latin typeface="Calibri" pitchFamily="34" charset="0"/>
                <a:ea typeface="Calibri" pitchFamily="34" charset="-122"/>
                <a:cs typeface="Calibri" pitchFamily="34" charset="-120"/>
              </a:rPr>
              <a:t>Formal write-up: executive summary, architecture, phase-by-phase status, verification methodology, interim results.</a:t>
            </a:r>
            <a:endParaRPr lang="en-US" sz="1200" dirty="0"/>
          </a:p>
        </p:txBody>
      </p:sp>
      <p:sp>
        <p:nvSpPr>
          <p:cNvPr id="15" name="Shape 13"/>
          <p:cNvSpPr/>
          <p:nvPr/>
        </p:nvSpPr>
        <p:spPr>
          <a:xfrm>
            <a:off x="548640" y="4160520"/>
            <a:ext cx="11064240" cy="640080"/>
          </a:xfrm>
          <a:prstGeom prst="roundRect">
            <a:avLst>
              <a:gd name="adj" fmla="val 8571"/>
            </a:avLst>
          </a:prstGeom>
          <a:solidFill>
            <a:srgbClr val="FFF6E0"/>
          </a:solidFill>
          <a:ln w="12700">
            <a:solidFill>
              <a:srgbClr val="B8860B"/>
            </a:solidFill>
            <a:prstDash val="solid"/>
          </a:ln>
        </p:spPr>
      </p:sp>
      <p:sp>
        <p:nvSpPr>
          <p:cNvPr id="16" name="Text 14"/>
          <p:cNvSpPr txBox="1"/>
          <p:nvPr/>
        </p:nvSpPr>
        <p:spPr>
          <a:xfrm>
            <a:off x="685800" y="4160520"/>
            <a:ext cx="10789920" cy="640080"/>
          </a:xfrm>
          <a:prstGeom prst="rect">
            <a:avLst/>
          </a:prstGeom>
          <a:noFill/>
          <a:ln/>
        </p:spPr>
        <p:txBody>
          <a:bodyPr wrap="square" lIns="0" tIns="0" rIns="0" bIns="0" rtlCol="0" anchor="ctr"/>
          <a:lstStyle/>
          <a:p>
            <a:pPr indent="0" marL="0">
              <a:buNone/>
            </a:pPr>
            <a:r>
              <a:rPr lang="en-US" sz="1150" i="1" dirty="0">
                <a:solidFill>
                  <a:srgbClr val="6B5100"/>
                </a:solidFill>
                <a:latin typeface="Calibri" pitchFamily="34" charset="0"/>
                <a:ea typeface="Calibri" pitchFamily="34" charset="-122"/>
                <a:cs typeface="Calibri" pitchFamily="34" charset="-120"/>
              </a:rPr>
              <a:t>Note: map the above onto your department's required chapter structure (e.g. Ch.1 Intro / Ch.2 Literature / Ch.3 Methodology / Ch.4 Implementation) before submission — confirm the exact template with your guide.</a:t>
            </a:r>
            <a:endParaRPr lang="en-US" sz="1150" dirty="0"/>
          </a:p>
        </p:txBody>
      </p:sp>
      <p:sp>
        <p:nvSpPr>
          <p:cNvPr id="17" name="Text 15"/>
          <p:cNvSpPr txBox="1"/>
          <p:nvPr/>
        </p:nvSpPr>
        <p:spPr>
          <a:xfrm>
            <a:off x="11658600" y="6473952"/>
            <a:ext cx="457200" cy="274320"/>
          </a:xfrm>
          <a:prstGeom prst="rect">
            <a:avLst/>
          </a:prstGeom>
          <a:noFill/>
          <a:ln/>
        </p:spPr>
        <p:txBody>
          <a:bodyPr wrap="square" lIns="0" tIns="0" rIns="0" bIns="0" rtlCol="0" anchor="ctr"/>
          <a:lstStyle/>
          <a:p>
            <a:pPr algn="r" indent="0" marL="0">
              <a:buNone/>
            </a:pPr>
            <a:r>
              <a:rPr lang="en-US" sz="1000" dirty="0">
                <a:solidFill>
                  <a:srgbClr val="5B6072"/>
                </a:solidFill>
                <a:latin typeface="Calibri" pitchFamily="34" charset="0"/>
                <a:ea typeface="Calibri" pitchFamily="34" charset="-122"/>
                <a:cs typeface="Calibri" pitchFamily="34" charset="-120"/>
              </a:rPr>
              <a:t>12</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EEF2FA"/>
        </a:solidFill>
      </p:bgPr>
    </p:bg>
    <p:spTree>
      <p:nvGrpSpPr>
        <p:cNvPr id="1" name=""/>
        <p:cNvGrpSpPr/>
        <p:nvPr/>
      </p:nvGrpSpPr>
      <p:grpSpPr>
        <a:xfrm>
          <a:off x="0" y="0"/>
          <a:ext cx="0" cy="0"/>
          <a:chOff x="0" y="0"/>
          <a:chExt cx="0" cy="0"/>
        </a:xfrm>
      </p:grpSpPr>
      <p:sp>
        <p:nvSpPr>
          <p:cNvPr id="2" name="Text 0"/>
          <p:cNvSpPr txBox="1"/>
          <p:nvPr/>
        </p:nvSpPr>
        <p:spPr>
          <a:xfrm>
            <a:off x="548640" y="320040"/>
            <a:ext cx="7315200" cy="320040"/>
          </a:xfrm>
          <a:prstGeom prst="rect">
            <a:avLst/>
          </a:prstGeom>
          <a:noFill/>
          <a:ln/>
        </p:spPr>
        <p:txBody>
          <a:bodyPr wrap="square" lIns="0" tIns="0" rIns="0" bIns="0" rtlCol="0" anchor="ctr"/>
          <a:lstStyle/>
          <a:p>
            <a:pPr indent="0" marL="0">
              <a:buNone/>
            </a:pPr>
            <a:r>
              <a:rPr lang="en-US" sz="1300" b="1" spc="200" kern="0" dirty="0">
                <a:solidFill>
                  <a:srgbClr val="6D8DFF"/>
                </a:solidFill>
                <a:latin typeface="Calibri" pitchFamily="34" charset="0"/>
                <a:ea typeface="Calibri" pitchFamily="34" charset="-122"/>
                <a:cs typeface="Calibri" pitchFamily="34" charset="-120"/>
              </a:rPr>
              <a:t>SELF-ASSESSMENT</a:t>
            </a:r>
            <a:endParaRPr lang="en-US" sz="1300" dirty="0"/>
          </a:p>
        </p:txBody>
      </p:sp>
      <p:sp>
        <p:nvSpPr>
          <p:cNvPr id="3" name="Text 1"/>
          <p:cNvSpPr txBox="1"/>
          <p:nvPr/>
        </p:nvSpPr>
        <p:spPr>
          <a:xfrm>
            <a:off x="548640" y="621792"/>
            <a:ext cx="10515600" cy="640080"/>
          </a:xfrm>
          <a:prstGeom prst="rect">
            <a:avLst/>
          </a:prstGeom>
          <a:noFill/>
          <a:ln/>
        </p:spPr>
        <p:txBody>
          <a:bodyPr wrap="square" lIns="0" tIns="0" rIns="0" bIns="0" rtlCol="0" anchor="ctr"/>
          <a:lstStyle/>
          <a:p>
            <a:pPr indent="0" marL="0">
              <a:buNone/>
            </a:pPr>
            <a:r>
              <a:rPr lang="en-US" sz="3000" b="1" dirty="0">
                <a:solidFill>
                  <a:srgbClr val="1A1D29"/>
                </a:solidFill>
                <a:latin typeface="Cambria" pitchFamily="34" charset="0"/>
                <a:ea typeface="Cambria" pitchFamily="34" charset="-122"/>
                <a:cs typeface="Cambria" pitchFamily="34" charset="-120"/>
              </a:rPr>
              <a:t>Known Limitations</a:t>
            </a:r>
            <a:endParaRPr lang="en-US" sz="3000" dirty="0"/>
          </a:p>
        </p:txBody>
      </p:sp>
      <p:sp>
        <p:nvSpPr>
          <p:cNvPr id="4" name="Shape 2"/>
          <p:cNvSpPr/>
          <p:nvPr/>
        </p:nvSpPr>
        <p:spPr>
          <a:xfrm>
            <a:off x="548640" y="1673352"/>
            <a:ext cx="128016" cy="128016"/>
          </a:xfrm>
          <a:prstGeom prst="ellipse">
            <a:avLst/>
          </a:prstGeom>
          <a:solidFill>
            <a:srgbClr val="B8860B"/>
          </a:solidFill>
          <a:ln/>
        </p:spPr>
      </p:sp>
      <p:sp>
        <p:nvSpPr>
          <p:cNvPr id="5" name="Text 3"/>
          <p:cNvSpPr txBox="1"/>
          <p:nvPr/>
        </p:nvSpPr>
        <p:spPr>
          <a:xfrm>
            <a:off x="868680" y="1600200"/>
            <a:ext cx="10607040" cy="548640"/>
          </a:xfrm>
          <a:prstGeom prst="rect">
            <a:avLst/>
          </a:prstGeom>
          <a:noFill/>
          <a:ln/>
        </p:spPr>
        <p:txBody>
          <a:bodyPr wrap="square" lIns="0" tIns="0" rIns="0" bIns="0" rtlCol="0" anchor="ctr"/>
          <a:lstStyle/>
          <a:p>
            <a:pPr indent="0" marL="0">
              <a:buNone/>
            </a:pPr>
            <a:r>
              <a:rPr lang="en-US" sz="1400" dirty="0">
                <a:solidFill>
                  <a:srgbClr val="1A1D29"/>
                </a:solidFill>
                <a:latin typeface="Calibri" pitchFamily="34" charset="0"/>
                <a:ea typeface="Calibri" pitchFamily="34" charset="-122"/>
                <a:cs typeface="Calibri" pitchFamily="34" charset="-120"/>
              </a:rPr>
              <a:t>No conversation memory — each question is answered independently (by design, out of current scope)</a:t>
            </a:r>
            <a:endParaRPr lang="en-US" sz="1400" dirty="0"/>
          </a:p>
        </p:txBody>
      </p:sp>
      <p:sp>
        <p:nvSpPr>
          <p:cNvPr id="6" name="Shape 4"/>
          <p:cNvSpPr/>
          <p:nvPr/>
        </p:nvSpPr>
        <p:spPr>
          <a:xfrm>
            <a:off x="548640" y="2295144"/>
            <a:ext cx="128016" cy="128016"/>
          </a:xfrm>
          <a:prstGeom prst="ellipse">
            <a:avLst/>
          </a:prstGeom>
          <a:solidFill>
            <a:srgbClr val="B8860B"/>
          </a:solidFill>
          <a:ln/>
        </p:spPr>
      </p:sp>
      <p:sp>
        <p:nvSpPr>
          <p:cNvPr id="7" name="Text 5"/>
          <p:cNvSpPr txBox="1"/>
          <p:nvPr/>
        </p:nvSpPr>
        <p:spPr>
          <a:xfrm>
            <a:off x="868680" y="2221992"/>
            <a:ext cx="10607040" cy="548640"/>
          </a:xfrm>
          <a:prstGeom prst="rect">
            <a:avLst/>
          </a:prstGeom>
          <a:noFill/>
          <a:ln/>
        </p:spPr>
        <p:txBody>
          <a:bodyPr wrap="square" lIns="0" tIns="0" rIns="0" bIns="0" rtlCol="0" anchor="ctr"/>
          <a:lstStyle/>
          <a:p>
            <a:pPr indent="0" marL="0">
              <a:buNone/>
            </a:pPr>
            <a:r>
              <a:rPr lang="en-US" sz="1400" dirty="0">
                <a:solidFill>
                  <a:srgbClr val="1A1D29"/>
                </a:solidFill>
                <a:latin typeface="Calibri" pitchFamily="34" charset="0"/>
                <a:ea typeface="Calibri" pitchFamily="34" charset="-122"/>
                <a:cs typeface="Calibri" pitchFamily="34" charset="-120"/>
              </a:rPr>
              <a:t>Segment-level, not word-level, timestamps — accurate to a few seconds</a:t>
            </a:r>
            <a:endParaRPr lang="en-US" sz="1400" dirty="0"/>
          </a:p>
        </p:txBody>
      </p:sp>
      <p:sp>
        <p:nvSpPr>
          <p:cNvPr id="8" name="Shape 6"/>
          <p:cNvSpPr/>
          <p:nvPr/>
        </p:nvSpPr>
        <p:spPr>
          <a:xfrm>
            <a:off x="548640" y="2916936"/>
            <a:ext cx="128016" cy="128016"/>
          </a:xfrm>
          <a:prstGeom prst="ellipse">
            <a:avLst/>
          </a:prstGeom>
          <a:solidFill>
            <a:srgbClr val="B8860B"/>
          </a:solidFill>
          <a:ln/>
        </p:spPr>
      </p:sp>
      <p:sp>
        <p:nvSpPr>
          <p:cNvPr id="9" name="Text 7"/>
          <p:cNvSpPr txBox="1"/>
          <p:nvPr/>
        </p:nvSpPr>
        <p:spPr>
          <a:xfrm>
            <a:off x="868680" y="2843784"/>
            <a:ext cx="10607040" cy="548640"/>
          </a:xfrm>
          <a:prstGeom prst="rect">
            <a:avLst/>
          </a:prstGeom>
          <a:noFill/>
          <a:ln/>
        </p:spPr>
        <p:txBody>
          <a:bodyPr wrap="square" lIns="0" tIns="0" rIns="0" bIns="0" rtlCol="0" anchor="ctr"/>
          <a:lstStyle/>
          <a:p>
            <a:pPr indent="0" marL="0">
              <a:buNone/>
            </a:pPr>
            <a:r>
              <a:rPr lang="en-US" sz="1400" dirty="0">
                <a:solidFill>
                  <a:srgbClr val="1A1D29"/>
                </a:solidFill>
                <a:latin typeface="Calibri" pitchFamily="34" charset="0"/>
                <a:ea typeface="Calibri" pitchFamily="34" charset="-122"/>
                <a:cs typeface="Calibri" pitchFamily="34" charset="-120"/>
              </a:rPr>
              <a:t>No speaker diarization — knows what was said and when, not who said it</a:t>
            </a:r>
            <a:endParaRPr lang="en-US" sz="1400" dirty="0"/>
          </a:p>
        </p:txBody>
      </p:sp>
      <p:sp>
        <p:nvSpPr>
          <p:cNvPr id="10" name="Shape 8"/>
          <p:cNvSpPr/>
          <p:nvPr/>
        </p:nvSpPr>
        <p:spPr>
          <a:xfrm>
            <a:off x="548640" y="3538728"/>
            <a:ext cx="128016" cy="128016"/>
          </a:xfrm>
          <a:prstGeom prst="ellipse">
            <a:avLst/>
          </a:prstGeom>
          <a:solidFill>
            <a:srgbClr val="B8860B"/>
          </a:solidFill>
          <a:ln/>
        </p:spPr>
      </p:sp>
      <p:sp>
        <p:nvSpPr>
          <p:cNvPr id="11" name="Text 9"/>
          <p:cNvSpPr txBox="1"/>
          <p:nvPr/>
        </p:nvSpPr>
        <p:spPr>
          <a:xfrm>
            <a:off x="868680" y="3465576"/>
            <a:ext cx="10607040" cy="548640"/>
          </a:xfrm>
          <a:prstGeom prst="rect">
            <a:avLst/>
          </a:prstGeom>
          <a:noFill/>
          <a:ln/>
        </p:spPr>
        <p:txBody>
          <a:bodyPr wrap="square" lIns="0" tIns="0" rIns="0" bIns="0" rtlCol="0" anchor="ctr"/>
          <a:lstStyle/>
          <a:p>
            <a:pPr indent="0" marL="0">
              <a:buNone/>
            </a:pPr>
            <a:r>
              <a:rPr lang="en-US" sz="1400" dirty="0">
                <a:solidFill>
                  <a:srgbClr val="1A1D29"/>
                </a:solidFill>
                <a:latin typeface="Calibri" pitchFamily="34" charset="0"/>
                <a:ea typeface="Calibri" pitchFamily="34" charset="-122"/>
                <a:cs typeface="Calibri" pitchFamily="34" charset="-120"/>
              </a:rPr>
              <a:t>Local 3B-parameter LLM has a real quality ceiling vs. a larger hosted model</a:t>
            </a:r>
            <a:endParaRPr lang="en-US" sz="1400" dirty="0"/>
          </a:p>
        </p:txBody>
      </p:sp>
      <p:sp>
        <p:nvSpPr>
          <p:cNvPr id="12" name="Shape 10"/>
          <p:cNvSpPr/>
          <p:nvPr/>
        </p:nvSpPr>
        <p:spPr>
          <a:xfrm>
            <a:off x="548640" y="4160520"/>
            <a:ext cx="128016" cy="128016"/>
          </a:xfrm>
          <a:prstGeom prst="ellipse">
            <a:avLst/>
          </a:prstGeom>
          <a:solidFill>
            <a:srgbClr val="B8860B"/>
          </a:solidFill>
          <a:ln/>
        </p:spPr>
      </p:sp>
      <p:sp>
        <p:nvSpPr>
          <p:cNvPr id="13" name="Text 11"/>
          <p:cNvSpPr txBox="1"/>
          <p:nvPr/>
        </p:nvSpPr>
        <p:spPr>
          <a:xfrm>
            <a:off x="868680" y="4087368"/>
            <a:ext cx="10607040" cy="548640"/>
          </a:xfrm>
          <a:prstGeom prst="rect">
            <a:avLst/>
          </a:prstGeom>
          <a:noFill/>
          <a:ln/>
        </p:spPr>
        <p:txBody>
          <a:bodyPr wrap="square" lIns="0" tIns="0" rIns="0" bIns="0" rtlCol="0" anchor="ctr"/>
          <a:lstStyle/>
          <a:p>
            <a:pPr indent="0" marL="0">
              <a:buNone/>
            </a:pPr>
            <a:r>
              <a:rPr lang="en-US" sz="1400" dirty="0">
                <a:solidFill>
                  <a:srgbClr val="1A1D29"/>
                </a:solidFill>
                <a:latin typeface="Calibri" pitchFamily="34" charset="0"/>
                <a:ea typeface="Calibri" pitchFamily="34" charset="-122"/>
                <a:cs typeface="Calibri" pitchFamily="34" charset="-120"/>
              </a:rPr>
              <a:t>Text and visual similarity scores are on different numeric scales — fusion normalization planned, not yet implemented</a:t>
            </a:r>
            <a:endParaRPr lang="en-US" sz="1400" dirty="0"/>
          </a:p>
        </p:txBody>
      </p:sp>
      <p:sp>
        <p:nvSpPr>
          <p:cNvPr id="14" name="Shape 12"/>
          <p:cNvSpPr/>
          <p:nvPr/>
        </p:nvSpPr>
        <p:spPr>
          <a:xfrm>
            <a:off x="548640" y="4782312"/>
            <a:ext cx="128016" cy="128016"/>
          </a:xfrm>
          <a:prstGeom prst="ellipse">
            <a:avLst/>
          </a:prstGeom>
          <a:solidFill>
            <a:srgbClr val="B8860B"/>
          </a:solidFill>
          <a:ln/>
        </p:spPr>
      </p:sp>
      <p:sp>
        <p:nvSpPr>
          <p:cNvPr id="15" name="Text 13"/>
          <p:cNvSpPr txBox="1"/>
          <p:nvPr/>
        </p:nvSpPr>
        <p:spPr>
          <a:xfrm>
            <a:off x="868680" y="4709160"/>
            <a:ext cx="10607040" cy="548640"/>
          </a:xfrm>
          <a:prstGeom prst="rect">
            <a:avLst/>
          </a:prstGeom>
          <a:noFill/>
          <a:ln/>
        </p:spPr>
        <p:txBody>
          <a:bodyPr wrap="square" lIns="0" tIns="0" rIns="0" bIns="0" rtlCol="0" anchor="ctr"/>
          <a:lstStyle/>
          <a:p>
            <a:pPr indent="0" marL="0">
              <a:buNone/>
            </a:pPr>
            <a:r>
              <a:rPr lang="en-US" sz="1400" dirty="0">
                <a:solidFill>
                  <a:srgbClr val="1A1D29"/>
                </a:solidFill>
                <a:latin typeface="Calibri" pitchFamily="34" charset="0"/>
                <a:ea typeface="Calibri" pitchFamily="34" charset="-122"/>
                <a:cs typeface="Calibri" pitchFamily="34" charset="-120"/>
              </a:rPr>
              <a:t>No formal evaluation dataset yet (Precision@K, WER) — targeted testing only so far</a:t>
            </a:r>
            <a:endParaRPr lang="en-US" sz="1400" dirty="0"/>
          </a:p>
        </p:txBody>
      </p:sp>
      <p:sp>
        <p:nvSpPr>
          <p:cNvPr id="16" name="Text 14"/>
          <p:cNvSpPr txBox="1"/>
          <p:nvPr/>
        </p:nvSpPr>
        <p:spPr>
          <a:xfrm>
            <a:off x="11658600" y="6473952"/>
            <a:ext cx="457200" cy="274320"/>
          </a:xfrm>
          <a:prstGeom prst="rect">
            <a:avLst/>
          </a:prstGeom>
          <a:noFill/>
          <a:ln/>
        </p:spPr>
        <p:txBody>
          <a:bodyPr wrap="square" lIns="0" tIns="0" rIns="0" bIns="0" rtlCol="0" anchor="ctr"/>
          <a:lstStyle/>
          <a:p>
            <a:pPr algn="r" indent="0" marL="0">
              <a:buNone/>
            </a:pPr>
            <a:r>
              <a:rPr lang="en-US" sz="1000" dirty="0">
                <a:solidFill>
                  <a:srgbClr val="5B6072"/>
                </a:solidFill>
                <a:latin typeface="Calibri" pitchFamily="34" charset="0"/>
                <a:ea typeface="Calibri" pitchFamily="34" charset="-122"/>
                <a:cs typeface="Calibri" pitchFamily="34" charset="-120"/>
              </a:rPr>
              <a:t>13</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EEF2FA"/>
        </a:solidFill>
      </p:bgPr>
    </p:bg>
    <p:spTree>
      <p:nvGrpSpPr>
        <p:cNvPr id="1" name=""/>
        <p:cNvGrpSpPr/>
        <p:nvPr/>
      </p:nvGrpSpPr>
      <p:grpSpPr>
        <a:xfrm>
          <a:off x="0" y="0"/>
          <a:ext cx="0" cy="0"/>
          <a:chOff x="0" y="0"/>
          <a:chExt cx="0" cy="0"/>
        </a:xfrm>
      </p:grpSpPr>
      <p:sp>
        <p:nvSpPr>
          <p:cNvPr id="2" name="Shape 0"/>
          <p:cNvSpPr/>
          <p:nvPr/>
        </p:nvSpPr>
        <p:spPr>
          <a:xfrm>
            <a:off x="8869680" y="320040"/>
            <a:ext cx="2788920" cy="384048"/>
          </a:xfrm>
          <a:prstGeom prst="roundRect">
            <a:avLst>
              <a:gd name="adj" fmla="val 19048"/>
            </a:avLst>
          </a:prstGeom>
          <a:solidFill>
            <a:srgbClr val="12163A"/>
          </a:solidFill>
          <a:ln/>
        </p:spPr>
      </p:sp>
      <p:sp>
        <p:nvSpPr>
          <p:cNvPr id="3" name="Text 1"/>
          <p:cNvSpPr txBox="1"/>
          <p:nvPr/>
        </p:nvSpPr>
        <p:spPr>
          <a:xfrm>
            <a:off x="8869680" y="320040"/>
            <a:ext cx="2788920"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CRITERION 7 · 3 MARKS</a:t>
            </a:r>
            <a:endParaRPr lang="en-US" sz="1100" dirty="0"/>
          </a:p>
        </p:txBody>
      </p:sp>
      <p:sp>
        <p:nvSpPr>
          <p:cNvPr id="4" name="Text 2"/>
          <p:cNvSpPr txBox="1"/>
          <p:nvPr/>
        </p:nvSpPr>
        <p:spPr>
          <a:xfrm>
            <a:off x="548640" y="320040"/>
            <a:ext cx="7315200" cy="320040"/>
          </a:xfrm>
          <a:prstGeom prst="rect">
            <a:avLst/>
          </a:prstGeom>
          <a:noFill/>
          <a:ln/>
        </p:spPr>
        <p:txBody>
          <a:bodyPr wrap="square" lIns="0" tIns="0" rIns="0" bIns="0" rtlCol="0" anchor="ctr"/>
          <a:lstStyle/>
          <a:p>
            <a:pPr indent="0" marL="0">
              <a:buNone/>
            </a:pPr>
            <a:r>
              <a:rPr lang="en-US" sz="1300" b="1" spc="200" kern="0" dirty="0">
                <a:solidFill>
                  <a:srgbClr val="6D8DFF"/>
                </a:solidFill>
                <a:latin typeface="Calibri" pitchFamily="34" charset="0"/>
                <a:ea typeface="Calibri" pitchFamily="34" charset="-122"/>
                <a:cs typeface="Calibri" pitchFamily="34" charset="-120"/>
              </a:rPr>
              <a:t>REMAINING ROADMAP</a:t>
            </a:r>
            <a:endParaRPr lang="en-US" sz="1300" dirty="0"/>
          </a:p>
        </p:txBody>
      </p:sp>
      <p:sp>
        <p:nvSpPr>
          <p:cNvPr id="5" name="Text 3"/>
          <p:cNvSpPr txBox="1"/>
          <p:nvPr/>
        </p:nvSpPr>
        <p:spPr>
          <a:xfrm>
            <a:off x="548640" y="621792"/>
            <a:ext cx="10515600" cy="640080"/>
          </a:xfrm>
          <a:prstGeom prst="rect">
            <a:avLst/>
          </a:prstGeom>
          <a:noFill/>
          <a:ln/>
        </p:spPr>
        <p:txBody>
          <a:bodyPr wrap="square" lIns="0" tIns="0" rIns="0" bIns="0" rtlCol="0" anchor="ctr"/>
          <a:lstStyle/>
          <a:p>
            <a:pPr indent="0" marL="0">
              <a:buNone/>
            </a:pPr>
            <a:r>
              <a:rPr lang="en-US" sz="3000" b="1" dirty="0">
                <a:solidFill>
                  <a:srgbClr val="1A1D29"/>
                </a:solidFill>
                <a:latin typeface="Cambria" pitchFamily="34" charset="0"/>
                <a:ea typeface="Cambria" pitchFamily="34" charset="-122"/>
                <a:cs typeface="Cambria" pitchFamily="34" charset="-120"/>
              </a:rPr>
              <a:t>Next Steps</a:t>
            </a:r>
            <a:endParaRPr lang="en-US" sz="3000" dirty="0"/>
          </a:p>
        </p:txBody>
      </p:sp>
      <p:sp>
        <p:nvSpPr>
          <p:cNvPr id="6" name="Shape 4"/>
          <p:cNvSpPr/>
          <p:nvPr/>
        </p:nvSpPr>
        <p:spPr>
          <a:xfrm>
            <a:off x="548640" y="1600200"/>
            <a:ext cx="1371600" cy="594360"/>
          </a:xfrm>
          <a:prstGeom prst="roundRect">
            <a:avLst>
              <a:gd name="adj" fmla="val 9231"/>
            </a:avLst>
          </a:prstGeom>
          <a:solidFill>
            <a:srgbClr val="12163A"/>
          </a:solidFill>
          <a:ln/>
        </p:spPr>
      </p:sp>
      <p:sp>
        <p:nvSpPr>
          <p:cNvPr id="7" name="Text 5"/>
          <p:cNvSpPr txBox="1"/>
          <p:nvPr/>
        </p:nvSpPr>
        <p:spPr>
          <a:xfrm>
            <a:off x="548640" y="1600200"/>
            <a:ext cx="1371600" cy="5943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Phase 6</a:t>
            </a:r>
            <a:endParaRPr lang="en-US" sz="1300" dirty="0"/>
          </a:p>
        </p:txBody>
      </p:sp>
      <p:sp>
        <p:nvSpPr>
          <p:cNvPr id="8" name="Shape 6"/>
          <p:cNvSpPr/>
          <p:nvPr/>
        </p:nvSpPr>
        <p:spPr>
          <a:xfrm>
            <a:off x="2057400" y="1600200"/>
            <a:ext cx="9555480" cy="594360"/>
          </a:xfrm>
          <a:prstGeom prst="roundRect">
            <a:avLst>
              <a:gd name="adj" fmla="val 10769"/>
            </a:avLst>
          </a:prstGeom>
          <a:solidFill>
            <a:srgbClr val="FFFFFF"/>
          </a:solidFill>
          <a:ln/>
          <a:effectLst>
            <a:outerShdw sx="100000" sy="100000" kx="0" ky="0" algn="bl" rotWithShape="0" blurRad="76200" dist="25400" dir="5400000">
              <a:srgbClr val="9AA3C2">
                <a:alpha val="30000"/>
              </a:srgbClr>
            </a:outerShdw>
          </a:effectLst>
        </p:spPr>
      </p:sp>
      <p:sp>
        <p:nvSpPr>
          <p:cNvPr id="9" name="Text 7"/>
          <p:cNvSpPr txBox="1"/>
          <p:nvPr/>
        </p:nvSpPr>
        <p:spPr>
          <a:xfrm>
            <a:off x="2286000" y="1600200"/>
            <a:ext cx="9144000" cy="594360"/>
          </a:xfrm>
          <a:prstGeom prst="rect">
            <a:avLst/>
          </a:prstGeom>
          <a:noFill/>
          <a:ln/>
        </p:spPr>
        <p:txBody>
          <a:bodyPr wrap="square" lIns="0" tIns="0" rIns="0" bIns="0" rtlCol="0" anchor="ctr"/>
          <a:lstStyle/>
          <a:p>
            <a:pPr indent="0" marL="0">
              <a:buNone/>
            </a:pPr>
            <a:r>
              <a:rPr lang="en-US" sz="1350" dirty="0">
                <a:solidFill>
                  <a:srgbClr val="1A1D29"/>
                </a:solidFill>
                <a:latin typeface="Calibri" pitchFamily="34" charset="0"/>
                <a:ea typeface="Calibri" pitchFamily="34" charset="-122"/>
                <a:cs typeface="Calibri" pitchFamily="34" charset="-120"/>
              </a:rPr>
              <a:t>Fuse text + visual retrieval into one ranked, weighted list of evidence</a:t>
            </a:r>
            <a:endParaRPr lang="en-US" sz="1350" dirty="0"/>
          </a:p>
        </p:txBody>
      </p:sp>
      <p:sp>
        <p:nvSpPr>
          <p:cNvPr id="10" name="Shape 8"/>
          <p:cNvSpPr/>
          <p:nvPr/>
        </p:nvSpPr>
        <p:spPr>
          <a:xfrm>
            <a:off x="548640" y="2377440"/>
            <a:ext cx="1371600" cy="594360"/>
          </a:xfrm>
          <a:prstGeom prst="roundRect">
            <a:avLst>
              <a:gd name="adj" fmla="val 9231"/>
            </a:avLst>
          </a:prstGeom>
          <a:solidFill>
            <a:srgbClr val="12163A"/>
          </a:solidFill>
          <a:ln/>
        </p:spPr>
      </p:sp>
      <p:sp>
        <p:nvSpPr>
          <p:cNvPr id="11" name="Text 9"/>
          <p:cNvSpPr txBox="1"/>
          <p:nvPr/>
        </p:nvSpPr>
        <p:spPr>
          <a:xfrm>
            <a:off x="548640" y="2377440"/>
            <a:ext cx="1371600" cy="5943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Phase 7</a:t>
            </a:r>
            <a:endParaRPr lang="en-US" sz="1300" dirty="0"/>
          </a:p>
        </p:txBody>
      </p:sp>
      <p:sp>
        <p:nvSpPr>
          <p:cNvPr id="12" name="Shape 10"/>
          <p:cNvSpPr/>
          <p:nvPr/>
        </p:nvSpPr>
        <p:spPr>
          <a:xfrm>
            <a:off x="2057400" y="2377440"/>
            <a:ext cx="9555480" cy="594360"/>
          </a:xfrm>
          <a:prstGeom prst="roundRect">
            <a:avLst>
              <a:gd name="adj" fmla="val 10769"/>
            </a:avLst>
          </a:prstGeom>
          <a:solidFill>
            <a:srgbClr val="FFFFFF"/>
          </a:solidFill>
          <a:ln/>
          <a:effectLst>
            <a:outerShdw sx="100000" sy="100000" kx="0" ky="0" algn="bl" rotWithShape="0" blurRad="76200" dist="25400" dir="5400000">
              <a:srgbClr val="9AA3C2">
                <a:alpha val="30000"/>
              </a:srgbClr>
            </a:outerShdw>
          </a:effectLst>
        </p:spPr>
      </p:sp>
      <p:sp>
        <p:nvSpPr>
          <p:cNvPr id="13" name="Text 11"/>
          <p:cNvSpPr txBox="1"/>
          <p:nvPr/>
        </p:nvSpPr>
        <p:spPr>
          <a:xfrm>
            <a:off x="2286000" y="2377440"/>
            <a:ext cx="9144000" cy="594360"/>
          </a:xfrm>
          <a:prstGeom prst="rect">
            <a:avLst/>
          </a:prstGeom>
          <a:noFill/>
          <a:ln/>
        </p:spPr>
        <p:txBody>
          <a:bodyPr wrap="square" lIns="0" tIns="0" rIns="0" bIns="0" rtlCol="0" anchor="ctr"/>
          <a:lstStyle/>
          <a:p>
            <a:pPr indent="0" marL="0">
              <a:buNone/>
            </a:pPr>
            <a:r>
              <a:rPr lang="en-US" sz="1350" dirty="0">
                <a:solidFill>
                  <a:srgbClr val="1A1D29"/>
                </a:solidFill>
                <a:latin typeface="Calibri" pitchFamily="34" charset="0"/>
                <a:ea typeface="Calibri" pitchFamily="34" charset="-122"/>
                <a:cs typeface="Calibri" pitchFamily="34" charset="-120"/>
              </a:rPr>
              <a:t>Surface fused, timestamp-aware evidence directly in the chat UI</a:t>
            </a:r>
            <a:endParaRPr lang="en-US" sz="1350" dirty="0"/>
          </a:p>
        </p:txBody>
      </p:sp>
      <p:sp>
        <p:nvSpPr>
          <p:cNvPr id="14" name="Shape 12"/>
          <p:cNvSpPr/>
          <p:nvPr/>
        </p:nvSpPr>
        <p:spPr>
          <a:xfrm>
            <a:off x="548640" y="3154680"/>
            <a:ext cx="1371600" cy="594360"/>
          </a:xfrm>
          <a:prstGeom prst="roundRect">
            <a:avLst>
              <a:gd name="adj" fmla="val 9231"/>
            </a:avLst>
          </a:prstGeom>
          <a:solidFill>
            <a:srgbClr val="12163A"/>
          </a:solidFill>
          <a:ln/>
        </p:spPr>
      </p:sp>
      <p:sp>
        <p:nvSpPr>
          <p:cNvPr id="15" name="Text 13"/>
          <p:cNvSpPr txBox="1"/>
          <p:nvPr/>
        </p:nvSpPr>
        <p:spPr>
          <a:xfrm>
            <a:off x="548640" y="3154680"/>
            <a:ext cx="1371600" cy="5943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Phase 9</a:t>
            </a:r>
            <a:endParaRPr lang="en-US" sz="1300" dirty="0"/>
          </a:p>
        </p:txBody>
      </p:sp>
      <p:sp>
        <p:nvSpPr>
          <p:cNvPr id="16" name="Shape 14"/>
          <p:cNvSpPr/>
          <p:nvPr/>
        </p:nvSpPr>
        <p:spPr>
          <a:xfrm>
            <a:off x="2057400" y="3154680"/>
            <a:ext cx="9555480" cy="594360"/>
          </a:xfrm>
          <a:prstGeom prst="roundRect">
            <a:avLst>
              <a:gd name="adj" fmla="val 10769"/>
            </a:avLst>
          </a:prstGeom>
          <a:solidFill>
            <a:srgbClr val="FFFFFF"/>
          </a:solidFill>
          <a:ln/>
          <a:effectLst>
            <a:outerShdw sx="100000" sy="100000" kx="0" ky="0" algn="bl" rotWithShape="0" blurRad="76200" dist="25400" dir="5400000">
              <a:srgbClr val="9AA3C2">
                <a:alpha val="30000"/>
              </a:srgbClr>
            </a:outerShdw>
          </a:effectLst>
        </p:spPr>
      </p:sp>
      <p:sp>
        <p:nvSpPr>
          <p:cNvPr id="17" name="Text 15"/>
          <p:cNvSpPr txBox="1"/>
          <p:nvPr/>
        </p:nvSpPr>
        <p:spPr>
          <a:xfrm>
            <a:off x="2286000" y="3154680"/>
            <a:ext cx="9144000" cy="594360"/>
          </a:xfrm>
          <a:prstGeom prst="rect">
            <a:avLst/>
          </a:prstGeom>
          <a:noFill/>
          <a:ln/>
        </p:spPr>
        <p:txBody>
          <a:bodyPr wrap="square" lIns="0" tIns="0" rIns="0" bIns="0" rtlCol="0" anchor="ctr"/>
          <a:lstStyle/>
          <a:p>
            <a:pPr indent="0" marL="0">
              <a:buNone/>
            </a:pPr>
            <a:r>
              <a:rPr lang="en-US" sz="1350" dirty="0">
                <a:solidFill>
                  <a:srgbClr val="1A1D29"/>
                </a:solidFill>
                <a:latin typeface="Calibri" pitchFamily="34" charset="0"/>
                <a:ea typeface="Calibri" pitchFamily="34" charset="-122"/>
                <a:cs typeface="Calibri" pitchFamily="34" charset="-120"/>
              </a:rPr>
              <a:t>Move to PostgreSQL + background job processing for longer videos</a:t>
            </a:r>
            <a:endParaRPr lang="en-US" sz="1350" dirty="0"/>
          </a:p>
        </p:txBody>
      </p:sp>
      <p:sp>
        <p:nvSpPr>
          <p:cNvPr id="18" name="Shape 16"/>
          <p:cNvSpPr/>
          <p:nvPr/>
        </p:nvSpPr>
        <p:spPr>
          <a:xfrm>
            <a:off x="548640" y="3931920"/>
            <a:ext cx="1371600" cy="594360"/>
          </a:xfrm>
          <a:prstGeom prst="roundRect">
            <a:avLst>
              <a:gd name="adj" fmla="val 9231"/>
            </a:avLst>
          </a:prstGeom>
          <a:solidFill>
            <a:srgbClr val="12163A"/>
          </a:solidFill>
          <a:ln/>
        </p:spPr>
      </p:sp>
      <p:sp>
        <p:nvSpPr>
          <p:cNvPr id="19" name="Text 17"/>
          <p:cNvSpPr txBox="1"/>
          <p:nvPr/>
        </p:nvSpPr>
        <p:spPr>
          <a:xfrm>
            <a:off x="548640" y="3931920"/>
            <a:ext cx="1371600" cy="5943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Phase 10</a:t>
            </a:r>
            <a:endParaRPr lang="en-US" sz="1300" dirty="0"/>
          </a:p>
        </p:txBody>
      </p:sp>
      <p:sp>
        <p:nvSpPr>
          <p:cNvPr id="20" name="Shape 18"/>
          <p:cNvSpPr/>
          <p:nvPr/>
        </p:nvSpPr>
        <p:spPr>
          <a:xfrm>
            <a:off x="2057400" y="3931920"/>
            <a:ext cx="9555480" cy="594360"/>
          </a:xfrm>
          <a:prstGeom prst="roundRect">
            <a:avLst>
              <a:gd name="adj" fmla="val 10769"/>
            </a:avLst>
          </a:prstGeom>
          <a:solidFill>
            <a:srgbClr val="FFFFFF"/>
          </a:solidFill>
          <a:ln/>
          <a:effectLst>
            <a:outerShdw sx="100000" sy="100000" kx="0" ky="0" algn="bl" rotWithShape="0" blurRad="76200" dist="25400" dir="5400000">
              <a:srgbClr val="9AA3C2">
                <a:alpha val="30000"/>
              </a:srgbClr>
            </a:outerShdw>
          </a:effectLst>
        </p:spPr>
      </p:sp>
      <p:sp>
        <p:nvSpPr>
          <p:cNvPr id="21" name="Text 19"/>
          <p:cNvSpPr txBox="1"/>
          <p:nvPr/>
        </p:nvSpPr>
        <p:spPr>
          <a:xfrm>
            <a:off x="2286000" y="3931920"/>
            <a:ext cx="9144000" cy="594360"/>
          </a:xfrm>
          <a:prstGeom prst="rect">
            <a:avLst/>
          </a:prstGeom>
          <a:noFill/>
          <a:ln/>
        </p:spPr>
        <p:txBody>
          <a:bodyPr wrap="square" lIns="0" tIns="0" rIns="0" bIns="0" rtlCol="0" anchor="ctr"/>
          <a:lstStyle/>
          <a:p>
            <a:pPr indent="0" marL="0">
              <a:buNone/>
            </a:pPr>
            <a:r>
              <a:rPr lang="en-US" sz="1350" dirty="0">
                <a:solidFill>
                  <a:srgbClr val="1A1D29"/>
                </a:solidFill>
                <a:latin typeface="Calibri" pitchFamily="34" charset="0"/>
                <a:ea typeface="Calibri" pitchFamily="34" charset="-122"/>
                <a:cs typeface="Calibri" pitchFamily="34" charset="-120"/>
              </a:rPr>
              <a:t>Build a labeled evaluation set; report Precision@K / Recall@K / WER</a:t>
            </a:r>
            <a:endParaRPr lang="en-US" sz="1350" dirty="0"/>
          </a:p>
        </p:txBody>
      </p:sp>
      <p:sp>
        <p:nvSpPr>
          <p:cNvPr id="22" name="Shape 20"/>
          <p:cNvSpPr/>
          <p:nvPr/>
        </p:nvSpPr>
        <p:spPr>
          <a:xfrm>
            <a:off x="548640" y="4709160"/>
            <a:ext cx="1371600" cy="594360"/>
          </a:xfrm>
          <a:prstGeom prst="roundRect">
            <a:avLst>
              <a:gd name="adj" fmla="val 9231"/>
            </a:avLst>
          </a:prstGeom>
          <a:solidFill>
            <a:srgbClr val="12163A"/>
          </a:solidFill>
          <a:ln/>
        </p:spPr>
      </p:sp>
      <p:sp>
        <p:nvSpPr>
          <p:cNvPr id="23" name="Text 21"/>
          <p:cNvSpPr txBox="1"/>
          <p:nvPr/>
        </p:nvSpPr>
        <p:spPr>
          <a:xfrm>
            <a:off x="548640" y="4709160"/>
            <a:ext cx="1371600" cy="5943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Phase 12</a:t>
            </a:r>
            <a:endParaRPr lang="en-US" sz="1300" dirty="0"/>
          </a:p>
        </p:txBody>
      </p:sp>
      <p:sp>
        <p:nvSpPr>
          <p:cNvPr id="24" name="Shape 22"/>
          <p:cNvSpPr/>
          <p:nvPr/>
        </p:nvSpPr>
        <p:spPr>
          <a:xfrm>
            <a:off x="2057400" y="4709160"/>
            <a:ext cx="9555480" cy="594360"/>
          </a:xfrm>
          <a:prstGeom prst="roundRect">
            <a:avLst>
              <a:gd name="adj" fmla="val 10769"/>
            </a:avLst>
          </a:prstGeom>
          <a:solidFill>
            <a:srgbClr val="FFFFFF"/>
          </a:solidFill>
          <a:ln/>
          <a:effectLst>
            <a:outerShdw sx="100000" sy="100000" kx="0" ky="0" algn="bl" rotWithShape="0" blurRad="76200" dist="25400" dir="5400000">
              <a:srgbClr val="9AA3C2">
                <a:alpha val="30000"/>
              </a:srgbClr>
            </a:outerShdw>
          </a:effectLst>
        </p:spPr>
      </p:sp>
      <p:sp>
        <p:nvSpPr>
          <p:cNvPr id="25" name="Text 23"/>
          <p:cNvSpPr txBox="1"/>
          <p:nvPr/>
        </p:nvSpPr>
        <p:spPr>
          <a:xfrm>
            <a:off x="2286000" y="4709160"/>
            <a:ext cx="9144000" cy="594360"/>
          </a:xfrm>
          <a:prstGeom prst="rect">
            <a:avLst/>
          </a:prstGeom>
          <a:noFill/>
          <a:ln/>
        </p:spPr>
        <p:txBody>
          <a:bodyPr wrap="square" lIns="0" tIns="0" rIns="0" bIns="0" rtlCol="0" anchor="ctr"/>
          <a:lstStyle/>
          <a:p>
            <a:pPr indent="0" marL="0">
              <a:buNone/>
            </a:pPr>
            <a:r>
              <a:rPr lang="en-US" sz="1350" dirty="0">
                <a:solidFill>
                  <a:srgbClr val="1A1D29"/>
                </a:solidFill>
                <a:latin typeface="Calibri" pitchFamily="34" charset="0"/>
                <a:ea typeface="Calibri" pitchFamily="34" charset="-122"/>
                <a:cs typeface="Calibri" pitchFamily="34" charset="-120"/>
              </a:rPr>
              <a:t>Containerize with Docker Compose for reproducible deployment</a:t>
            </a:r>
            <a:endParaRPr lang="en-US" sz="1350" dirty="0"/>
          </a:p>
        </p:txBody>
      </p:sp>
      <p:sp>
        <p:nvSpPr>
          <p:cNvPr id="26" name="Text 24"/>
          <p:cNvSpPr txBox="1"/>
          <p:nvPr/>
        </p:nvSpPr>
        <p:spPr>
          <a:xfrm>
            <a:off x="11658600" y="6473952"/>
            <a:ext cx="457200" cy="274320"/>
          </a:xfrm>
          <a:prstGeom prst="rect">
            <a:avLst/>
          </a:prstGeom>
          <a:noFill/>
          <a:ln/>
        </p:spPr>
        <p:txBody>
          <a:bodyPr wrap="square" lIns="0" tIns="0" rIns="0" bIns="0" rtlCol="0" anchor="ctr"/>
          <a:lstStyle/>
          <a:p>
            <a:pPr algn="r" indent="0" marL="0">
              <a:buNone/>
            </a:pPr>
            <a:r>
              <a:rPr lang="en-US" sz="1000" dirty="0">
                <a:solidFill>
                  <a:srgbClr val="5B6072"/>
                </a:solidFill>
                <a:latin typeface="Calibri" pitchFamily="34" charset="0"/>
                <a:ea typeface="Calibri" pitchFamily="34" charset="-122"/>
                <a:cs typeface="Calibri" pitchFamily="34" charset="-120"/>
              </a:rPr>
              <a:t>14</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EEF2FA"/>
        </a:solidFill>
      </p:bgPr>
    </p:bg>
    <p:spTree>
      <p:nvGrpSpPr>
        <p:cNvPr id="1" name=""/>
        <p:cNvGrpSpPr/>
        <p:nvPr/>
      </p:nvGrpSpPr>
      <p:grpSpPr>
        <a:xfrm>
          <a:off x="0" y="0"/>
          <a:ext cx="0" cy="0"/>
          <a:chOff x="0" y="0"/>
          <a:chExt cx="0" cy="0"/>
        </a:xfrm>
      </p:grpSpPr>
      <p:sp>
        <p:nvSpPr>
          <p:cNvPr id="2" name="Shape 0"/>
          <p:cNvSpPr/>
          <p:nvPr/>
        </p:nvSpPr>
        <p:spPr>
          <a:xfrm>
            <a:off x="8869680" y="320040"/>
            <a:ext cx="2788920" cy="384048"/>
          </a:xfrm>
          <a:prstGeom prst="roundRect">
            <a:avLst>
              <a:gd name="adj" fmla="val 19048"/>
            </a:avLst>
          </a:prstGeom>
          <a:solidFill>
            <a:srgbClr val="12163A"/>
          </a:solidFill>
          <a:ln/>
        </p:spPr>
      </p:sp>
      <p:sp>
        <p:nvSpPr>
          <p:cNvPr id="3" name="Text 1"/>
          <p:cNvSpPr txBox="1"/>
          <p:nvPr/>
        </p:nvSpPr>
        <p:spPr>
          <a:xfrm>
            <a:off x="8869680" y="320040"/>
            <a:ext cx="2788920"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CRITERION 7 · 3 MARKS</a:t>
            </a:r>
            <a:endParaRPr lang="en-US" sz="1100" dirty="0"/>
          </a:p>
        </p:txBody>
      </p:sp>
      <p:sp>
        <p:nvSpPr>
          <p:cNvPr id="4" name="Text 2"/>
          <p:cNvSpPr txBox="1"/>
          <p:nvPr/>
        </p:nvSpPr>
        <p:spPr>
          <a:xfrm>
            <a:off x="548640" y="320040"/>
            <a:ext cx="7315200" cy="320040"/>
          </a:xfrm>
          <a:prstGeom prst="rect">
            <a:avLst/>
          </a:prstGeom>
          <a:noFill/>
          <a:ln/>
        </p:spPr>
        <p:txBody>
          <a:bodyPr wrap="square" lIns="0" tIns="0" rIns="0" bIns="0" rtlCol="0" anchor="ctr"/>
          <a:lstStyle/>
          <a:p>
            <a:pPr indent="0" marL="0">
              <a:buNone/>
            </a:pPr>
            <a:r>
              <a:rPr lang="en-US" sz="1300" b="1" spc="200" kern="0" dirty="0">
                <a:solidFill>
                  <a:srgbClr val="6D8DFF"/>
                </a:solidFill>
                <a:latin typeface="Calibri" pitchFamily="34" charset="0"/>
                <a:ea typeface="Calibri" pitchFamily="34" charset="-122"/>
                <a:cs typeface="Calibri" pitchFamily="34" charset="-120"/>
              </a:rPr>
              <a:t>OWNERSHIP</a:t>
            </a:r>
            <a:endParaRPr lang="en-US" sz="1300" dirty="0"/>
          </a:p>
        </p:txBody>
      </p:sp>
      <p:sp>
        <p:nvSpPr>
          <p:cNvPr id="5" name="Text 3"/>
          <p:cNvSpPr txBox="1"/>
          <p:nvPr/>
        </p:nvSpPr>
        <p:spPr>
          <a:xfrm>
            <a:off x="548640" y="621792"/>
            <a:ext cx="10515600" cy="640080"/>
          </a:xfrm>
          <a:prstGeom prst="rect">
            <a:avLst/>
          </a:prstGeom>
          <a:noFill/>
          <a:ln/>
        </p:spPr>
        <p:txBody>
          <a:bodyPr wrap="square" lIns="0" tIns="0" rIns="0" bIns="0" rtlCol="0" anchor="ctr"/>
          <a:lstStyle/>
          <a:p>
            <a:pPr indent="0" marL="0">
              <a:buNone/>
            </a:pPr>
            <a:r>
              <a:rPr lang="en-US" sz="3000" b="1" dirty="0">
                <a:solidFill>
                  <a:srgbClr val="1A1D29"/>
                </a:solidFill>
                <a:latin typeface="Cambria" pitchFamily="34" charset="0"/>
                <a:ea typeface="Cambria" pitchFamily="34" charset="-122"/>
                <a:cs typeface="Cambria" pitchFamily="34" charset="-120"/>
              </a:rPr>
              <a:t>Individual Contribution</a:t>
            </a:r>
            <a:endParaRPr lang="en-US" sz="3000" dirty="0"/>
          </a:p>
        </p:txBody>
      </p:sp>
      <p:sp>
        <p:nvSpPr>
          <p:cNvPr id="6" name="Shape 4"/>
          <p:cNvSpPr/>
          <p:nvPr/>
        </p:nvSpPr>
        <p:spPr>
          <a:xfrm>
            <a:off x="548640" y="1554480"/>
            <a:ext cx="11064240" cy="502920"/>
          </a:xfrm>
          <a:prstGeom prst="roundRect">
            <a:avLst>
              <a:gd name="adj" fmla="val 9091"/>
            </a:avLst>
          </a:prstGeom>
          <a:solidFill>
            <a:srgbClr val="FDECEA"/>
          </a:solidFill>
          <a:ln w="12700">
            <a:solidFill>
              <a:srgbClr val="C0392B"/>
            </a:solidFill>
            <a:prstDash val="solid"/>
          </a:ln>
        </p:spPr>
      </p:sp>
      <p:sp>
        <p:nvSpPr>
          <p:cNvPr id="7" name="Text 5"/>
          <p:cNvSpPr txBox="1"/>
          <p:nvPr/>
        </p:nvSpPr>
        <p:spPr>
          <a:xfrm>
            <a:off x="685800" y="1554480"/>
            <a:ext cx="10789920" cy="502920"/>
          </a:xfrm>
          <a:prstGeom prst="rect">
            <a:avLst/>
          </a:prstGeom>
          <a:noFill/>
          <a:ln/>
        </p:spPr>
        <p:txBody>
          <a:bodyPr wrap="square" lIns="0" tIns="0" rIns="0" bIns="0" rtlCol="0" anchor="ctr"/>
          <a:lstStyle/>
          <a:p>
            <a:pPr indent="0" marL="0">
              <a:buNone/>
            </a:pPr>
            <a:r>
              <a:rPr lang="en-US" sz="1250" b="1" dirty="0">
                <a:solidFill>
                  <a:srgbClr val="C0392B"/>
                </a:solidFill>
                <a:latin typeface="Calibri" pitchFamily="34" charset="0"/>
                <a:ea typeface="Calibri" pitchFamily="34" charset="-122"/>
                <a:cs typeface="Calibri" pitchFamily="34" charset="-120"/>
              </a:rPr>
              <a:t>⚠  Replace with your real name(s) and a specific, honest breakdown of who did what.</a:t>
            </a:r>
            <a:endParaRPr lang="en-US" sz="1250" dirty="0"/>
          </a:p>
        </p:txBody>
      </p:sp>
      <p:sp>
        <p:nvSpPr>
          <p:cNvPr id="8" name="Shape 6"/>
          <p:cNvSpPr/>
          <p:nvPr/>
        </p:nvSpPr>
        <p:spPr>
          <a:xfrm>
            <a:off x="548640" y="2240280"/>
            <a:ext cx="11064240" cy="2926080"/>
          </a:xfrm>
          <a:prstGeom prst="roundRect">
            <a:avLst>
              <a:gd name="adj" fmla="val 2188"/>
            </a:avLst>
          </a:prstGeom>
          <a:solidFill>
            <a:srgbClr val="FFFFFF"/>
          </a:solidFill>
          <a:ln/>
          <a:effectLst>
            <a:outerShdw sx="100000" sy="100000" kx="0" ky="0" algn="bl" rotWithShape="0" blurRad="76200" dist="25400" dir="5400000">
              <a:srgbClr val="9AA3C2">
                <a:alpha val="30000"/>
              </a:srgbClr>
            </a:outerShdw>
          </a:effectLst>
        </p:spPr>
      </p:sp>
      <p:sp>
        <p:nvSpPr>
          <p:cNvPr id="9" name="Text 7"/>
          <p:cNvSpPr txBox="1"/>
          <p:nvPr/>
        </p:nvSpPr>
        <p:spPr>
          <a:xfrm>
            <a:off x="868680" y="2468880"/>
            <a:ext cx="10424160" cy="2468880"/>
          </a:xfrm>
          <a:prstGeom prst="rect">
            <a:avLst/>
          </a:prstGeom>
          <a:noFill/>
          <a:ln/>
        </p:spPr>
        <p:txBody>
          <a:bodyPr wrap="square" lIns="0" tIns="0" rIns="0" bIns="0" rtlCol="0" anchor="ctr"/>
          <a:lstStyle/>
          <a:p>
            <a:pPr indent="0" marL="0">
              <a:buNone/>
            </a:pPr>
            <a:r>
              <a:rPr lang="en-US" sz="1600" b="1" dirty="0">
                <a:solidFill>
                  <a:srgbClr val="1A1D29"/>
                </a:solidFill>
                <a:latin typeface="Calibri" pitchFamily="34" charset="0"/>
                <a:ea typeface="Calibri" pitchFamily="34" charset="-122"/>
                <a:cs typeface="Calibri" pitchFamily="34" charset="-120"/>
              </a:rPr>
              <a:t>[Your Name]
</a:t>
            </a:r>
            <a:endParaRPr lang="en-US" sz="1600" dirty="0"/>
          </a:p>
          <a:p>
            <a:pPr indent="0" marL="0">
              <a:buNone/>
            </a:pPr>
            <a:r>
              <a:rPr lang="en-US" sz="1300" i="1" dirty="0">
                <a:solidFill>
                  <a:srgbClr val="C0392B"/>
                </a:solidFill>
                <a:latin typeface="Calibri" pitchFamily="34" charset="0"/>
                <a:ea typeface="Calibri" pitchFamily="34" charset="-122"/>
                <a:cs typeface="Calibri" pitchFamily="34" charset="-120"/>
              </a:rPr>
              <a:t>[Describe exactly which phases/modules you personally designed, implemented, and tested — e.g. “Designed and implemented Phases 1–5: video ingestion, transcription, chunking, embeddings, vector search, RAG, and visual search, including all automated tests.”]</a:t>
            </a:r>
            <a:endParaRPr lang="en-US" sz="1600" dirty="0"/>
          </a:p>
        </p:txBody>
      </p:sp>
      <p:sp>
        <p:nvSpPr>
          <p:cNvPr id="10" name="Text 8"/>
          <p:cNvSpPr txBox="1"/>
          <p:nvPr/>
        </p:nvSpPr>
        <p:spPr>
          <a:xfrm>
            <a:off x="11658600" y="6473952"/>
            <a:ext cx="457200" cy="274320"/>
          </a:xfrm>
          <a:prstGeom prst="rect">
            <a:avLst/>
          </a:prstGeom>
          <a:noFill/>
          <a:ln/>
        </p:spPr>
        <p:txBody>
          <a:bodyPr wrap="square" lIns="0" tIns="0" rIns="0" bIns="0" rtlCol="0" anchor="ctr"/>
          <a:lstStyle/>
          <a:p>
            <a:pPr algn="r" indent="0" marL="0">
              <a:buNone/>
            </a:pPr>
            <a:r>
              <a:rPr lang="en-US" sz="1000" dirty="0">
                <a:solidFill>
                  <a:srgbClr val="5B6072"/>
                </a:solidFill>
                <a:latin typeface="Calibri" pitchFamily="34" charset="0"/>
                <a:ea typeface="Calibri" pitchFamily="34" charset="-122"/>
                <a:cs typeface="Calibri" pitchFamily="34" charset="-120"/>
              </a:rPr>
              <a:t>15</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2163A"/>
        </a:solidFill>
      </p:bgPr>
    </p:bg>
    <p:spTree>
      <p:nvGrpSpPr>
        <p:cNvPr id="1" name=""/>
        <p:cNvGrpSpPr/>
        <p:nvPr/>
      </p:nvGrpSpPr>
      <p:grpSpPr>
        <a:xfrm>
          <a:off x="0" y="0"/>
          <a:ext cx="0" cy="0"/>
          <a:chOff x="0" y="0"/>
          <a:chExt cx="0" cy="0"/>
        </a:xfrm>
      </p:grpSpPr>
      <p:sp>
        <p:nvSpPr>
          <p:cNvPr id="2" name="Shape 0"/>
          <p:cNvSpPr/>
          <p:nvPr/>
        </p:nvSpPr>
        <p:spPr>
          <a:xfrm>
            <a:off x="-1828800" y="-1828800"/>
            <a:ext cx="5486400" cy="5486400"/>
          </a:xfrm>
          <a:prstGeom prst="ellipse">
            <a:avLst/>
          </a:prstGeom>
          <a:solidFill>
            <a:srgbClr val="1B2050"/>
          </a:solidFill>
          <a:ln/>
        </p:spPr>
      </p:sp>
      <p:sp>
        <p:nvSpPr>
          <p:cNvPr id="3" name="Shape 1"/>
          <p:cNvSpPr/>
          <p:nvPr/>
        </p:nvSpPr>
        <p:spPr>
          <a:xfrm>
            <a:off x="8686800" y="3657600"/>
            <a:ext cx="4572000" cy="4572000"/>
          </a:xfrm>
          <a:prstGeom prst="ellipse">
            <a:avLst/>
          </a:prstGeom>
          <a:solidFill>
            <a:srgbClr val="1B2050"/>
          </a:solidFill>
          <a:ln/>
        </p:spPr>
      </p:sp>
      <p:sp>
        <p:nvSpPr>
          <p:cNvPr id="4" name="Text 2"/>
          <p:cNvSpPr txBox="1"/>
          <p:nvPr/>
        </p:nvSpPr>
        <p:spPr>
          <a:xfrm>
            <a:off x="822960" y="2468880"/>
            <a:ext cx="10058400" cy="91440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Thank You</a:t>
            </a:r>
            <a:endParaRPr lang="en-US" sz="4800" dirty="0"/>
          </a:p>
        </p:txBody>
      </p:sp>
      <p:sp>
        <p:nvSpPr>
          <p:cNvPr id="5" name="Text 3"/>
          <p:cNvSpPr txBox="1"/>
          <p:nvPr/>
        </p:nvSpPr>
        <p:spPr>
          <a:xfrm>
            <a:off x="868680" y="3337560"/>
            <a:ext cx="9144000" cy="502920"/>
          </a:xfrm>
          <a:prstGeom prst="rect">
            <a:avLst/>
          </a:prstGeom>
          <a:noFill/>
          <a:ln/>
        </p:spPr>
        <p:txBody>
          <a:bodyPr wrap="square" lIns="0" tIns="0" rIns="0" bIns="0" rtlCol="0" anchor="ctr"/>
          <a:lstStyle/>
          <a:p>
            <a:pPr indent="0" marL="0">
              <a:buNone/>
            </a:pPr>
            <a:r>
              <a:rPr lang="en-US" sz="2000" dirty="0">
                <a:solidFill>
                  <a:srgbClr val="C7D0F5"/>
                </a:solidFill>
                <a:latin typeface="Calibri" pitchFamily="34" charset="0"/>
                <a:ea typeface="Calibri" pitchFamily="34" charset="-122"/>
                <a:cs typeface="Calibri" pitchFamily="34" charset="-120"/>
              </a:rPr>
              <a:t>Questions &amp; Discussion</a:t>
            </a:r>
            <a:endParaRPr lang="en-US" sz="2000" dirty="0"/>
          </a:p>
        </p:txBody>
      </p:sp>
      <p:sp>
        <p:nvSpPr>
          <p:cNvPr id="6" name="Text 4"/>
          <p:cNvSpPr txBox="1"/>
          <p:nvPr/>
        </p:nvSpPr>
        <p:spPr>
          <a:xfrm>
            <a:off x="868680" y="3977640"/>
            <a:ext cx="9144000" cy="365760"/>
          </a:xfrm>
          <a:prstGeom prst="rect">
            <a:avLst/>
          </a:prstGeom>
          <a:noFill/>
          <a:ln/>
        </p:spPr>
        <p:txBody>
          <a:bodyPr wrap="square" lIns="0" tIns="0" rIns="0" bIns="0" rtlCol="0" anchor="ctr"/>
          <a:lstStyle/>
          <a:p>
            <a:pPr indent="0" marL="0">
              <a:buNone/>
            </a:pPr>
            <a:r>
              <a:rPr lang="en-US" sz="1300" dirty="0">
                <a:solidFill>
                  <a:srgbClr val="8891C4"/>
                </a:solidFill>
                <a:latin typeface="Calibri" pitchFamily="34" charset="0"/>
                <a:ea typeface="Calibri" pitchFamily="34" charset="-122"/>
                <a:cs typeface="Calibri" pitchFamily="34" charset="-120"/>
              </a:rPr>
              <a:t>VidSense AI  ·  Phases 1–5 complete and verified  ·  Phase 6 in progress</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VidSense AI Project</dc:creator>
  <cp:lastModifiedBy>VidSense AI Project</cp:lastModifiedBy>
  <cp:revision>1</cp:revision>
  <dcterms:created xsi:type="dcterms:W3CDTF">2026-09-15T08:52:08Z</dcterms:created>
  <dcterms:modified xsi:type="dcterms:W3CDTF">2026-09-15T08:52:08Z</dcterms:modified>
</cp:coreProperties>
</file>