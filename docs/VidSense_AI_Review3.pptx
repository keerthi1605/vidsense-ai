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Fill in your name/team, guide name, and review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whole talk around the panel's own 7 criteria signals organization and makes it easy for them to score each section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MUST be edited with your real Review 2 comments and what you actually did about each one -- do not present the placeholder text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department's approved plan has different milestone names/dates, swap this table for those exact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modules are live and demonstrable right now on the running system, not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pipelines feed a common retrieval + RAG layer. Emphasize the timestamp-preservation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here was made after checking this machine's actual hardware constraints, not by defaulting to the biggest available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decisions are the ones most worth being able to explain unprompted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came from a real run against real models -- point out that mocked tests were used only where a real model call would make the suite slow/nondeterministic, and real end-to-end runs cover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this exact Q&amp;A was run live on the working frontend against a real downloaded YouTube lecture (excerpted here for space -- full answer + citation in the report). Bottom: real pipeline runs (not simulated) across 4 of 5 target genres, 1 video each so far -- second video per genre and the sports genre are still pending, marked honestly rather than filled in. The frame-dedup finding is genuine measured data, not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bugs hit and fixed during this project, each diagnosed from actual logs/evidence rather than guessed at -- a strong, concrete answer if the panel asks 'what was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the content exists and is accurate, but confirm whether your department wants it repackaged into a specific chapter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before being asked demonstrates maturity and heads off panel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continuation of an already-tested foundation, not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and honest about individual contribution -- panels probe this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A"/>
        </a:solidFill>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1B2050"/>
          </a:solidFill>
          <a:ln/>
        </p:spPr>
      </p:sp>
      <p:sp>
        <p:nvSpPr>
          <p:cNvPr id="3" name="Shape 1"/>
          <p:cNvSpPr/>
          <p:nvPr/>
        </p:nvSpPr>
        <p:spPr>
          <a:xfrm>
            <a:off x="-1371600" y="4754880"/>
            <a:ext cx="3657600" cy="3657600"/>
          </a:xfrm>
          <a:prstGeom prst="ellipse">
            <a:avLst/>
          </a:prstGeom>
          <a:solidFill>
            <a:srgbClr val="1B2050"/>
          </a:solidFill>
          <a:ln/>
        </p:spPr>
      </p:sp>
      <p:sp>
        <p:nvSpPr>
          <p:cNvPr id="4" name="Text 2"/>
          <p:cNvSpPr txBox="1"/>
          <p:nvPr/>
        </p:nvSpPr>
        <p:spPr>
          <a:xfrm>
            <a:off x="822960" y="214884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VidSense AI</a:t>
            </a:r>
            <a:endParaRPr lang="en-US" sz="5400" dirty="0"/>
          </a:p>
        </p:txBody>
      </p:sp>
      <p:sp>
        <p:nvSpPr>
          <p:cNvPr id="5" name="Text 3"/>
          <p:cNvSpPr txBox="1"/>
          <p:nvPr/>
        </p:nvSpPr>
        <p:spPr>
          <a:xfrm>
            <a:off x="868680" y="3063240"/>
            <a:ext cx="9601200" cy="502920"/>
          </a:xfrm>
          <a:prstGeom prst="rect">
            <a:avLst/>
          </a:prstGeom>
          <a:noFill/>
          <a:ln/>
        </p:spPr>
        <p:txBody>
          <a:bodyPr wrap="square" lIns="0" tIns="0" rIns="0" bIns="0" rtlCol="0" anchor="ctr"/>
          <a:lstStyle/>
          <a:p>
            <a:pPr indent="0" marL="0">
              <a:buNone/>
            </a:pPr>
            <a:r>
              <a:rPr lang="en-US" sz="2000" dirty="0">
                <a:solidFill>
                  <a:srgbClr val="C7D0F5"/>
                </a:solidFill>
                <a:latin typeface="Calibri" pitchFamily="34" charset="0"/>
                <a:ea typeface="Calibri" pitchFamily="34" charset="-122"/>
                <a:cs typeface="Calibri" pitchFamily="34" charset="-120"/>
              </a:rPr>
              <a:t>Multi-Modal Semantic Video Search &amp; Question Answering using RAG</a:t>
            </a:r>
            <a:endParaRPr lang="en-US" sz="2000" dirty="0"/>
          </a:p>
        </p:txBody>
      </p:sp>
      <p:sp>
        <p:nvSpPr>
          <p:cNvPr id="6" name="Shape 4"/>
          <p:cNvSpPr/>
          <p:nvPr/>
        </p:nvSpPr>
        <p:spPr>
          <a:xfrm>
            <a:off x="868680" y="3794760"/>
            <a:ext cx="3246120" cy="457200"/>
          </a:xfrm>
          <a:prstGeom prst="roundRect">
            <a:avLst>
              <a:gd name="adj" fmla="val 16000"/>
            </a:avLst>
          </a:prstGeom>
          <a:solidFill>
            <a:srgbClr val="6D8DFF"/>
          </a:solidFill>
          <a:ln/>
        </p:spPr>
      </p:sp>
      <p:sp>
        <p:nvSpPr>
          <p:cNvPr id="7" name="Text 5"/>
          <p:cNvSpPr txBox="1"/>
          <p:nvPr/>
        </p:nvSpPr>
        <p:spPr>
          <a:xfrm>
            <a:off x="868680" y="3794760"/>
            <a:ext cx="3246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REVIEW 3 — PROGRESS PRESENTATION</a:t>
            </a:r>
            <a:endParaRPr lang="en-US" sz="1300" dirty="0"/>
          </a:p>
        </p:txBody>
      </p:sp>
      <p:sp>
        <p:nvSpPr>
          <p:cNvPr id="8" name="Text 6"/>
          <p:cNvSpPr txBox="1"/>
          <p:nvPr/>
        </p:nvSpPr>
        <p:spPr>
          <a:xfrm>
            <a:off x="868680" y="461772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Presented by: </a:t>
            </a:r>
            <a:pPr indent="0" marL="0">
              <a:buNone/>
            </a:pPr>
            <a:r>
              <a:rPr lang="en-US" sz="1500" i="1" dirty="0">
                <a:solidFill>
                  <a:srgbClr val="FF8A80"/>
                </a:solidFill>
                <a:latin typeface="Calibri" pitchFamily="34" charset="0"/>
                <a:ea typeface="Calibri" pitchFamily="34" charset="-122"/>
                <a:cs typeface="Calibri" pitchFamily="34" charset="-120"/>
              </a:rPr>
              <a:t>[Your Name / Team Members]</a:t>
            </a:r>
            <a:endParaRPr lang="en-US" sz="1500" dirty="0"/>
          </a:p>
        </p:txBody>
      </p:sp>
      <p:sp>
        <p:nvSpPr>
          <p:cNvPr id="9" name="Text 7"/>
          <p:cNvSpPr txBox="1"/>
          <p:nvPr/>
        </p:nvSpPr>
        <p:spPr>
          <a:xfrm>
            <a:off x="868680" y="498348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Guide: </a:t>
            </a:r>
            <a:pPr indent="0" marL="0">
              <a:buNone/>
            </a:pPr>
            <a:r>
              <a:rPr lang="en-US" sz="1500" i="1" dirty="0">
                <a:solidFill>
                  <a:srgbClr val="FF8A80"/>
                </a:solidFill>
                <a:latin typeface="Calibri" pitchFamily="34" charset="0"/>
                <a:ea typeface="Calibri" pitchFamily="34" charset="-122"/>
                <a:cs typeface="Calibri" pitchFamily="34" charset="-120"/>
              </a:rPr>
              <a:t>[Guide Name]</a:t>
            </a:r>
            <a:pPr indent="0" marL="0">
              <a:buNone/>
            </a:pPr>
            <a:r>
              <a:rPr lang="en-US" sz="1500" b="1" dirty="0">
                <a:solidFill>
                  <a:srgbClr val="FFFFFF"/>
                </a:solidFill>
                <a:latin typeface="Calibri" pitchFamily="34" charset="0"/>
                <a:ea typeface="Calibri" pitchFamily="34" charset="-122"/>
                <a:cs typeface="Calibri" pitchFamily="34" charset="-120"/>
              </a:rPr>
              <a:t>     Date: </a:t>
            </a:r>
            <a:pPr indent="0" marL="0">
              <a:buNone/>
            </a:pPr>
            <a:r>
              <a:rPr lang="en-US" sz="1500" i="1" dirty="0">
                <a:solidFill>
                  <a:srgbClr val="FF8A80"/>
                </a:solidFill>
                <a:latin typeface="Calibri" pitchFamily="34" charset="0"/>
                <a:ea typeface="Calibri" pitchFamily="34" charset="-122"/>
                <a:cs typeface="Calibri" pitchFamily="34" charset="-120"/>
              </a:rPr>
              <a:t>[Review Date]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A"/>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Structured Around Today's Evaluation Criteria</a:t>
            </a:r>
            <a:endParaRPr lang="en-US" sz="3000" dirty="0"/>
          </a:p>
        </p:txBody>
      </p:sp>
      <p:sp>
        <p:nvSpPr>
          <p:cNvPr id="4" name="Shape 2"/>
          <p:cNvSpPr/>
          <p:nvPr/>
        </p:nvSpPr>
        <p:spPr>
          <a:xfrm>
            <a:off x="548640" y="1600200"/>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5" name="Text 3"/>
          <p:cNvSpPr txBox="1"/>
          <p:nvPr/>
        </p:nvSpPr>
        <p:spPr>
          <a:xfrm>
            <a:off x="685800" y="1600200"/>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371600" y="1673352"/>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Review 2 Feedback &amp; Progress vs. Plan</a:t>
            </a:r>
            <a:endParaRPr lang="en-US" sz="1400" dirty="0"/>
          </a:p>
        </p:txBody>
      </p:sp>
      <p:sp>
        <p:nvSpPr>
          <p:cNvPr id="7" name="Text 5"/>
          <p:cNvSpPr txBox="1"/>
          <p:nvPr/>
        </p:nvSpPr>
        <p:spPr>
          <a:xfrm>
            <a:off x="1371600" y="1947672"/>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1 · 3 marks</a:t>
            </a:r>
            <a:endParaRPr lang="en-US" sz="1100" dirty="0"/>
          </a:p>
        </p:txBody>
      </p:sp>
      <p:sp>
        <p:nvSpPr>
          <p:cNvPr id="8" name="Shape 6"/>
          <p:cNvSpPr/>
          <p:nvPr/>
        </p:nvSpPr>
        <p:spPr>
          <a:xfrm>
            <a:off x="548640" y="2368296"/>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9" name="Text 7"/>
          <p:cNvSpPr txBox="1"/>
          <p:nvPr/>
        </p:nvSpPr>
        <p:spPr>
          <a:xfrm>
            <a:off x="685800" y="2368296"/>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1371600" y="2441448"/>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Implementation &amp; Functional Progress</a:t>
            </a:r>
            <a:endParaRPr lang="en-US" sz="1400" dirty="0"/>
          </a:p>
        </p:txBody>
      </p:sp>
      <p:sp>
        <p:nvSpPr>
          <p:cNvPr id="11" name="Text 9"/>
          <p:cNvSpPr txBox="1"/>
          <p:nvPr/>
        </p:nvSpPr>
        <p:spPr>
          <a:xfrm>
            <a:off x="1371600" y="2715768"/>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2 · 3 marks</a:t>
            </a:r>
            <a:endParaRPr lang="en-US" sz="1100" dirty="0"/>
          </a:p>
        </p:txBody>
      </p:sp>
      <p:sp>
        <p:nvSpPr>
          <p:cNvPr id="12" name="Shape 10"/>
          <p:cNvSpPr/>
          <p:nvPr/>
        </p:nvSpPr>
        <p:spPr>
          <a:xfrm>
            <a:off x="548640" y="3136392"/>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13" name="Text 11"/>
          <p:cNvSpPr txBox="1"/>
          <p:nvPr/>
        </p:nvSpPr>
        <p:spPr>
          <a:xfrm>
            <a:off x="685800" y="3136392"/>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1371600" y="3209544"/>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Technical Accuracy &amp; Best Practices</a:t>
            </a:r>
            <a:endParaRPr lang="en-US" sz="1400" dirty="0"/>
          </a:p>
        </p:txBody>
      </p:sp>
      <p:sp>
        <p:nvSpPr>
          <p:cNvPr id="15" name="Text 13"/>
          <p:cNvSpPr txBox="1"/>
          <p:nvPr/>
        </p:nvSpPr>
        <p:spPr>
          <a:xfrm>
            <a:off x="1371600" y="3483864"/>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3 · 3 marks</a:t>
            </a:r>
            <a:endParaRPr lang="en-US" sz="1100" dirty="0"/>
          </a:p>
        </p:txBody>
      </p:sp>
      <p:sp>
        <p:nvSpPr>
          <p:cNvPr id="16" name="Shape 14"/>
          <p:cNvSpPr/>
          <p:nvPr/>
        </p:nvSpPr>
        <p:spPr>
          <a:xfrm>
            <a:off x="548640" y="3904488"/>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17" name="Text 15"/>
          <p:cNvSpPr txBox="1"/>
          <p:nvPr/>
        </p:nvSpPr>
        <p:spPr>
          <a:xfrm>
            <a:off x="685800" y="3904488"/>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04</a:t>
            </a:r>
            <a:endParaRPr lang="en-US" sz="2200" dirty="0"/>
          </a:p>
        </p:txBody>
      </p:sp>
      <p:sp>
        <p:nvSpPr>
          <p:cNvPr id="18" name="Text 16"/>
          <p:cNvSpPr txBox="1"/>
          <p:nvPr/>
        </p:nvSpPr>
        <p:spPr>
          <a:xfrm>
            <a:off x="1371600" y="3977640"/>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Interim Testing, Results &amp; Analysis</a:t>
            </a:r>
            <a:endParaRPr lang="en-US" sz="1400" dirty="0"/>
          </a:p>
        </p:txBody>
      </p:sp>
      <p:sp>
        <p:nvSpPr>
          <p:cNvPr id="19" name="Text 17"/>
          <p:cNvSpPr txBox="1"/>
          <p:nvPr/>
        </p:nvSpPr>
        <p:spPr>
          <a:xfrm>
            <a:off x="1371600" y="4251960"/>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4 · 3 marks</a:t>
            </a:r>
            <a:endParaRPr lang="en-US" sz="1100" dirty="0"/>
          </a:p>
        </p:txBody>
      </p:sp>
      <p:sp>
        <p:nvSpPr>
          <p:cNvPr id="20" name="Shape 18"/>
          <p:cNvSpPr/>
          <p:nvPr/>
        </p:nvSpPr>
        <p:spPr>
          <a:xfrm>
            <a:off x="5989320" y="1600200"/>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21" name="Text 19"/>
          <p:cNvSpPr txBox="1"/>
          <p:nvPr/>
        </p:nvSpPr>
        <p:spPr>
          <a:xfrm>
            <a:off x="6126480" y="1600200"/>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05</a:t>
            </a:r>
            <a:endParaRPr lang="en-US" sz="2200" dirty="0"/>
          </a:p>
        </p:txBody>
      </p:sp>
      <p:sp>
        <p:nvSpPr>
          <p:cNvPr id="22" name="Text 20"/>
          <p:cNvSpPr txBox="1"/>
          <p:nvPr/>
        </p:nvSpPr>
        <p:spPr>
          <a:xfrm>
            <a:off x="6812280" y="1673352"/>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Problem-Solving &amp; Technical Refinement</a:t>
            </a:r>
            <a:endParaRPr lang="en-US" sz="1400" dirty="0"/>
          </a:p>
        </p:txBody>
      </p:sp>
      <p:sp>
        <p:nvSpPr>
          <p:cNvPr id="23" name="Text 21"/>
          <p:cNvSpPr txBox="1"/>
          <p:nvPr/>
        </p:nvSpPr>
        <p:spPr>
          <a:xfrm>
            <a:off x="6812280" y="1947672"/>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5 · 2 marks</a:t>
            </a:r>
            <a:endParaRPr lang="en-US" sz="1100" dirty="0"/>
          </a:p>
        </p:txBody>
      </p:sp>
      <p:sp>
        <p:nvSpPr>
          <p:cNvPr id="24" name="Shape 22"/>
          <p:cNvSpPr/>
          <p:nvPr/>
        </p:nvSpPr>
        <p:spPr>
          <a:xfrm>
            <a:off x="5989320" y="2368296"/>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25" name="Text 23"/>
          <p:cNvSpPr txBox="1"/>
          <p:nvPr/>
        </p:nvSpPr>
        <p:spPr>
          <a:xfrm>
            <a:off x="6126480" y="2368296"/>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06</a:t>
            </a:r>
            <a:endParaRPr lang="en-US" sz="2200" dirty="0"/>
          </a:p>
        </p:txBody>
      </p:sp>
      <p:sp>
        <p:nvSpPr>
          <p:cNvPr id="26" name="Text 24"/>
          <p:cNvSpPr txBox="1"/>
          <p:nvPr/>
        </p:nvSpPr>
        <p:spPr>
          <a:xfrm>
            <a:off x="6812280" y="2441448"/>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Documentation Progress</a:t>
            </a:r>
            <a:endParaRPr lang="en-US" sz="1400" dirty="0"/>
          </a:p>
        </p:txBody>
      </p:sp>
      <p:sp>
        <p:nvSpPr>
          <p:cNvPr id="27" name="Text 25"/>
          <p:cNvSpPr txBox="1"/>
          <p:nvPr/>
        </p:nvSpPr>
        <p:spPr>
          <a:xfrm>
            <a:off x="6812280" y="2715768"/>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6 · 3 marks</a:t>
            </a:r>
            <a:endParaRPr lang="en-US" sz="1100" dirty="0"/>
          </a:p>
        </p:txBody>
      </p:sp>
      <p:sp>
        <p:nvSpPr>
          <p:cNvPr id="28" name="Shape 26"/>
          <p:cNvSpPr/>
          <p:nvPr/>
        </p:nvSpPr>
        <p:spPr>
          <a:xfrm>
            <a:off x="5989320" y="3136392"/>
            <a:ext cx="5074920" cy="658368"/>
          </a:xfrm>
          <a:prstGeom prst="roundRect">
            <a:avLst>
              <a:gd name="adj" fmla="val 9722"/>
            </a:avLst>
          </a:prstGeom>
          <a:solidFill>
            <a:srgbClr val="FFFFFF"/>
          </a:solidFill>
          <a:ln/>
          <a:effectLst>
            <a:outerShdw sx="100000" sy="100000" kx="0" ky="0" algn="bl" rotWithShape="0" blurRad="76200" dist="25400" dir="5400000">
              <a:srgbClr val="9AA3C2">
                <a:alpha val="30000"/>
              </a:srgbClr>
            </a:outerShdw>
          </a:effectLst>
        </p:spPr>
      </p:sp>
      <p:sp>
        <p:nvSpPr>
          <p:cNvPr id="29" name="Text 27"/>
          <p:cNvSpPr txBox="1"/>
          <p:nvPr/>
        </p:nvSpPr>
        <p:spPr>
          <a:xfrm>
            <a:off x="6126480" y="3136392"/>
            <a:ext cx="640080" cy="658368"/>
          </a:xfrm>
          <a:prstGeom prst="rect">
            <a:avLst/>
          </a:prstGeom>
          <a:noFill/>
          <a:ln/>
        </p:spPr>
        <p:txBody>
          <a:bodyPr wrap="square" lIns="0" tIns="0" rIns="0" bIns="0" rtlCol="0" anchor="ctr"/>
          <a:lstStyle/>
          <a:p>
            <a:pPr indent="0" marL="0">
              <a:buNone/>
            </a:pPr>
            <a:r>
              <a:rPr lang="en-US" sz="2200" b="1" dirty="0">
                <a:solidFill>
                  <a:srgbClr val="6D8DFF"/>
                </a:solidFill>
                <a:latin typeface="Cambria" pitchFamily="34" charset="0"/>
                <a:ea typeface="Cambria" pitchFamily="34" charset="-122"/>
                <a:cs typeface="Cambria" pitchFamily="34" charset="-120"/>
              </a:rPr>
              <a:t>07</a:t>
            </a:r>
            <a:endParaRPr lang="en-US" sz="2200" dirty="0"/>
          </a:p>
        </p:txBody>
      </p:sp>
      <p:sp>
        <p:nvSpPr>
          <p:cNvPr id="30" name="Text 28"/>
          <p:cNvSpPr txBox="1"/>
          <p:nvPr/>
        </p:nvSpPr>
        <p:spPr>
          <a:xfrm>
            <a:off x="6812280" y="3209544"/>
            <a:ext cx="4069080" cy="320040"/>
          </a:xfrm>
          <a:prstGeom prst="rect">
            <a:avLst/>
          </a:prstGeom>
          <a:noFill/>
          <a:ln/>
        </p:spPr>
        <p:txBody>
          <a:bodyPr wrap="square" lIns="0" tIns="0" rIns="0" bIns="0" rtlCol="0" anchor="ctr"/>
          <a:lstStyle/>
          <a:p>
            <a:pPr indent="0" marL="0">
              <a:buNone/>
            </a:pPr>
            <a:r>
              <a:rPr lang="en-US" sz="1400" b="1" dirty="0">
                <a:solidFill>
                  <a:srgbClr val="1A1D29"/>
                </a:solidFill>
                <a:latin typeface="Calibri" pitchFamily="34" charset="0"/>
                <a:ea typeface="Calibri" pitchFamily="34" charset="-122"/>
                <a:cs typeface="Calibri" pitchFamily="34" charset="-120"/>
              </a:rPr>
              <a:t>Next Steps, Team &amp; Q&amp;A</a:t>
            </a:r>
            <a:endParaRPr lang="en-US" sz="1400" dirty="0"/>
          </a:p>
        </p:txBody>
      </p:sp>
      <p:sp>
        <p:nvSpPr>
          <p:cNvPr id="31" name="Text 29"/>
          <p:cNvSpPr txBox="1"/>
          <p:nvPr/>
        </p:nvSpPr>
        <p:spPr>
          <a:xfrm>
            <a:off x="6812280" y="3483864"/>
            <a:ext cx="4069080" cy="256032"/>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Criterion 7 · 3 marks</a:t>
            </a:r>
            <a:endParaRPr lang="en-US" sz="1100" dirty="0"/>
          </a:p>
        </p:txBody>
      </p:sp>
      <p:sp>
        <p:nvSpPr>
          <p:cNvPr id="32" name="Text 30"/>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1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FOLLOW-UP ON PREVIOUS REVIEW</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Review 2 Feedback &amp; Actions Taken</a:t>
            </a:r>
            <a:endParaRPr lang="en-US" sz="3000" dirty="0"/>
          </a:p>
        </p:txBody>
      </p:sp>
      <p:sp>
        <p:nvSpPr>
          <p:cNvPr id="6" name="Shape 4"/>
          <p:cNvSpPr/>
          <p:nvPr/>
        </p:nvSpPr>
        <p:spPr>
          <a:xfrm>
            <a:off x="548640" y="1463040"/>
            <a:ext cx="11064240" cy="502920"/>
          </a:xfrm>
          <a:prstGeom prst="roundRect">
            <a:avLst>
              <a:gd name="adj" fmla="val 9091"/>
            </a:avLst>
          </a:prstGeom>
          <a:solidFill>
            <a:srgbClr val="FDECEA"/>
          </a:solidFill>
          <a:ln w="12700">
            <a:solidFill>
              <a:srgbClr val="C0392B"/>
            </a:solidFill>
            <a:prstDash val="solid"/>
          </a:ln>
        </p:spPr>
      </p:sp>
      <p:sp>
        <p:nvSpPr>
          <p:cNvPr id="7" name="Text 5"/>
          <p:cNvSpPr txBox="1"/>
          <p:nvPr/>
        </p:nvSpPr>
        <p:spPr>
          <a:xfrm>
            <a:off x="685800" y="1463040"/>
            <a:ext cx="10789920" cy="5029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  REPLACE the rows below with your ACTUAL Review 2 panel comments before presenting.</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914400"/>
        </p:xfrm>
        <a:graphic>
          <a:graphicData uri="http://schemas.openxmlformats.org/drawingml/2006/table">
            <a:tbl>
              <a:tblPr/>
              <a:tblGrid>
                <a:gridCol w="5120640"/>
                <a:gridCol w="5943600"/>
              </a:tblGrid>
              <a:tr h="7772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Panel Feedback (Review 2)</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 Taken</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r>
              <a:tr h="777240">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[Insert Review 2 comment 1]</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[Describe the specific action taken in response]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777240">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[Insert Review 2 comment 2]</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[Describe the specific action taken in response]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777240">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[Insert Review 2 comment 3]</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i="1" dirty="0">
                          <a:solidFill>
                            <a:srgbClr val="C0392B"/>
                          </a:solidFill>
                          <a:latin typeface="Calibri" pitchFamily="34" charset="0"/>
                          <a:ea typeface="Calibri" pitchFamily="34" charset="-122"/>
                          <a:cs typeface="Calibri" pitchFamily="34" charset="-120"/>
                        </a:rPr>
                        <a:t>[Describe the specific action taken in response]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bl>
          </a:graphicData>
        </a:graphic>
      </p:graphicFrame>
      <p:sp>
        <p:nvSpPr>
          <p:cNvPr id="9" name="Text 6"/>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1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MILESTONE TRACKING</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Progress Against the Approved Phase Plan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498080" cy="914400"/>
        </p:xfrm>
        <a:graphic>
          <a:graphicData uri="http://schemas.openxmlformats.org/drawingml/2006/table">
            <a:tbl>
              <a:tblPr/>
              <a:tblGrid>
                <a:gridCol w="914400"/>
                <a:gridCol w="4937760"/>
                <a:gridCol w="16459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Video ingestion + Whisper transcription</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Chunking + text embeddings</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Vector database + semantic search</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RAG question answering</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Visual understanding (frames + CLIP)</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2E9E5B"/>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Multimodal retrieval (fusion)</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B8860B"/>
                          </a:solidFill>
                          <a:latin typeface="Calibri" pitchFamily="34" charset="0"/>
                          <a:ea typeface="Calibri" pitchFamily="34" charset="-122"/>
                          <a:cs typeface="Calibri" pitchFamily="34" charset="-120"/>
                        </a:rPr>
                        <a:t>In progress</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457200">
                <a:tc>
                  <a:txBody>
                    <a:bodyPr/>
                    <a:lstStyle/>
                    <a:p>
                      <a:pPr indent="0" marL="0">
                        <a:buNone/>
                      </a:pPr>
                      <a:r>
                        <a:rPr lang="en-US" sz="1300" b="1" dirty="0">
                          <a:solidFill>
                            <a:srgbClr val="1A1D29"/>
                          </a:solidFill>
                          <a:latin typeface="Calibri" pitchFamily="34" charset="0"/>
                          <a:ea typeface="Calibri" pitchFamily="34" charset="-122"/>
                          <a:cs typeface="Calibri" pitchFamily="34" charset="-120"/>
                        </a:rPr>
                        <a:t>7–12</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dirty="0">
                          <a:solidFill>
                            <a:srgbClr val="1A1D29"/>
                          </a:solidFill>
                          <a:latin typeface="Calibri" pitchFamily="34" charset="0"/>
                          <a:ea typeface="Calibri" pitchFamily="34" charset="-122"/>
                          <a:cs typeface="Calibri" pitchFamily="34" charset="-120"/>
                        </a:rPr>
                        <a:t>UI polish, DB, evaluation, deployment</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300" b="1" dirty="0">
                          <a:solidFill>
                            <a:srgbClr val="5B6072"/>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bl>
          </a:graphicData>
        </a:graphic>
      </p:graphicFrame>
      <p:sp>
        <p:nvSpPr>
          <p:cNvPr id="7" name="Shape 4"/>
          <p:cNvSpPr/>
          <p:nvPr/>
        </p:nvSpPr>
        <p:spPr>
          <a:xfrm>
            <a:off x="8321040" y="1554480"/>
            <a:ext cx="3291840" cy="1920240"/>
          </a:xfrm>
          <a:prstGeom prst="roundRect">
            <a:avLst>
              <a:gd name="adj" fmla="val 3810"/>
            </a:avLst>
          </a:prstGeom>
          <a:solidFill>
            <a:srgbClr val="12163A"/>
          </a:solidFill>
          <a:ln/>
        </p:spPr>
      </p:sp>
      <p:sp>
        <p:nvSpPr>
          <p:cNvPr id="8" name="Text 5"/>
          <p:cNvSpPr txBox="1"/>
          <p:nvPr/>
        </p:nvSpPr>
        <p:spPr>
          <a:xfrm>
            <a:off x="8321040" y="1737360"/>
            <a:ext cx="329184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 / 12</a:t>
            </a:r>
            <a:endParaRPr lang="en-US" sz="4400" dirty="0"/>
          </a:p>
        </p:txBody>
      </p:sp>
      <p:sp>
        <p:nvSpPr>
          <p:cNvPr id="9" name="Text 6"/>
          <p:cNvSpPr txBox="1"/>
          <p:nvPr/>
        </p:nvSpPr>
        <p:spPr>
          <a:xfrm>
            <a:off x="8503920" y="2514600"/>
            <a:ext cx="2926080" cy="822960"/>
          </a:xfrm>
          <a:prstGeom prst="rect">
            <a:avLst/>
          </a:prstGeom>
          <a:noFill/>
          <a:ln/>
        </p:spPr>
        <p:txBody>
          <a:bodyPr wrap="square" lIns="0" tIns="0" rIns="0" bIns="0" rtlCol="0" anchor="ctr"/>
          <a:lstStyle/>
          <a:p>
            <a:pPr algn="ctr" indent="0" marL="0">
              <a:buNone/>
            </a:pPr>
            <a:r>
              <a:rPr lang="en-US" sz="1300" dirty="0">
                <a:solidFill>
                  <a:srgbClr val="C7D0F5"/>
                </a:solidFill>
                <a:latin typeface="Calibri" pitchFamily="34" charset="0"/>
                <a:ea typeface="Calibri" pitchFamily="34" charset="-122"/>
                <a:cs typeface="Calibri" pitchFamily="34" charset="-120"/>
              </a:rPr>
              <a:t>phases fully complete</a:t>
            </a:r>
            <a:endParaRPr lang="en-US" sz="1300" dirty="0"/>
          </a:p>
          <a:p>
            <a:pPr algn="ctr" indent="0" marL="0">
              <a:buNone/>
            </a:pPr>
            <a:r>
              <a:rPr lang="en-US" sz="1300" dirty="0">
                <a:solidFill>
                  <a:srgbClr val="C7D0F5"/>
                </a:solidFill>
                <a:latin typeface="Calibri" pitchFamily="34" charset="0"/>
                <a:ea typeface="Calibri" pitchFamily="34" charset="-122"/>
                <a:cs typeface="Calibri" pitchFamily="34" charset="-120"/>
              </a:rPr>
              <a:t>and verified</a:t>
            </a:r>
            <a:endParaRPr lang="en-US" sz="1300" dirty="0"/>
          </a:p>
        </p:txBody>
      </p:sp>
      <p:sp>
        <p:nvSpPr>
          <p:cNvPr id="10" name="Shape 7"/>
          <p:cNvSpPr/>
          <p:nvPr/>
        </p:nvSpPr>
        <p:spPr>
          <a:xfrm>
            <a:off x="8321040" y="3657600"/>
            <a:ext cx="3291840" cy="1463040"/>
          </a:xfrm>
          <a:prstGeom prst="roundRect">
            <a:avLst>
              <a:gd name="adj" fmla="val 4375"/>
            </a:avLst>
          </a:prstGeom>
          <a:solidFill>
            <a:srgbClr val="FFFFFF"/>
          </a:solidFill>
          <a:ln/>
          <a:effectLst>
            <a:outerShdw sx="100000" sy="100000" kx="0" ky="0" algn="bl" rotWithShape="0" blurRad="76200" dist="25400" dir="5400000">
              <a:srgbClr val="9AA3C2">
                <a:alpha val="30000"/>
              </a:srgbClr>
            </a:outerShdw>
          </a:effectLst>
        </p:spPr>
      </p:sp>
      <p:sp>
        <p:nvSpPr>
          <p:cNvPr id="11" name="Text 8"/>
          <p:cNvSpPr txBox="1"/>
          <p:nvPr/>
        </p:nvSpPr>
        <p:spPr>
          <a:xfrm>
            <a:off x="8321040" y="3794760"/>
            <a:ext cx="3291840" cy="365760"/>
          </a:xfrm>
          <a:prstGeom prst="rect">
            <a:avLst/>
          </a:prstGeom>
          <a:noFill/>
          <a:ln/>
        </p:spPr>
        <p:txBody>
          <a:bodyPr wrap="square" lIns="0" tIns="0" rIns="0" bIns="0" rtlCol="0" anchor="ctr"/>
          <a:lstStyle/>
          <a:p>
            <a:pPr algn="ctr" indent="0" marL="0">
              <a:buNone/>
            </a:pPr>
            <a:r>
              <a:rPr lang="en-US" sz="1500" b="1" dirty="0">
                <a:solidFill>
                  <a:srgbClr val="2E9E5B"/>
                </a:solidFill>
                <a:latin typeface="Calibri" pitchFamily="34" charset="0"/>
                <a:ea typeface="Calibri" pitchFamily="34" charset="-122"/>
                <a:cs typeface="Calibri" pitchFamily="34" charset="-120"/>
              </a:rPr>
              <a:t>On track</a:t>
            </a:r>
            <a:endParaRPr lang="en-US" sz="1500" dirty="0"/>
          </a:p>
        </p:txBody>
      </p:sp>
      <p:sp>
        <p:nvSpPr>
          <p:cNvPr id="12" name="Text 9"/>
          <p:cNvSpPr txBox="1"/>
          <p:nvPr/>
        </p:nvSpPr>
        <p:spPr>
          <a:xfrm>
            <a:off x="8503920" y="4160520"/>
            <a:ext cx="2926080" cy="914400"/>
          </a:xfrm>
          <a:prstGeom prst="rect">
            <a:avLst/>
          </a:prstGeom>
          <a:noFill/>
          <a:ln/>
        </p:spPr>
        <p:txBody>
          <a:bodyPr wrap="square" lIns="0" tIns="0" rIns="0" bIns="0" rtlCol="0" anchor="ctr"/>
          <a:lstStyle/>
          <a:p>
            <a:pPr algn="ctr" indent="0" marL="0">
              <a:buNone/>
            </a:pPr>
            <a:r>
              <a:rPr lang="en-US" sz="1150" dirty="0">
                <a:solidFill>
                  <a:srgbClr val="5B6072"/>
                </a:solidFill>
                <a:latin typeface="Calibri" pitchFamily="34" charset="0"/>
                <a:ea typeface="Calibri" pitchFamily="34" charset="-122"/>
                <a:cs typeface="Calibri" pitchFamily="34" charset="-120"/>
              </a:rPr>
              <a:t>Core AI/ML pipeline (audio → search → RAG → vision) complete before extension phases</a:t>
            </a:r>
            <a:endParaRPr lang="en-US" sz="1150" dirty="0"/>
          </a:p>
        </p:txBody>
      </p:sp>
      <p:sp>
        <p:nvSpPr>
          <p:cNvPr id="13" name="Text 10"/>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2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WORKING MODULES</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Implementation &amp; Functional Progress</a:t>
            </a:r>
            <a:endParaRPr lang="en-US" sz="3000" dirty="0"/>
          </a:p>
        </p:txBody>
      </p:sp>
      <p:sp>
        <p:nvSpPr>
          <p:cNvPr id="6" name="Shape 4"/>
          <p:cNvSpPr/>
          <p:nvPr/>
        </p:nvSpPr>
        <p:spPr>
          <a:xfrm>
            <a:off x="548640" y="15544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7" name="Shape 5"/>
          <p:cNvSpPr/>
          <p:nvPr/>
        </p:nvSpPr>
        <p:spPr>
          <a:xfrm>
            <a:off x="731520" y="1737360"/>
            <a:ext cx="457200" cy="457200"/>
          </a:xfrm>
          <a:prstGeom prst="roundRect">
            <a:avLst>
              <a:gd name="adj" fmla="val 50000"/>
            </a:avLst>
          </a:prstGeom>
          <a:solidFill>
            <a:srgbClr val="6D8DFF"/>
          </a:solidFill>
          <a:ln/>
        </p:spPr>
      </p:sp>
      <p:sp>
        <p:nvSpPr>
          <p:cNvPr id="8" name="Text 6"/>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325880" y="17190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Video Ingestion</a:t>
            </a:r>
            <a:endParaRPr lang="en-US" sz="1400" dirty="0"/>
          </a:p>
        </p:txBody>
      </p:sp>
      <p:sp>
        <p:nvSpPr>
          <p:cNvPr id="10" name="Text 8"/>
          <p:cNvSpPr txBox="1"/>
          <p:nvPr/>
        </p:nvSpPr>
        <p:spPr>
          <a:xfrm>
            <a:off x="731520" y="22402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Upload a file OR paste a YouTube URL — both feed the identical downstream pipeline</a:t>
            </a:r>
            <a:endParaRPr lang="en-US" sz="1050" dirty="0"/>
          </a:p>
        </p:txBody>
      </p:sp>
      <p:sp>
        <p:nvSpPr>
          <p:cNvPr id="11" name="Shape 9"/>
          <p:cNvSpPr/>
          <p:nvPr/>
        </p:nvSpPr>
        <p:spPr>
          <a:xfrm>
            <a:off x="4297680" y="15544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12" name="Shape 10"/>
          <p:cNvSpPr/>
          <p:nvPr/>
        </p:nvSpPr>
        <p:spPr>
          <a:xfrm>
            <a:off x="4480560" y="1737360"/>
            <a:ext cx="457200" cy="457200"/>
          </a:xfrm>
          <a:prstGeom prst="roundRect">
            <a:avLst>
              <a:gd name="adj" fmla="val 50000"/>
            </a:avLst>
          </a:prstGeom>
          <a:solidFill>
            <a:srgbClr val="6D8DFF"/>
          </a:solidFill>
          <a:ln/>
        </p:spPr>
      </p:sp>
      <p:sp>
        <p:nvSpPr>
          <p:cNvPr id="13" name="Text 11"/>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5074920" y="17190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Speech Transcription</a:t>
            </a:r>
            <a:endParaRPr lang="en-US" sz="1400" dirty="0"/>
          </a:p>
        </p:txBody>
      </p:sp>
      <p:sp>
        <p:nvSpPr>
          <p:cNvPr id="15" name="Text 13"/>
          <p:cNvSpPr txBox="1"/>
          <p:nvPr/>
        </p:nvSpPr>
        <p:spPr>
          <a:xfrm>
            <a:off x="4480560" y="22402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Faster-Whisper converts audio to timestamped text (CPU, quantized)</a:t>
            </a:r>
            <a:endParaRPr lang="en-US" sz="1050" dirty="0"/>
          </a:p>
        </p:txBody>
      </p:sp>
      <p:sp>
        <p:nvSpPr>
          <p:cNvPr id="16" name="Shape 14"/>
          <p:cNvSpPr/>
          <p:nvPr/>
        </p:nvSpPr>
        <p:spPr>
          <a:xfrm>
            <a:off x="8046720" y="15544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17" name="Shape 15"/>
          <p:cNvSpPr/>
          <p:nvPr/>
        </p:nvSpPr>
        <p:spPr>
          <a:xfrm>
            <a:off x="8229600" y="1737360"/>
            <a:ext cx="457200" cy="457200"/>
          </a:xfrm>
          <a:prstGeom prst="roundRect">
            <a:avLst>
              <a:gd name="adj" fmla="val 50000"/>
            </a:avLst>
          </a:prstGeom>
          <a:solidFill>
            <a:srgbClr val="6D8DFF"/>
          </a:solidFill>
          <a:ln/>
        </p:spPr>
      </p:sp>
      <p:sp>
        <p:nvSpPr>
          <p:cNvPr id="18" name="Text 16"/>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823960" y="17190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Chunking + Embeddings</a:t>
            </a:r>
            <a:endParaRPr lang="en-US" sz="1400" dirty="0"/>
          </a:p>
        </p:txBody>
      </p:sp>
      <p:sp>
        <p:nvSpPr>
          <p:cNvPr id="20" name="Text 18"/>
          <p:cNvSpPr txBox="1"/>
          <p:nvPr/>
        </p:nvSpPr>
        <p:spPr>
          <a:xfrm>
            <a:off x="8229600" y="22402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Transcript split into semantically searchable, timestamp-exact chunks</a:t>
            </a:r>
            <a:endParaRPr lang="en-US" sz="1050" dirty="0"/>
          </a:p>
        </p:txBody>
      </p:sp>
      <p:sp>
        <p:nvSpPr>
          <p:cNvPr id="21" name="Shape 19"/>
          <p:cNvSpPr/>
          <p:nvPr/>
        </p:nvSpPr>
        <p:spPr>
          <a:xfrm>
            <a:off x="548640" y="31546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22" name="Shape 20"/>
          <p:cNvSpPr/>
          <p:nvPr/>
        </p:nvSpPr>
        <p:spPr>
          <a:xfrm>
            <a:off x="731520" y="3337560"/>
            <a:ext cx="457200" cy="457200"/>
          </a:xfrm>
          <a:prstGeom prst="roundRect">
            <a:avLst>
              <a:gd name="adj" fmla="val 50000"/>
            </a:avLst>
          </a:prstGeom>
          <a:solidFill>
            <a:srgbClr val="6D8DFF"/>
          </a:solidFill>
          <a:ln/>
        </p:spPr>
      </p:sp>
      <p:sp>
        <p:nvSpPr>
          <p:cNvPr id="23" name="Text 21"/>
          <p:cNvSpPr txBox="1"/>
          <p:nvPr/>
        </p:nvSpPr>
        <p:spPr>
          <a:xfrm>
            <a:off x="73152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325880" y="33192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Vector Search</a:t>
            </a:r>
            <a:endParaRPr lang="en-US" sz="1400" dirty="0"/>
          </a:p>
        </p:txBody>
      </p:sp>
      <p:sp>
        <p:nvSpPr>
          <p:cNvPr id="25" name="Text 23"/>
          <p:cNvSpPr txBox="1"/>
          <p:nvPr/>
        </p:nvSpPr>
        <p:spPr>
          <a:xfrm>
            <a:off x="731520" y="38404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ChromaDB semantic search — find the right moment by meaning, not keywords</a:t>
            </a:r>
            <a:endParaRPr lang="en-US" sz="1050" dirty="0"/>
          </a:p>
        </p:txBody>
      </p:sp>
      <p:sp>
        <p:nvSpPr>
          <p:cNvPr id="26" name="Shape 24"/>
          <p:cNvSpPr/>
          <p:nvPr/>
        </p:nvSpPr>
        <p:spPr>
          <a:xfrm>
            <a:off x="4297680" y="31546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27" name="Shape 25"/>
          <p:cNvSpPr/>
          <p:nvPr/>
        </p:nvSpPr>
        <p:spPr>
          <a:xfrm>
            <a:off x="4480560" y="3337560"/>
            <a:ext cx="457200" cy="457200"/>
          </a:xfrm>
          <a:prstGeom prst="roundRect">
            <a:avLst>
              <a:gd name="adj" fmla="val 50000"/>
            </a:avLst>
          </a:prstGeom>
          <a:solidFill>
            <a:srgbClr val="6D8DFF"/>
          </a:solidFill>
          <a:ln/>
        </p:spPr>
      </p:sp>
      <p:sp>
        <p:nvSpPr>
          <p:cNvPr id="28" name="Text 26"/>
          <p:cNvSpPr txBox="1"/>
          <p:nvPr/>
        </p:nvSpPr>
        <p:spPr>
          <a:xfrm>
            <a:off x="448056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5074920" y="33192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RAG Question Answering</a:t>
            </a:r>
            <a:endParaRPr lang="en-US" sz="1400" dirty="0"/>
          </a:p>
        </p:txBody>
      </p:sp>
      <p:sp>
        <p:nvSpPr>
          <p:cNvPr id="30" name="Text 28"/>
          <p:cNvSpPr txBox="1"/>
          <p:nvPr/>
        </p:nvSpPr>
        <p:spPr>
          <a:xfrm>
            <a:off x="4480560" y="38404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Local LLM answers questions, grounded in retrieved transcript text, with citations</a:t>
            </a:r>
            <a:endParaRPr lang="en-US" sz="1050" dirty="0"/>
          </a:p>
        </p:txBody>
      </p:sp>
      <p:sp>
        <p:nvSpPr>
          <p:cNvPr id="31" name="Shape 29"/>
          <p:cNvSpPr/>
          <p:nvPr/>
        </p:nvSpPr>
        <p:spPr>
          <a:xfrm>
            <a:off x="8046720" y="3154680"/>
            <a:ext cx="3566160" cy="1417320"/>
          </a:xfrm>
          <a:prstGeom prst="roundRect">
            <a:avLst>
              <a:gd name="adj" fmla="val 4516"/>
            </a:avLst>
          </a:prstGeom>
          <a:solidFill>
            <a:srgbClr val="FFFFFF"/>
          </a:solidFill>
          <a:ln/>
          <a:effectLst>
            <a:outerShdw sx="100000" sy="100000" kx="0" ky="0" algn="bl" rotWithShape="0" blurRad="76200" dist="25400" dir="5400000">
              <a:srgbClr val="9AA3C2">
                <a:alpha val="30000"/>
              </a:srgbClr>
            </a:outerShdw>
          </a:effectLst>
        </p:spPr>
      </p:sp>
      <p:sp>
        <p:nvSpPr>
          <p:cNvPr id="32" name="Shape 30"/>
          <p:cNvSpPr/>
          <p:nvPr/>
        </p:nvSpPr>
        <p:spPr>
          <a:xfrm>
            <a:off x="8229600" y="3337560"/>
            <a:ext cx="457200" cy="457200"/>
          </a:xfrm>
          <a:prstGeom prst="roundRect">
            <a:avLst>
              <a:gd name="adj" fmla="val 50000"/>
            </a:avLst>
          </a:prstGeom>
          <a:solidFill>
            <a:srgbClr val="6D8DFF"/>
          </a:solidFill>
          <a:ln/>
        </p:spPr>
      </p:sp>
      <p:sp>
        <p:nvSpPr>
          <p:cNvPr id="33" name="Text 31"/>
          <p:cNvSpPr txBox="1"/>
          <p:nvPr/>
        </p:nvSpPr>
        <p:spPr>
          <a:xfrm>
            <a:off x="822960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txBox="1"/>
          <p:nvPr/>
        </p:nvSpPr>
        <p:spPr>
          <a:xfrm>
            <a:off x="8823960" y="3319272"/>
            <a:ext cx="2651760" cy="457200"/>
          </a:xfrm>
          <a:prstGeom prst="rect">
            <a:avLst/>
          </a:prstGeom>
          <a:noFill/>
          <a:ln/>
        </p:spPr>
        <p:txBody>
          <a:bodyPr wrap="square" lIns="0" tIns="0" rIns="0" bIns="0" rtlCol="0" anchor="t"/>
          <a:lstStyle/>
          <a:p>
            <a:pPr indent="0" marL="0">
              <a:buNone/>
            </a:pPr>
            <a:r>
              <a:rPr lang="en-US" sz="1400" b="1" dirty="0">
                <a:solidFill>
                  <a:srgbClr val="1A1D29"/>
                </a:solidFill>
                <a:latin typeface="Calibri" pitchFamily="34" charset="0"/>
                <a:ea typeface="Calibri" pitchFamily="34" charset="-122"/>
                <a:cs typeface="Calibri" pitchFamily="34" charset="-120"/>
              </a:rPr>
              <a:t>Visual Search (CLIP)</a:t>
            </a:r>
            <a:endParaRPr lang="en-US" sz="1400" dirty="0"/>
          </a:p>
        </p:txBody>
      </p:sp>
      <p:sp>
        <p:nvSpPr>
          <p:cNvPr id="35" name="Text 33"/>
          <p:cNvSpPr txBox="1"/>
          <p:nvPr/>
        </p:nvSpPr>
        <p:spPr>
          <a:xfrm>
            <a:off x="8229600" y="3840480"/>
            <a:ext cx="3200400" cy="685800"/>
          </a:xfrm>
          <a:prstGeom prst="rect">
            <a:avLst/>
          </a:prstGeom>
          <a:noFill/>
          <a:ln/>
        </p:spPr>
        <p:txBody>
          <a:bodyPr wrap="square" lIns="0" tIns="0" rIns="0" bIns="0" rtlCol="0" anchor="ctr"/>
          <a:lstStyle/>
          <a:p>
            <a:pPr indent="0" marL="0">
              <a:buNone/>
            </a:pPr>
            <a:r>
              <a:rPr lang="en-US" sz="1050" dirty="0">
                <a:solidFill>
                  <a:srgbClr val="5B6072"/>
                </a:solidFill>
                <a:latin typeface="Calibri" pitchFamily="34" charset="0"/>
                <a:ea typeface="Calibri" pitchFamily="34" charset="-122"/>
                <a:cs typeface="Calibri" pitchFamily="34" charset="-120"/>
              </a:rPr>
              <a:t>Frames sampled and embedded — search video content by describing what's shown</a:t>
            </a:r>
            <a:endParaRPr lang="en-US" sz="1050" dirty="0"/>
          </a:p>
        </p:txBody>
      </p:sp>
      <p:sp>
        <p:nvSpPr>
          <p:cNvPr id="36" name="Text 3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3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SYSTEM DESIGN</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Two Pipelines, One Retrieval Layer</a:t>
            </a:r>
            <a:endParaRPr lang="en-US" sz="3000" dirty="0"/>
          </a:p>
        </p:txBody>
      </p:sp>
      <p:sp>
        <p:nvSpPr>
          <p:cNvPr id="6" name="Text 4"/>
          <p:cNvSpPr txBox="1"/>
          <p:nvPr/>
        </p:nvSpPr>
        <p:spPr>
          <a:xfrm>
            <a:off x="548640" y="1645920"/>
            <a:ext cx="1554480" cy="548640"/>
          </a:xfrm>
          <a:prstGeom prst="rect">
            <a:avLst/>
          </a:prstGeom>
          <a:noFill/>
          <a:ln/>
        </p:spPr>
        <p:txBody>
          <a:bodyPr wrap="square" lIns="0" tIns="0" rIns="0" bIns="0" rtlCol="0" anchor="ctr"/>
          <a:lstStyle/>
          <a:p>
            <a:pPr indent="0" marL="0">
              <a:buNone/>
            </a:pPr>
            <a:r>
              <a:rPr lang="en-US" sz="1300" b="1" dirty="0">
                <a:solidFill>
                  <a:srgbClr val="6D8DFF"/>
                </a:solidFill>
                <a:latin typeface="Calibri" pitchFamily="34" charset="0"/>
                <a:ea typeface="Calibri" pitchFamily="34" charset="-122"/>
                <a:cs typeface="Calibri" pitchFamily="34" charset="-120"/>
              </a:rPr>
              <a:t>Text</a:t>
            </a:r>
            <a:endParaRPr lang="en-US" sz="1300" dirty="0"/>
          </a:p>
          <a:p>
            <a:pPr indent="0" marL="0">
              <a:buNone/>
            </a:pPr>
            <a:r>
              <a:rPr lang="en-US" sz="1300" b="1" dirty="0">
                <a:solidFill>
                  <a:srgbClr val="6D8DFF"/>
                </a:solidFill>
                <a:latin typeface="Calibri" pitchFamily="34" charset="0"/>
                <a:ea typeface="Calibri" pitchFamily="34" charset="-122"/>
                <a:cs typeface="Calibri" pitchFamily="34" charset="-120"/>
              </a:rPr>
              <a:t>Pipeline</a:t>
            </a:r>
            <a:endParaRPr lang="en-US" sz="1300" dirty="0"/>
          </a:p>
        </p:txBody>
      </p:sp>
      <p:sp>
        <p:nvSpPr>
          <p:cNvPr id="7" name="Shape 5"/>
          <p:cNvSpPr/>
          <p:nvPr/>
        </p:nvSpPr>
        <p:spPr>
          <a:xfrm>
            <a:off x="2286000" y="1691640"/>
            <a:ext cx="1600200" cy="685800"/>
          </a:xfrm>
          <a:prstGeom prst="roundRect">
            <a:avLst>
              <a:gd name="adj" fmla="val 8000"/>
            </a:avLst>
          </a:prstGeom>
          <a:solidFill>
            <a:srgbClr val="FFFFFF"/>
          </a:solidFill>
          <a:ln w="15875">
            <a:solidFill>
              <a:srgbClr val="6D8DFF"/>
            </a:solidFill>
            <a:prstDash val="solid"/>
          </a:ln>
        </p:spPr>
      </p:sp>
      <p:sp>
        <p:nvSpPr>
          <p:cNvPr id="8" name="Text 6"/>
          <p:cNvSpPr txBox="1"/>
          <p:nvPr/>
        </p:nvSpPr>
        <p:spPr>
          <a:xfrm>
            <a:off x="2340864" y="169164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Video</a:t>
            </a:r>
            <a:endParaRPr lang="en-US" sz="1050" dirty="0"/>
          </a:p>
        </p:txBody>
      </p:sp>
      <p:sp>
        <p:nvSpPr>
          <p:cNvPr id="9" name="Text 7"/>
          <p:cNvSpPr txBox="1"/>
          <p:nvPr/>
        </p:nvSpPr>
        <p:spPr>
          <a:xfrm>
            <a:off x="3886200" y="1691640"/>
            <a:ext cx="256032" cy="685800"/>
          </a:xfrm>
          <a:prstGeom prst="rect">
            <a:avLst/>
          </a:prstGeom>
          <a:noFill/>
          <a:ln/>
        </p:spPr>
        <p:txBody>
          <a:bodyPr wrap="square" lIns="0" tIns="0" rIns="0" bIns="0" rtlCol="0" anchor="ctr"/>
          <a:lstStyle/>
          <a:p>
            <a:pPr algn="ctr" indent="0" marL="0">
              <a:buNone/>
            </a:pPr>
            <a:r>
              <a:rPr lang="en-US" sz="1600" b="1" dirty="0">
                <a:solidFill>
                  <a:srgbClr val="6D8DF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142232" y="1691640"/>
            <a:ext cx="1600200" cy="685800"/>
          </a:xfrm>
          <a:prstGeom prst="roundRect">
            <a:avLst>
              <a:gd name="adj" fmla="val 8000"/>
            </a:avLst>
          </a:prstGeom>
          <a:solidFill>
            <a:srgbClr val="FFFFFF"/>
          </a:solidFill>
          <a:ln w="15875">
            <a:solidFill>
              <a:srgbClr val="6D8DFF"/>
            </a:solidFill>
            <a:prstDash val="solid"/>
          </a:ln>
        </p:spPr>
      </p:sp>
      <p:sp>
        <p:nvSpPr>
          <p:cNvPr id="11" name="Text 9"/>
          <p:cNvSpPr txBox="1"/>
          <p:nvPr/>
        </p:nvSpPr>
        <p:spPr>
          <a:xfrm>
            <a:off x="4197096" y="169164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FFmpeg</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Audio</a:t>
            </a:r>
            <a:endParaRPr lang="en-US" sz="1050" dirty="0"/>
          </a:p>
        </p:txBody>
      </p:sp>
      <p:sp>
        <p:nvSpPr>
          <p:cNvPr id="12" name="Text 10"/>
          <p:cNvSpPr txBox="1"/>
          <p:nvPr/>
        </p:nvSpPr>
        <p:spPr>
          <a:xfrm>
            <a:off x="5742432" y="1691640"/>
            <a:ext cx="256032" cy="685800"/>
          </a:xfrm>
          <a:prstGeom prst="rect">
            <a:avLst/>
          </a:prstGeom>
          <a:noFill/>
          <a:ln/>
        </p:spPr>
        <p:txBody>
          <a:bodyPr wrap="square" lIns="0" tIns="0" rIns="0" bIns="0" rtlCol="0" anchor="ctr"/>
          <a:lstStyle/>
          <a:p>
            <a:pPr algn="ctr" indent="0" marL="0">
              <a:buNone/>
            </a:pPr>
            <a:r>
              <a:rPr lang="en-US" sz="1600" b="1" dirty="0">
                <a:solidFill>
                  <a:srgbClr val="6D8DF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998464" y="1691640"/>
            <a:ext cx="1600200" cy="685800"/>
          </a:xfrm>
          <a:prstGeom prst="roundRect">
            <a:avLst>
              <a:gd name="adj" fmla="val 8000"/>
            </a:avLst>
          </a:prstGeom>
          <a:solidFill>
            <a:srgbClr val="FFFFFF"/>
          </a:solidFill>
          <a:ln w="15875">
            <a:solidFill>
              <a:srgbClr val="6D8DFF"/>
            </a:solidFill>
            <a:prstDash val="solid"/>
          </a:ln>
        </p:spPr>
      </p:sp>
      <p:sp>
        <p:nvSpPr>
          <p:cNvPr id="14" name="Text 12"/>
          <p:cNvSpPr txBox="1"/>
          <p:nvPr/>
        </p:nvSpPr>
        <p:spPr>
          <a:xfrm>
            <a:off x="6053328" y="169164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Whisper</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Transcript</a:t>
            </a:r>
            <a:endParaRPr lang="en-US" sz="1050" dirty="0"/>
          </a:p>
        </p:txBody>
      </p:sp>
      <p:sp>
        <p:nvSpPr>
          <p:cNvPr id="15" name="Text 13"/>
          <p:cNvSpPr txBox="1"/>
          <p:nvPr/>
        </p:nvSpPr>
        <p:spPr>
          <a:xfrm>
            <a:off x="7598664" y="1691640"/>
            <a:ext cx="256032" cy="685800"/>
          </a:xfrm>
          <a:prstGeom prst="rect">
            <a:avLst/>
          </a:prstGeom>
          <a:noFill/>
          <a:ln/>
        </p:spPr>
        <p:txBody>
          <a:bodyPr wrap="square" lIns="0" tIns="0" rIns="0" bIns="0" rtlCol="0" anchor="ctr"/>
          <a:lstStyle/>
          <a:p>
            <a:pPr algn="ctr" indent="0" marL="0">
              <a:buNone/>
            </a:pPr>
            <a:r>
              <a:rPr lang="en-US" sz="1600" b="1" dirty="0">
                <a:solidFill>
                  <a:srgbClr val="6D8DF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854696" y="1691640"/>
            <a:ext cx="1600200" cy="685800"/>
          </a:xfrm>
          <a:prstGeom prst="roundRect">
            <a:avLst>
              <a:gd name="adj" fmla="val 8000"/>
            </a:avLst>
          </a:prstGeom>
          <a:solidFill>
            <a:srgbClr val="FFFFFF"/>
          </a:solidFill>
          <a:ln w="15875">
            <a:solidFill>
              <a:srgbClr val="6D8DFF"/>
            </a:solidFill>
            <a:prstDash val="solid"/>
          </a:ln>
        </p:spPr>
      </p:sp>
      <p:sp>
        <p:nvSpPr>
          <p:cNvPr id="17" name="Text 15"/>
          <p:cNvSpPr txBox="1"/>
          <p:nvPr/>
        </p:nvSpPr>
        <p:spPr>
          <a:xfrm>
            <a:off x="7909560" y="169164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Chunk +</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Embed</a:t>
            </a:r>
            <a:endParaRPr lang="en-US" sz="1050" dirty="0"/>
          </a:p>
        </p:txBody>
      </p:sp>
      <p:sp>
        <p:nvSpPr>
          <p:cNvPr id="18" name="Text 16"/>
          <p:cNvSpPr txBox="1"/>
          <p:nvPr/>
        </p:nvSpPr>
        <p:spPr>
          <a:xfrm>
            <a:off x="9454896" y="1691640"/>
            <a:ext cx="256032" cy="685800"/>
          </a:xfrm>
          <a:prstGeom prst="rect">
            <a:avLst/>
          </a:prstGeom>
          <a:noFill/>
          <a:ln/>
        </p:spPr>
        <p:txBody>
          <a:bodyPr wrap="square" lIns="0" tIns="0" rIns="0" bIns="0" rtlCol="0" anchor="ctr"/>
          <a:lstStyle/>
          <a:p>
            <a:pPr algn="ctr" indent="0" marL="0">
              <a:buNone/>
            </a:pPr>
            <a:r>
              <a:rPr lang="en-US" sz="1600" b="1" dirty="0">
                <a:solidFill>
                  <a:srgbClr val="6D8DF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9710928" y="1691640"/>
            <a:ext cx="1600200" cy="685800"/>
          </a:xfrm>
          <a:prstGeom prst="roundRect">
            <a:avLst>
              <a:gd name="adj" fmla="val 8000"/>
            </a:avLst>
          </a:prstGeom>
          <a:solidFill>
            <a:srgbClr val="FFFFFF"/>
          </a:solidFill>
          <a:ln w="15875">
            <a:solidFill>
              <a:srgbClr val="6D8DFF"/>
            </a:solidFill>
            <a:prstDash val="solid"/>
          </a:ln>
        </p:spPr>
      </p:sp>
      <p:sp>
        <p:nvSpPr>
          <p:cNvPr id="20" name="Text 18"/>
          <p:cNvSpPr txBox="1"/>
          <p:nvPr/>
        </p:nvSpPr>
        <p:spPr>
          <a:xfrm>
            <a:off x="9765792" y="169164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ChromaDB</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Index</a:t>
            </a:r>
            <a:endParaRPr lang="en-US" sz="1050" dirty="0"/>
          </a:p>
        </p:txBody>
      </p:sp>
      <p:sp>
        <p:nvSpPr>
          <p:cNvPr id="21" name="Text 19"/>
          <p:cNvSpPr txBox="1"/>
          <p:nvPr/>
        </p:nvSpPr>
        <p:spPr>
          <a:xfrm>
            <a:off x="548640" y="2651760"/>
            <a:ext cx="1554480" cy="548640"/>
          </a:xfrm>
          <a:prstGeom prst="rect">
            <a:avLst/>
          </a:prstGeom>
          <a:noFill/>
          <a:ln/>
        </p:spPr>
        <p:txBody>
          <a:bodyPr wrap="square" lIns="0" tIns="0" rIns="0" bIns="0" rtlCol="0" anchor="ctr"/>
          <a:lstStyle/>
          <a:p>
            <a:pPr indent="0" marL="0">
              <a:buNone/>
            </a:pPr>
            <a:r>
              <a:rPr lang="en-US" sz="1300" b="1" dirty="0">
                <a:solidFill>
                  <a:srgbClr val="8E44AD"/>
                </a:solidFill>
                <a:latin typeface="Calibri" pitchFamily="34" charset="0"/>
                <a:ea typeface="Calibri" pitchFamily="34" charset="-122"/>
                <a:cs typeface="Calibri" pitchFamily="34" charset="-120"/>
              </a:rPr>
              <a:t>Visual</a:t>
            </a:r>
            <a:endParaRPr lang="en-US" sz="1300" dirty="0"/>
          </a:p>
          <a:p>
            <a:pPr indent="0" marL="0">
              <a:buNone/>
            </a:pPr>
            <a:r>
              <a:rPr lang="en-US" sz="1300" b="1" dirty="0">
                <a:solidFill>
                  <a:srgbClr val="8E44AD"/>
                </a:solidFill>
                <a:latin typeface="Calibri" pitchFamily="34" charset="0"/>
                <a:ea typeface="Calibri" pitchFamily="34" charset="-122"/>
                <a:cs typeface="Calibri" pitchFamily="34" charset="-120"/>
              </a:rPr>
              <a:t>Pipeline</a:t>
            </a:r>
            <a:endParaRPr lang="en-US" sz="1300" dirty="0"/>
          </a:p>
        </p:txBody>
      </p:sp>
      <p:sp>
        <p:nvSpPr>
          <p:cNvPr id="22" name="Shape 20"/>
          <p:cNvSpPr/>
          <p:nvPr/>
        </p:nvSpPr>
        <p:spPr>
          <a:xfrm>
            <a:off x="2286000" y="2697480"/>
            <a:ext cx="1600200" cy="685800"/>
          </a:xfrm>
          <a:prstGeom prst="roundRect">
            <a:avLst>
              <a:gd name="adj" fmla="val 8000"/>
            </a:avLst>
          </a:prstGeom>
          <a:solidFill>
            <a:srgbClr val="FFFFFF"/>
          </a:solidFill>
          <a:ln w="15875">
            <a:solidFill>
              <a:srgbClr val="8E44AD"/>
            </a:solidFill>
            <a:prstDash val="solid"/>
          </a:ln>
        </p:spPr>
      </p:sp>
      <p:sp>
        <p:nvSpPr>
          <p:cNvPr id="23" name="Text 21"/>
          <p:cNvSpPr txBox="1"/>
          <p:nvPr/>
        </p:nvSpPr>
        <p:spPr>
          <a:xfrm>
            <a:off x="2340864" y="269748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Video</a:t>
            </a:r>
            <a:endParaRPr lang="en-US" sz="1050" dirty="0"/>
          </a:p>
        </p:txBody>
      </p:sp>
      <p:sp>
        <p:nvSpPr>
          <p:cNvPr id="24" name="Text 22"/>
          <p:cNvSpPr txBox="1"/>
          <p:nvPr/>
        </p:nvSpPr>
        <p:spPr>
          <a:xfrm>
            <a:off x="3886200" y="2697480"/>
            <a:ext cx="256032" cy="685800"/>
          </a:xfrm>
          <a:prstGeom prst="rect">
            <a:avLst/>
          </a:prstGeom>
          <a:noFill/>
          <a:ln/>
        </p:spPr>
        <p:txBody>
          <a:bodyPr wrap="square" lIns="0" tIns="0" rIns="0" bIns="0" rtlCol="0" anchor="ctr"/>
          <a:lstStyle/>
          <a:p>
            <a:pPr algn="ctr" indent="0" marL="0">
              <a:buNone/>
            </a:pPr>
            <a:r>
              <a:rPr lang="en-US" sz="1600" b="1" dirty="0">
                <a:solidFill>
                  <a:srgbClr val="8E44AD"/>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4142232" y="2697480"/>
            <a:ext cx="1600200" cy="685800"/>
          </a:xfrm>
          <a:prstGeom prst="roundRect">
            <a:avLst>
              <a:gd name="adj" fmla="val 8000"/>
            </a:avLst>
          </a:prstGeom>
          <a:solidFill>
            <a:srgbClr val="FFFFFF"/>
          </a:solidFill>
          <a:ln w="15875">
            <a:solidFill>
              <a:srgbClr val="8E44AD"/>
            </a:solidFill>
            <a:prstDash val="solid"/>
          </a:ln>
        </p:spPr>
      </p:sp>
      <p:sp>
        <p:nvSpPr>
          <p:cNvPr id="26" name="Text 24"/>
          <p:cNvSpPr txBox="1"/>
          <p:nvPr/>
        </p:nvSpPr>
        <p:spPr>
          <a:xfrm>
            <a:off x="4197096" y="269748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OpenCV</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Frames</a:t>
            </a:r>
            <a:endParaRPr lang="en-US" sz="1050" dirty="0"/>
          </a:p>
        </p:txBody>
      </p:sp>
      <p:sp>
        <p:nvSpPr>
          <p:cNvPr id="27" name="Text 25"/>
          <p:cNvSpPr txBox="1"/>
          <p:nvPr/>
        </p:nvSpPr>
        <p:spPr>
          <a:xfrm>
            <a:off x="5742432" y="2697480"/>
            <a:ext cx="256032" cy="685800"/>
          </a:xfrm>
          <a:prstGeom prst="rect">
            <a:avLst/>
          </a:prstGeom>
          <a:noFill/>
          <a:ln/>
        </p:spPr>
        <p:txBody>
          <a:bodyPr wrap="square" lIns="0" tIns="0" rIns="0" bIns="0" rtlCol="0" anchor="ctr"/>
          <a:lstStyle/>
          <a:p>
            <a:pPr algn="ctr" indent="0" marL="0">
              <a:buNone/>
            </a:pPr>
            <a:r>
              <a:rPr lang="en-US" sz="1600" b="1" dirty="0">
                <a:solidFill>
                  <a:srgbClr val="8E44AD"/>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5998464" y="2697480"/>
            <a:ext cx="1600200" cy="685800"/>
          </a:xfrm>
          <a:prstGeom prst="roundRect">
            <a:avLst>
              <a:gd name="adj" fmla="val 8000"/>
            </a:avLst>
          </a:prstGeom>
          <a:solidFill>
            <a:srgbClr val="FFFFFF"/>
          </a:solidFill>
          <a:ln w="15875">
            <a:solidFill>
              <a:srgbClr val="8E44AD"/>
            </a:solidFill>
            <a:prstDash val="solid"/>
          </a:ln>
        </p:spPr>
      </p:sp>
      <p:sp>
        <p:nvSpPr>
          <p:cNvPr id="29" name="Text 27"/>
          <p:cNvSpPr txBox="1"/>
          <p:nvPr/>
        </p:nvSpPr>
        <p:spPr>
          <a:xfrm>
            <a:off x="6053328" y="269748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CLIP</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Embed</a:t>
            </a:r>
            <a:endParaRPr lang="en-US" sz="1050" dirty="0"/>
          </a:p>
        </p:txBody>
      </p:sp>
      <p:sp>
        <p:nvSpPr>
          <p:cNvPr id="30" name="Text 28"/>
          <p:cNvSpPr txBox="1"/>
          <p:nvPr/>
        </p:nvSpPr>
        <p:spPr>
          <a:xfrm>
            <a:off x="7598664" y="2697480"/>
            <a:ext cx="256032" cy="685800"/>
          </a:xfrm>
          <a:prstGeom prst="rect">
            <a:avLst/>
          </a:prstGeom>
          <a:noFill/>
          <a:ln/>
        </p:spPr>
        <p:txBody>
          <a:bodyPr wrap="square" lIns="0" tIns="0" rIns="0" bIns="0" rtlCol="0" anchor="ctr"/>
          <a:lstStyle/>
          <a:p>
            <a:pPr algn="ctr" indent="0" marL="0">
              <a:buNone/>
            </a:pPr>
            <a:r>
              <a:rPr lang="en-US" sz="1600" b="1" dirty="0">
                <a:solidFill>
                  <a:srgbClr val="8E44AD"/>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7854696" y="2697480"/>
            <a:ext cx="1600200" cy="685800"/>
          </a:xfrm>
          <a:prstGeom prst="roundRect">
            <a:avLst>
              <a:gd name="adj" fmla="val 8000"/>
            </a:avLst>
          </a:prstGeom>
          <a:solidFill>
            <a:srgbClr val="FFFFFF"/>
          </a:solidFill>
          <a:ln w="15875">
            <a:solidFill>
              <a:srgbClr val="8E44AD"/>
            </a:solidFill>
            <a:prstDash val="solid"/>
          </a:ln>
        </p:spPr>
      </p:sp>
      <p:sp>
        <p:nvSpPr>
          <p:cNvPr id="32" name="Text 30"/>
          <p:cNvSpPr txBox="1"/>
          <p:nvPr/>
        </p:nvSpPr>
        <p:spPr>
          <a:xfrm>
            <a:off x="7909560" y="2697480"/>
            <a:ext cx="1490472" cy="685800"/>
          </a:xfrm>
          <a:prstGeom prst="rect">
            <a:avLst/>
          </a:prstGeom>
          <a:noFill/>
          <a:ln/>
        </p:spPr>
        <p:txBody>
          <a:bodyPr wrap="square" lIns="0" tIns="0" rIns="0" bIns="0" rtlCol="0" anchor="ctr"/>
          <a:lstStyle/>
          <a:p>
            <a:pPr algn="ctr" indent="0" marL="0">
              <a:buNone/>
            </a:pPr>
            <a:r>
              <a:rPr lang="en-US" sz="1050" b="1" dirty="0">
                <a:solidFill>
                  <a:srgbClr val="1A1D29"/>
                </a:solidFill>
                <a:latin typeface="Calibri" pitchFamily="34" charset="0"/>
                <a:ea typeface="Calibri" pitchFamily="34" charset="-122"/>
                <a:cs typeface="Calibri" pitchFamily="34" charset="-120"/>
              </a:rPr>
              <a:t>ChromaDB</a:t>
            </a:r>
            <a:endParaRPr lang="en-US" sz="1050" dirty="0"/>
          </a:p>
          <a:p>
            <a:pPr algn="ctr" indent="0" marL="0">
              <a:buNone/>
            </a:pPr>
            <a:r>
              <a:rPr lang="en-US" sz="1050" b="1" dirty="0">
                <a:solidFill>
                  <a:srgbClr val="1A1D29"/>
                </a:solidFill>
                <a:latin typeface="Calibri" pitchFamily="34" charset="0"/>
                <a:ea typeface="Calibri" pitchFamily="34" charset="-122"/>
                <a:cs typeface="Calibri" pitchFamily="34" charset="-120"/>
              </a:rPr>
              <a:t>Index</a:t>
            </a:r>
            <a:endParaRPr lang="en-US" sz="1050" dirty="0"/>
          </a:p>
        </p:txBody>
      </p:sp>
      <p:sp>
        <p:nvSpPr>
          <p:cNvPr id="33" name="Shape 31"/>
          <p:cNvSpPr/>
          <p:nvPr/>
        </p:nvSpPr>
        <p:spPr>
          <a:xfrm>
            <a:off x="548640" y="3794760"/>
            <a:ext cx="11064240" cy="1005840"/>
          </a:xfrm>
          <a:prstGeom prst="roundRect">
            <a:avLst>
              <a:gd name="adj" fmla="val 5455"/>
            </a:avLst>
          </a:prstGeom>
          <a:solidFill>
            <a:srgbClr val="12163A"/>
          </a:solidFill>
          <a:ln/>
        </p:spPr>
      </p:sp>
      <p:sp>
        <p:nvSpPr>
          <p:cNvPr id="34" name="Text 32"/>
          <p:cNvSpPr txBox="1"/>
          <p:nvPr/>
        </p:nvSpPr>
        <p:spPr>
          <a:xfrm>
            <a:off x="731520" y="3794760"/>
            <a:ext cx="1069848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User Question  →  Query Embedding  →  Retrieval (top-K matches)  →  LLM (Qwen2.5-3B, local)  →  Answer + Exact Timestamps</a:t>
            </a:r>
            <a:endParaRPr lang="en-US" sz="1500" dirty="0"/>
          </a:p>
        </p:txBody>
      </p:sp>
      <p:sp>
        <p:nvSpPr>
          <p:cNvPr id="35" name="Text 33"/>
          <p:cNvSpPr txBox="1"/>
          <p:nvPr/>
        </p:nvSpPr>
        <p:spPr>
          <a:xfrm>
            <a:off x="548640" y="5074920"/>
            <a:ext cx="11064240" cy="548640"/>
          </a:xfrm>
          <a:prstGeom prst="rect">
            <a:avLst/>
          </a:prstGeom>
          <a:noFill/>
          <a:ln/>
        </p:spPr>
        <p:txBody>
          <a:bodyPr wrap="square" lIns="0" tIns="0" rIns="0" bIns="0" rtlCol="0" anchor="ctr"/>
          <a:lstStyle/>
          <a:p>
            <a:pPr indent="0" marL="0">
              <a:buNone/>
            </a:pPr>
            <a:r>
              <a:rPr lang="en-US" sz="1250" i="1" dirty="0">
                <a:solidFill>
                  <a:srgbClr val="5B6072"/>
                </a:solidFill>
                <a:latin typeface="Calibri" pitchFamily="34" charset="0"/>
                <a:ea typeface="Calibri" pitchFamily="34" charset="-122"/>
                <a:cs typeface="Calibri" pitchFamily="34" charset="-120"/>
              </a:rPr>
              <a:t>Design invariant: every stage preserves exact timestamps — transcription → chunking → embedding → retrieval → answer. No stage ever interpolates or approximates a timestamp.</a:t>
            </a:r>
            <a:endParaRPr lang="en-US" sz="1250" dirty="0"/>
          </a:p>
        </p:txBody>
      </p:sp>
      <p:sp>
        <p:nvSpPr>
          <p:cNvPr id="36" name="Text 3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3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CORRECT TOOLS &amp; METHODS</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Technology Stack — Chosen, Not Defaulted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103120"/>
                <a:gridCol w="3108960"/>
                <a:gridCol w="585216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This Choice</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API Server</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FastAPI + Uvicorn + Pydantic</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Async, typed, auto-documented</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Speech-to-Text</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Faster-Whisper (base, int8)</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CTranslate2 engine: 2-4x faster than reference Whisper on CPU</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Text Embeddings</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Sentence-Transformers (MiniLM)</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Small, fast, CPU-suited sentence encoder</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Visual Embeddings</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CLIP (ViT-B/32)</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Only model type embedding images + text into one comparable space</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Vector Database</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ChromaDB (embedded)</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No server process; native cosine-similarity search</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LLM</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Qwen2.5-3B via Ollama (local)</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Free, private, sized to 8 GB RAM / no usable GPU</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48640">
                <a:tc>
                  <a:txBody>
                    <a:bodyPr/>
                    <a:lstStyle/>
                    <a:p>
                      <a:pPr indent="0" marL="0">
                        <a:buNone/>
                      </a:pPr>
                      <a:r>
                        <a:rPr lang="en-US" sz="1250" b="1" dirty="0">
                          <a:solidFill>
                            <a:srgbClr val="1A1D29"/>
                          </a:solidFill>
                          <a:latin typeface="Calibri" pitchFamily="34" charset="0"/>
                          <a:ea typeface="Calibri" pitchFamily="34" charset="-122"/>
                          <a:cs typeface="Calibri" pitchFamily="34" charset="-120"/>
                        </a:rPr>
                        <a:t>Ingestion</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250" dirty="0">
                          <a:solidFill>
                            <a:srgbClr val="1A1D29"/>
                          </a:solidFill>
                          <a:latin typeface="Calibri" pitchFamily="34" charset="0"/>
                          <a:ea typeface="Calibri" pitchFamily="34" charset="-122"/>
                          <a:cs typeface="Calibri" pitchFamily="34" charset="-120"/>
                        </a:rPr>
                        <a:t>FFmpeg, OpenCV, yt-dlp</a:t>
                      </a:r>
                      <a:endParaRPr lang="en-US" sz="12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One file OR one URL, same downstream pipeline</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bl>
          </a:graphicData>
        </a:graphic>
      </p:graphicFrame>
      <p:sp>
        <p:nvSpPr>
          <p:cNvPr id="7" name="Text 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3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DEPTH OF TECHNICAL UNDERSTANDING</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Key Technical Decisions &amp; Justifications</a:t>
            </a:r>
            <a:endParaRPr lang="en-US" sz="3000" dirty="0"/>
          </a:p>
        </p:txBody>
      </p:sp>
      <p:sp>
        <p:nvSpPr>
          <p:cNvPr id="6" name="Shape 4"/>
          <p:cNvSpPr/>
          <p:nvPr/>
        </p:nvSpPr>
        <p:spPr>
          <a:xfrm>
            <a:off x="548640" y="1554480"/>
            <a:ext cx="5349240" cy="2148840"/>
          </a:xfrm>
          <a:prstGeom prst="roundRect">
            <a:avLst>
              <a:gd name="adj" fmla="val 2979"/>
            </a:avLst>
          </a:prstGeom>
          <a:solidFill>
            <a:srgbClr val="FFFFFF"/>
          </a:solidFill>
          <a:ln/>
          <a:effectLst>
            <a:outerShdw sx="100000" sy="100000" kx="0" ky="0" algn="bl" rotWithShape="0" blurRad="76200" dist="25400" dir="5400000">
              <a:srgbClr val="9AA3C2">
                <a:alpha val="30000"/>
              </a:srgbClr>
            </a:outerShdw>
          </a:effectLst>
        </p:spPr>
      </p:sp>
      <p:sp>
        <p:nvSpPr>
          <p:cNvPr id="7" name="Shape 5"/>
          <p:cNvSpPr/>
          <p:nvPr/>
        </p:nvSpPr>
        <p:spPr>
          <a:xfrm>
            <a:off x="804672" y="1810512"/>
            <a:ext cx="73152" cy="457200"/>
          </a:xfrm>
          <a:prstGeom prst="rect">
            <a:avLst/>
          </a:prstGeom>
          <a:solidFill>
            <a:srgbClr val="6D8DFF"/>
          </a:solidFill>
          <a:ln/>
        </p:spPr>
      </p:sp>
      <p:sp>
        <p:nvSpPr>
          <p:cNvPr id="8" name="Text 6"/>
          <p:cNvSpPr txBox="1"/>
          <p:nvPr/>
        </p:nvSpPr>
        <p:spPr>
          <a:xfrm>
            <a:off x="1005840" y="1755648"/>
            <a:ext cx="4663440" cy="54864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Cosine similarity, normalized</a:t>
            </a:r>
            <a:endParaRPr lang="en-US" sz="1450" dirty="0"/>
          </a:p>
        </p:txBody>
      </p:sp>
      <p:sp>
        <p:nvSpPr>
          <p:cNvPr id="9" name="Text 7"/>
          <p:cNvSpPr txBox="1"/>
          <p:nvPr/>
        </p:nvSpPr>
        <p:spPr>
          <a:xfrm>
            <a:off x="822960" y="2423160"/>
            <a:ext cx="4800600" cy="114300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MiniLM/CLIP are trained/evaluated on cosine similarity. Vectors are L2-normalized so cosine reduces to a cheap dot product — matching what the vector DB optimizes for.</a:t>
            </a:r>
            <a:endParaRPr lang="en-US" sz="1200" dirty="0"/>
          </a:p>
        </p:txBody>
      </p:sp>
      <p:sp>
        <p:nvSpPr>
          <p:cNvPr id="10" name="Shape 8"/>
          <p:cNvSpPr/>
          <p:nvPr/>
        </p:nvSpPr>
        <p:spPr>
          <a:xfrm>
            <a:off x="6263640" y="1554480"/>
            <a:ext cx="5349240" cy="2148840"/>
          </a:xfrm>
          <a:prstGeom prst="roundRect">
            <a:avLst>
              <a:gd name="adj" fmla="val 2979"/>
            </a:avLst>
          </a:prstGeom>
          <a:solidFill>
            <a:srgbClr val="FFFFFF"/>
          </a:solidFill>
          <a:ln/>
          <a:effectLst>
            <a:outerShdw sx="100000" sy="100000" kx="0" ky="0" algn="bl" rotWithShape="0" blurRad="76200" dist="25400" dir="5400000">
              <a:srgbClr val="9AA3C2">
                <a:alpha val="30000"/>
              </a:srgbClr>
            </a:outerShdw>
          </a:effectLst>
        </p:spPr>
      </p:sp>
      <p:sp>
        <p:nvSpPr>
          <p:cNvPr id="11" name="Shape 9"/>
          <p:cNvSpPr/>
          <p:nvPr/>
        </p:nvSpPr>
        <p:spPr>
          <a:xfrm>
            <a:off x="6519672" y="1810512"/>
            <a:ext cx="73152" cy="457200"/>
          </a:xfrm>
          <a:prstGeom prst="rect">
            <a:avLst/>
          </a:prstGeom>
          <a:solidFill>
            <a:srgbClr val="6D8DFF"/>
          </a:solidFill>
          <a:ln/>
        </p:spPr>
      </p:sp>
      <p:sp>
        <p:nvSpPr>
          <p:cNvPr id="12" name="Text 10"/>
          <p:cNvSpPr txBox="1"/>
          <p:nvPr/>
        </p:nvSpPr>
        <p:spPr>
          <a:xfrm>
            <a:off x="6720840" y="1755648"/>
            <a:ext cx="4663440" cy="54864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Citations from retrieval, not generation</a:t>
            </a:r>
            <a:endParaRPr lang="en-US" sz="1450" dirty="0"/>
          </a:p>
        </p:txBody>
      </p:sp>
      <p:sp>
        <p:nvSpPr>
          <p:cNvPr id="13" name="Text 11"/>
          <p:cNvSpPr txBox="1"/>
          <p:nvPr/>
        </p:nvSpPr>
        <p:spPr>
          <a:xfrm>
            <a:off x="6537960" y="2423160"/>
            <a:ext cx="4800600" cy="114300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The LLM only writes the answer text. Timestamps/citations are attached from the retrieval results our own code already trusts — a 3B model asked to also emit exact citations would be unreliable.</a:t>
            </a:r>
            <a:endParaRPr lang="en-US" sz="1200" dirty="0"/>
          </a:p>
        </p:txBody>
      </p:sp>
      <p:sp>
        <p:nvSpPr>
          <p:cNvPr id="14" name="Shape 12"/>
          <p:cNvSpPr/>
          <p:nvPr/>
        </p:nvSpPr>
        <p:spPr>
          <a:xfrm>
            <a:off x="548640" y="3931920"/>
            <a:ext cx="5349240" cy="2148840"/>
          </a:xfrm>
          <a:prstGeom prst="roundRect">
            <a:avLst>
              <a:gd name="adj" fmla="val 2979"/>
            </a:avLst>
          </a:prstGeom>
          <a:solidFill>
            <a:srgbClr val="FFFFFF"/>
          </a:solidFill>
          <a:ln/>
          <a:effectLst>
            <a:outerShdw sx="100000" sy="100000" kx="0" ky="0" algn="bl" rotWithShape="0" blurRad="76200" dist="25400" dir="5400000">
              <a:srgbClr val="9AA3C2">
                <a:alpha val="30000"/>
              </a:srgbClr>
            </a:outerShdw>
          </a:effectLst>
        </p:spPr>
      </p:sp>
      <p:sp>
        <p:nvSpPr>
          <p:cNvPr id="15" name="Shape 13"/>
          <p:cNvSpPr/>
          <p:nvPr/>
        </p:nvSpPr>
        <p:spPr>
          <a:xfrm>
            <a:off x="804672" y="4187952"/>
            <a:ext cx="73152" cy="457200"/>
          </a:xfrm>
          <a:prstGeom prst="rect">
            <a:avLst/>
          </a:prstGeom>
          <a:solidFill>
            <a:srgbClr val="6D8DFF"/>
          </a:solidFill>
          <a:ln/>
        </p:spPr>
      </p:sp>
      <p:sp>
        <p:nvSpPr>
          <p:cNvPr id="16" name="Text 14"/>
          <p:cNvSpPr txBox="1"/>
          <p:nvPr/>
        </p:nvSpPr>
        <p:spPr>
          <a:xfrm>
            <a:off x="1005840" y="4133088"/>
            <a:ext cx="4663440" cy="54864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Chunk by merging Whisper segments</a:t>
            </a:r>
            <a:endParaRPr lang="en-US" sz="1450" dirty="0"/>
          </a:p>
        </p:txBody>
      </p:sp>
      <p:sp>
        <p:nvSpPr>
          <p:cNvPr id="17" name="Text 15"/>
          <p:cNvSpPr txBox="1"/>
          <p:nvPr/>
        </p:nvSpPr>
        <p:spPr>
          <a:xfrm>
            <a:off x="822960" y="4800600"/>
            <a:ext cx="4800600" cy="114300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Never cut text at a fixed character offset. Every chunk boundary is a real, measured timestamp — never interpolated.</a:t>
            </a:r>
            <a:endParaRPr lang="en-US" sz="1200" dirty="0"/>
          </a:p>
        </p:txBody>
      </p:sp>
      <p:sp>
        <p:nvSpPr>
          <p:cNvPr id="18" name="Shape 16"/>
          <p:cNvSpPr/>
          <p:nvPr/>
        </p:nvSpPr>
        <p:spPr>
          <a:xfrm>
            <a:off x="6263640" y="3931920"/>
            <a:ext cx="5349240" cy="2148840"/>
          </a:xfrm>
          <a:prstGeom prst="roundRect">
            <a:avLst>
              <a:gd name="adj" fmla="val 2979"/>
            </a:avLst>
          </a:prstGeom>
          <a:solidFill>
            <a:srgbClr val="FFFFFF"/>
          </a:solidFill>
          <a:ln/>
          <a:effectLst>
            <a:outerShdw sx="100000" sy="100000" kx="0" ky="0" algn="bl" rotWithShape="0" blurRad="76200" dist="25400" dir="5400000">
              <a:srgbClr val="9AA3C2">
                <a:alpha val="30000"/>
              </a:srgbClr>
            </a:outerShdw>
          </a:effectLst>
        </p:spPr>
      </p:sp>
      <p:sp>
        <p:nvSpPr>
          <p:cNvPr id="19" name="Shape 17"/>
          <p:cNvSpPr/>
          <p:nvPr/>
        </p:nvSpPr>
        <p:spPr>
          <a:xfrm>
            <a:off x="6519672" y="4187952"/>
            <a:ext cx="73152" cy="457200"/>
          </a:xfrm>
          <a:prstGeom prst="rect">
            <a:avLst/>
          </a:prstGeom>
          <a:solidFill>
            <a:srgbClr val="6D8DFF"/>
          </a:solidFill>
          <a:ln/>
        </p:spPr>
      </p:sp>
      <p:sp>
        <p:nvSpPr>
          <p:cNvPr id="20" name="Text 18"/>
          <p:cNvSpPr txBox="1"/>
          <p:nvPr/>
        </p:nvSpPr>
        <p:spPr>
          <a:xfrm>
            <a:off x="6720840" y="4133088"/>
            <a:ext cx="4663440" cy="54864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Explicit cosine config on ChromaDB</a:t>
            </a:r>
            <a:endParaRPr lang="en-US" sz="1450" dirty="0"/>
          </a:p>
        </p:txBody>
      </p:sp>
      <p:sp>
        <p:nvSpPr>
          <p:cNvPr id="21" name="Text 19"/>
          <p:cNvSpPr txBox="1"/>
          <p:nvPr/>
        </p:nvSpPr>
        <p:spPr>
          <a:xfrm>
            <a:off x="6537960" y="4800600"/>
            <a:ext cx="4800600" cy="114300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Chroma's default distance is squared-L2, not cosine — silently ranking results by the wrong metric if not set explicitly. Caught and fixed.</a:t>
            </a:r>
            <a:endParaRPr lang="en-US" sz="1200" dirty="0"/>
          </a:p>
        </p:txBody>
      </p:sp>
      <p:sp>
        <p:nvSpPr>
          <p:cNvPr id="22" name="Text 20"/>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4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METRICS, NOT CLAIMS</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Interim Testing &amp; Results</a:t>
            </a:r>
            <a:endParaRPr lang="en-US" sz="3000" dirty="0"/>
          </a:p>
        </p:txBody>
      </p:sp>
      <p:sp>
        <p:nvSpPr>
          <p:cNvPr id="6" name="Shape 4"/>
          <p:cNvSpPr/>
          <p:nvPr/>
        </p:nvSpPr>
        <p:spPr>
          <a:xfrm>
            <a:off x="548640" y="1508760"/>
            <a:ext cx="3520440" cy="1234440"/>
          </a:xfrm>
          <a:prstGeom prst="roundRect">
            <a:avLst>
              <a:gd name="adj" fmla="val 5926"/>
            </a:avLst>
          </a:prstGeom>
          <a:solidFill>
            <a:srgbClr val="12163A"/>
          </a:solidFill>
          <a:ln/>
        </p:spPr>
      </p:sp>
      <p:sp>
        <p:nvSpPr>
          <p:cNvPr id="7" name="Text 5"/>
          <p:cNvSpPr txBox="1"/>
          <p:nvPr/>
        </p:nvSpPr>
        <p:spPr>
          <a:xfrm>
            <a:off x="548640" y="1572768"/>
            <a:ext cx="35204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105</a:t>
            </a:r>
            <a:endParaRPr lang="en-US" sz="2600" dirty="0"/>
          </a:p>
        </p:txBody>
      </p:sp>
      <p:sp>
        <p:nvSpPr>
          <p:cNvPr id="8" name="Text 6"/>
          <p:cNvSpPr txBox="1"/>
          <p:nvPr/>
        </p:nvSpPr>
        <p:spPr>
          <a:xfrm>
            <a:off x="548640" y="2148840"/>
            <a:ext cx="3520440" cy="502920"/>
          </a:xfrm>
          <a:prstGeom prst="rect">
            <a:avLst/>
          </a:prstGeom>
          <a:noFill/>
          <a:ln/>
        </p:spPr>
        <p:txBody>
          <a:bodyPr wrap="square" lIns="0" tIns="0" rIns="0" bIns="0" rtlCol="0" anchor="ctr"/>
          <a:lstStyle/>
          <a:p>
            <a:pPr algn="ctr" indent="0" marL="0">
              <a:buNone/>
            </a:pPr>
            <a:r>
              <a:rPr lang="en-US" sz="1150" dirty="0">
                <a:solidFill>
                  <a:srgbClr val="C7D0F5"/>
                </a:solidFill>
                <a:latin typeface="Calibri" pitchFamily="34" charset="0"/>
                <a:ea typeface="Calibri" pitchFamily="34" charset="-122"/>
                <a:cs typeface="Calibri" pitchFamily="34" charset="-120"/>
              </a:rPr>
              <a:t>automated tests</a:t>
            </a:r>
            <a:endParaRPr lang="en-US" sz="1150" dirty="0"/>
          </a:p>
          <a:p>
            <a:pPr algn="ctr" indent="0" marL="0">
              <a:buNone/>
            </a:pPr>
            <a:r>
              <a:rPr lang="en-US" sz="1150" dirty="0">
                <a:solidFill>
                  <a:srgbClr val="C7D0F5"/>
                </a:solidFill>
                <a:latin typeface="Calibri" pitchFamily="34" charset="0"/>
                <a:ea typeface="Calibri" pitchFamily="34" charset="-122"/>
                <a:cs typeface="Calibri" pitchFamily="34" charset="-120"/>
              </a:rPr>
              <a:t>passing</a:t>
            </a:r>
            <a:endParaRPr lang="en-US" sz="1150" dirty="0"/>
          </a:p>
        </p:txBody>
      </p:sp>
      <p:sp>
        <p:nvSpPr>
          <p:cNvPr id="9" name="Shape 7"/>
          <p:cNvSpPr/>
          <p:nvPr/>
        </p:nvSpPr>
        <p:spPr>
          <a:xfrm>
            <a:off x="4206240" y="1508760"/>
            <a:ext cx="3520440" cy="1234440"/>
          </a:xfrm>
          <a:prstGeom prst="roundRect">
            <a:avLst>
              <a:gd name="adj" fmla="val 5926"/>
            </a:avLst>
          </a:prstGeom>
          <a:solidFill>
            <a:srgbClr val="12163A"/>
          </a:solidFill>
          <a:ln/>
        </p:spPr>
      </p:sp>
      <p:sp>
        <p:nvSpPr>
          <p:cNvPr id="10" name="Text 8"/>
          <p:cNvSpPr txBox="1"/>
          <p:nvPr/>
        </p:nvSpPr>
        <p:spPr>
          <a:xfrm>
            <a:off x="4206240" y="1572768"/>
            <a:ext cx="35204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0.80 vs 0.50</a:t>
            </a:r>
            <a:endParaRPr lang="en-US" sz="2600" dirty="0"/>
          </a:p>
        </p:txBody>
      </p:sp>
      <p:sp>
        <p:nvSpPr>
          <p:cNvPr id="11" name="Text 9"/>
          <p:cNvSpPr txBox="1"/>
          <p:nvPr/>
        </p:nvSpPr>
        <p:spPr>
          <a:xfrm>
            <a:off x="4206240" y="2148840"/>
            <a:ext cx="3520440" cy="502920"/>
          </a:xfrm>
          <a:prstGeom prst="rect">
            <a:avLst/>
          </a:prstGeom>
          <a:noFill/>
          <a:ln/>
        </p:spPr>
        <p:txBody>
          <a:bodyPr wrap="square" lIns="0" tIns="0" rIns="0" bIns="0" rtlCol="0" anchor="ctr"/>
          <a:lstStyle/>
          <a:p>
            <a:pPr algn="ctr" indent="0" marL="0">
              <a:buNone/>
            </a:pPr>
            <a:r>
              <a:rPr lang="en-US" sz="1150" dirty="0">
                <a:solidFill>
                  <a:srgbClr val="C7D0F5"/>
                </a:solidFill>
                <a:latin typeface="Calibri" pitchFamily="34" charset="0"/>
                <a:ea typeface="Calibri" pitchFamily="34" charset="-122"/>
                <a:cs typeface="Calibri" pitchFamily="34" charset="-120"/>
              </a:rPr>
              <a:t>topic-match vs.</a:t>
            </a:r>
            <a:endParaRPr lang="en-US" sz="1150" dirty="0"/>
          </a:p>
          <a:p>
            <a:pPr algn="ctr" indent="0" marL="0">
              <a:buNone/>
            </a:pPr>
            <a:r>
              <a:rPr lang="en-US" sz="1150" dirty="0">
                <a:solidFill>
                  <a:srgbClr val="C7D0F5"/>
                </a:solidFill>
                <a:latin typeface="Calibri" pitchFamily="34" charset="0"/>
                <a:ea typeface="Calibri" pitchFamily="34" charset="-122"/>
                <a:cs typeface="Calibri" pitchFamily="34" charset="-120"/>
              </a:rPr>
              <a:t>unrelated similarity</a:t>
            </a:r>
            <a:endParaRPr lang="en-US" sz="1150" dirty="0"/>
          </a:p>
        </p:txBody>
      </p:sp>
      <p:sp>
        <p:nvSpPr>
          <p:cNvPr id="12" name="Shape 10"/>
          <p:cNvSpPr/>
          <p:nvPr/>
        </p:nvSpPr>
        <p:spPr>
          <a:xfrm>
            <a:off x="7863840" y="1508760"/>
            <a:ext cx="3520440" cy="1234440"/>
          </a:xfrm>
          <a:prstGeom prst="roundRect">
            <a:avLst>
              <a:gd name="adj" fmla="val 5926"/>
            </a:avLst>
          </a:prstGeom>
          <a:solidFill>
            <a:srgbClr val="12163A"/>
          </a:solidFill>
          <a:ln/>
        </p:spPr>
      </p:sp>
      <p:sp>
        <p:nvSpPr>
          <p:cNvPr id="13" name="Text 11"/>
          <p:cNvSpPr txBox="1"/>
          <p:nvPr/>
        </p:nvSpPr>
        <p:spPr>
          <a:xfrm>
            <a:off x="7863840" y="1572768"/>
            <a:ext cx="35204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0.70</a:t>
            </a:r>
            <a:endParaRPr lang="en-US" sz="2600" dirty="0"/>
          </a:p>
        </p:txBody>
      </p:sp>
      <p:sp>
        <p:nvSpPr>
          <p:cNvPr id="14" name="Text 12"/>
          <p:cNvSpPr txBox="1"/>
          <p:nvPr/>
        </p:nvSpPr>
        <p:spPr>
          <a:xfrm>
            <a:off x="7863840" y="2148840"/>
            <a:ext cx="3520440" cy="502920"/>
          </a:xfrm>
          <a:prstGeom prst="rect">
            <a:avLst/>
          </a:prstGeom>
          <a:noFill/>
          <a:ln/>
        </p:spPr>
        <p:txBody>
          <a:bodyPr wrap="square" lIns="0" tIns="0" rIns="0" bIns="0" rtlCol="0" anchor="ctr"/>
          <a:lstStyle/>
          <a:p>
            <a:pPr algn="ctr" indent="0" marL="0">
              <a:buNone/>
            </a:pPr>
            <a:r>
              <a:rPr lang="en-US" sz="1150" dirty="0">
                <a:solidFill>
                  <a:srgbClr val="C7D0F5"/>
                </a:solidFill>
                <a:latin typeface="Calibri" pitchFamily="34" charset="0"/>
                <a:ea typeface="Calibri" pitchFamily="34" charset="-122"/>
                <a:cs typeface="Calibri" pitchFamily="34" charset="-120"/>
              </a:rPr>
              <a:t>RAG citation</a:t>
            </a:r>
            <a:endParaRPr lang="en-US" sz="1150" dirty="0"/>
          </a:p>
          <a:p>
            <a:pPr algn="ctr" indent="0" marL="0">
              <a:buNone/>
            </a:pPr>
            <a:r>
              <a:rPr lang="en-US" sz="1150" dirty="0">
                <a:solidFill>
                  <a:srgbClr val="C7D0F5"/>
                </a:solidFill>
                <a:latin typeface="Calibri" pitchFamily="34" charset="0"/>
                <a:ea typeface="Calibri" pitchFamily="34" charset="-122"/>
                <a:cs typeface="Calibri" pitchFamily="34" charset="-120"/>
              </a:rPr>
              <a:t>relevance score</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11064240" cy="914400"/>
        </p:xfrm>
        <a:graphic>
          <a:graphicData uri="http://schemas.openxmlformats.org/drawingml/2006/table">
            <a:tbl>
              <a:tblPr/>
              <a:tblGrid>
                <a:gridCol w="2743200"/>
                <a:gridCol w="832104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r>
              <a:tr h="566928">
                <a:tc>
                  <a:txBody>
                    <a:bodyPr/>
                    <a:lstStyle/>
                    <a:p>
                      <a:pPr indent="0" marL="0">
                        <a:buNone/>
                      </a:pPr>
                      <a:r>
                        <a:rPr lang="en-US" sz="1200" b="1" dirty="0">
                          <a:solidFill>
                            <a:srgbClr val="1A1D29"/>
                          </a:solidFill>
                          <a:latin typeface="Calibri" pitchFamily="34" charset="0"/>
                          <a:ea typeface="Calibri" pitchFamily="34" charset="-122"/>
                          <a:cs typeface="Calibri" pitchFamily="34" charset="-120"/>
                        </a:rPr>
                        <a:t>Whisper transcription</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Word-for-word accurate on a controlled test lecture; coherent on a real 21-min YouTube lecture</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66928">
                <a:tc>
                  <a:txBody>
                    <a:bodyPr/>
                    <a:lstStyle/>
                    <a:p>
                      <a:pPr indent="0" marL="0">
                        <a:buNone/>
                      </a:pPr>
                      <a:r>
                        <a:rPr lang="en-US" sz="1200" b="1" dirty="0">
                          <a:solidFill>
                            <a:srgbClr val="1A1D29"/>
                          </a:solidFill>
                          <a:latin typeface="Calibri" pitchFamily="34" charset="0"/>
                          <a:ea typeface="Calibri" pitchFamily="34" charset="-122"/>
                          <a:cs typeface="Calibri" pitchFamily="34" charset="-120"/>
                        </a:rPr>
                        <a:t>Semantic search ranking</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Deadlock-topic query ranked the deadlock chunk first (0.80) over an unrelated chunk (0.50)</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66928">
                <a:tc>
                  <a:txBody>
                    <a:bodyPr/>
                    <a:lstStyle/>
                    <a:p>
                      <a:pPr indent="0" marL="0">
                        <a:buNone/>
                      </a:pPr>
                      <a:r>
                        <a:rPr lang="en-US" sz="1200" b="1" dirty="0">
                          <a:solidFill>
                            <a:srgbClr val="1A1D29"/>
                          </a:solidFill>
                          <a:latin typeface="Calibri" pitchFamily="34" charset="0"/>
                          <a:ea typeface="Calibri" pitchFamily="34" charset="-122"/>
                          <a:cs typeface="Calibri" pitchFamily="34" charset="-120"/>
                        </a:rPr>
                        <a:t>RAG hallucination safeguard</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A query with no relevant indexed content correctly returns “not enough information”, not a guess</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566928">
                <a:tc>
                  <a:txBody>
                    <a:bodyPr/>
                    <a:lstStyle/>
                    <a:p>
                      <a:pPr indent="0" marL="0">
                        <a:buNone/>
                      </a:pPr>
                      <a:r>
                        <a:rPr lang="en-US" sz="1200" b="1" dirty="0">
                          <a:solidFill>
                            <a:srgbClr val="1A1D29"/>
                          </a:solidFill>
                          <a:latin typeface="Calibri" pitchFamily="34" charset="0"/>
                          <a:ea typeface="Calibri" pitchFamily="34" charset="-122"/>
                          <a:cs typeface="Calibri" pitchFamily="34" charset="-120"/>
                        </a:rPr>
                        <a:t>Visual search (CLIP)</a:t>
                      </a:r>
                      <a:endParaRPr lang="en-US" sz="120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150" dirty="0">
                          <a:solidFill>
                            <a:srgbClr val="5B6072"/>
                          </a:solidFill>
                          <a:latin typeface="Calibri" pitchFamily="34" charset="0"/>
                          <a:ea typeface="Calibri" pitchFamily="34" charset="-122"/>
                          <a:cs typeface="Calibri" pitchFamily="34" charset="-120"/>
                        </a:rPr>
                        <a:t>Correct scene discrimination verified with the real model — not just assumed to work</a:t>
                      </a:r>
                      <a:endParaRPr lang="en-US" sz="11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bl>
          </a:graphicData>
        </a:graphic>
      </p:graphicFrame>
      <p:sp>
        <p:nvSpPr>
          <p:cNvPr id="16" name="Text 13"/>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4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LIVE SYSTEM OUTPUT</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Real Answer, Then Real Testing Across Genres</a:t>
            </a:r>
            <a:endParaRPr lang="en-US" sz="3000" dirty="0"/>
          </a:p>
        </p:txBody>
      </p:sp>
      <p:sp>
        <p:nvSpPr>
          <p:cNvPr id="6" name="Text 4"/>
          <p:cNvSpPr txBox="1"/>
          <p:nvPr/>
        </p:nvSpPr>
        <p:spPr>
          <a:xfrm>
            <a:off x="548640" y="1298448"/>
            <a:ext cx="11064240" cy="237744"/>
          </a:xfrm>
          <a:prstGeom prst="rect">
            <a:avLst/>
          </a:prstGeom>
          <a:noFill/>
          <a:ln/>
        </p:spPr>
        <p:txBody>
          <a:bodyPr wrap="square" lIns="0" tIns="0" rIns="0" bIns="0" rtlCol="0" anchor="ctr"/>
          <a:lstStyle/>
          <a:p>
            <a:pPr indent="0" marL="0">
              <a:buNone/>
            </a:pPr>
            <a:r>
              <a:rPr lang="en-US" sz="1100" i="1" dirty="0">
                <a:solidFill>
                  <a:srgbClr val="5B6072"/>
                </a:solidFill>
                <a:latin typeface="Calibri" pitchFamily="34" charset="0"/>
                <a:ea typeface="Calibri" pitchFamily="34" charset="-122"/>
                <a:cs typeface="Calibri" pitchFamily="34" charset="-120"/>
              </a:rPr>
              <a:t>Video: real ~21-min YouTube lecture, “Introduction to Computer Science (CS101)”, ingested via URL</a:t>
            </a:r>
            <a:endParaRPr lang="en-US" sz="1100" dirty="0"/>
          </a:p>
        </p:txBody>
      </p:sp>
      <p:sp>
        <p:nvSpPr>
          <p:cNvPr id="7" name="Shape 5"/>
          <p:cNvSpPr/>
          <p:nvPr/>
        </p:nvSpPr>
        <p:spPr>
          <a:xfrm>
            <a:off x="548640" y="1572768"/>
            <a:ext cx="11064240" cy="1691640"/>
          </a:xfrm>
          <a:prstGeom prst="roundRect">
            <a:avLst>
              <a:gd name="adj" fmla="val 3784"/>
            </a:avLst>
          </a:prstGeom>
          <a:solidFill>
            <a:srgbClr val="1B2050"/>
          </a:solidFill>
          <a:ln/>
          <a:effectLst>
            <a:outerShdw sx="100000" sy="100000" kx="0" ky="0" algn="bl" rotWithShape="0" blurRad="76200" dist="25400" dir="5400000">
              <a:srgbClr val="9AA3C2">
                <a:alpha val="30000"/>
              </a:srgbClr>
            </a:outerShdw>
          </a:effectLst>
        </p:spPr>
      </p:sp>
      <p:sp>
        <p:nvSpPr>
          <p:cNvPr id="8" name="Shape 6"/>
          <p:cNvSpPr/>
          <p:nvPr/>
        </p:nvSpPr>
        <p:spPr>
          <a:xfrm>
            <a:off x="8001000" y="1719072"/>
            <a:ext cx="3429000" cy="384048"/>
          </a:xfrm>
          <a:prstGeom prst="roundRect">
            <a:avLst>
              <a:gd name="adj" fmla="val 21429"/>
            </a:avLst>
          </a:prstGeom>
          <a:solidFill>
            <a:srgbClr val="6D8DFF"/>
          </a:solidFill>
          <a:ln/>
        </p:spPr>
      </p:sp>
      <p:sp>
        <p:nvSpPr>
          <p:cNvPr id="9" name="Text 7"/>
          <p:cNvSpPr txBox="1"/>
          <p:nvPr/>
        </p:nvSpPr>
        <p:spPr>
          <a:xfrm>
            <a:off x="8119872" y="1719072"/>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is computer science?</a:t>
            </a:r>
            <a:endParaRPr lang="en-US" sz="1150" dirty="0"/>
          </a:p>
        </p:txBody>
      </p:sp>
      <p:sp>
        <p:nvSpPr>
          <p:cNvPr id="10" name="Shape 8"/>
          <p:cNvSpPr/>
          <p:nvPr/>
        </p:nvSpPr>
        <p:spPr>
          <a:xfrm>
            <a:off x="868680" y="2194560"/>
            <a:ext cx="9509760" cy="777240"/>
          </a:xfrm>
          <a:prstGeom prst="roundRect">
            <a:avLst>
              <a:gd name="adj" fmla="val 10588"/>
            </a:avLst>
          </a:prstGeom>
          <a:solidFill>
            <a:srgbClr val="232A5C"/>
          </a:solidFill>
          <a:ln/>
        </p:spPr>
      </p:sp>
      <p:sp>
        <p:nvSpPr>
          <p:cNvPr id="11" name="Text 9"/>
          <p:cNvSpPr txBox="1"/>
          <p:nvPr/>
        </p:nvSpPr>
        <p:spPr>
          <a:xfrm>
            <a:off x="1051560" y="2267712"/>
            <a:ext cx="9144000" cy="640080"/>
          </a:xfrm>
          <a:prstGeom prst="rect">
            <a:avLst/>
          </a:prstGeom>
          <a:noFill/>
          <a:ln/>
        </p:spPr>
        <p:txBody>
          <a:bodyPr wrap="square" lIns="0" tIns="0" rIns="0" bIns="0" rtlCol="0" anchor="ctr"/>
          <a:lstStyle/>
          <a:p>
            <a:pPr indent="0" marL="0">
              <a:buNone/>
            </a:pPr>
            <a:r>
              <a:rPr lang="en-US" sz="1050" dirty="0">
                <a:solidFill>
                  <a:srgbClr val="EDEFFA"/>
                </a:solidFill>
                <a:latin typeface="Calibri" pitchFamily="34" charset="0"/>
                <a:ea typeface="Calibri" pitchFamily="34" charset="-122"/>
                <a:cs typeface="Calibri" pitchFamily="34" charset="-120"/>
              </a:rPr>
              <a:t>“Computer science is the study and design of algorithms, computations, and information systems in both theory and practice. Dijkstra, an influential figure in the field, once said computer science is no more about computers than astronomy is about telescopes.” (excerpt)</a:t>
            </a:r>
            <a:endParaRPr lang="en-US" sz="1050" dirty="0"/>
          </a:p>
        </p:txBody>
      </p:sp>
      <p:sp>
        <p:nvSpPr>
          <p:cNvPr id="12" name="Shape 10"/>
          <p:cNvSpPr/>
          <p:nvPr/>
        </p:nvSpPr>
        <p:spPr>
          <a:xfrm>
            <a:off x="1005840" y="3035808"/>
            <a:ext cx="2103120" cy="274320"/>
          </a:xfrm>
          <a:prstGeom prst="roundRect">
            <a:avLst>
              <a:gd name="adj" fmla="val 50000"/>
            </a:avLst>
          </a:prstGeom>
          <a:solidFill>
            <a:srgbClr val="12163A"/>
          </a:solidFill>
          <a:ln/>
        </p:spPr>
      </p:sp>
      <p:sp>
        <p:nvSpPr>
          <p:cNvPr id="13" name="Text 11"/>
          <p:cNvSpPr txBox="1"/>
          <p:nvPr/>
        </p:nvSpPr>
        <p:spPr>
          <a:xfrm>
            <a:off x="1005840" y="3035808"/>
            <a:ext cx="2103120" cy="274320"/>
          </a:xfrm>
          <a:prstGeom prst="rect">
            <a:avLst/>
          </a:prstGeom>
          <a:noFill/>
          <a:ln/>
        </p:spPr>
        <p:txBody>
          <a:bodyPr wrap="square" lIns="0" tIns="0" rIns="0" bIns="0" rtlCol="0" anchor="ctr"/>
          <a:lstStyle/>
          <a:p>
            <a:pPr algn="ctr" indent="0" marL="0">
              <a:buNone/>
            </a:pPr>
            <a:r>
              <a:rPr lang="en-US" sz="950" b="1" dirty="0">
                <a:solidFill>
                  <a:srgbClr val="6D8DFF"/>
                </a:solidFill>
                <a:latin typeface="Calibri" pitchFamily="34" charset="0"/>
                <a:ea typeface="Calibri" pitchFamily="34" charset="-122"/>
                <a:cs typeface="Calibri" pitchFamily="34" charset="-120"/>
              </a:rPr>
              <a:t>▶ 00:58  ·  score 0.61</a:t>
            </a:r>
            <a:endParaRPr lang="en-US" sz="950" dirty="0"/>
          </a:p>
        </p:txBody>
      </p:sp>
      <p:sp>
        <p:nvSpPr>
          <p:cNvPr id="14" name="Text 12"/>
          <p:cNvSpPr txBox="1"/>
          <p:nvPr/>
        </p:nvSpPr>
        <p:spPr>
          <a:xfrm>
            <a:off x="548640" y="3383280"/>
            <a:ext cx="7315200" cy="274320"/>
          </a:xfrm>
          <a:prstGeom prst="rect">
            <a:avLst/>
          </a:prstGeom>
          <a:noFill/>
          <a:ln/>
        </p:spPr>
        <p:txBody>
          <a:bodyPr wrap="square" lIns="0" tIns="0" rIns="0" bIns="0" rtlCol="0" anchor="ctr"/>
          <a:lstStyle/>
          <a:p>
            <a:pPr indent="0" marL="0">
              <a:buNone/>
            </a:pPr>
            <a:r>
              <a:rPr lang="en-US" sz="1250" b="1" spc="100" kern="0" dirty="0">
                <a:solidFill>
                  <a:srgbClr val="6D8DFF"/>
                </a:solidFill>
                <a:latin typeface="Calibri" pitchFamily="34" charset="0"/>
                <a:ea typeface="Calibri" pitchFamily="34" charset="-122"/>
                <a:cs typeface="Calibri" pitchFamily="34" charset="-120"/>
              </a:rPr>
              <a:t>TESTED ACROSS 5 CONTENT DOMAINS — IN PROGRESS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914400"/>
        </p:xfrm>
        <a:graphic>
          <a:graphicData uri="http://schemas.openxmlformats.org/drawingml/2006/table">
            <a:tbl>
              <a:tblPr/>
              <a:tblGrid>
                <a:gridCol w="2651760"/>
                <a:gridCol w="2468880"/>
                <a:gridCol w="1051560"/>
                <a:gridCol w="2148840"/>
                <a:gridCol w="274320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Genre (videos tested)</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Sample Video</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Frames Kept (of Candidates)</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RAG Query Result</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solidFill>
                      <a:srgbClr val="12163A"/>
                    </a:solidFill>
                  </a:tcPr>
                </a:tc>
              </a:tr>
              <a:tr h="384048">
                <a:tc>
                  <a:txBody>
                    <a:bodyPr/>
                    <a:lstStyle/>
                    <a:p>
                      <a:pPr indent="0" marL="0">
                        <a:buNone/>
                      </a:pPr>
                      <a:r>
                        <a:rPr lang="en-US" sz="1100" b="1" dirty="0">
                          <a:solidFill>
                            <a:srgbClr val="1A1D29"/>
                          </a:solidFill>
                          <a:latin typeface="Calibri" pitchFamily="34" charset="0"/>
                          <a:ea typeface="Calibri" pitchFamily="34" charset="-122"/>
                          <a:cs typeface="Calibri" pitchFamily="34" charset="-120"/>
                        </a:rPr>
                        <a:t>Technical Lecture</a:t>
                      </a:r>
                      <a:pPr indent="0" marL="0">
                        <a:buNone/>
                      </a:pPr>
                      <a:r>
                        <a:rPr lang="en-US" sz="900" i="1" dirty="0">
                          <a:solidFill>
                            <a:srgbClr val="5B6072"/>
                          </a:solidFill>
                          <a:latin typeface="Calibri" pitchFamily="34" charset="0"/>
                          <a:ea typeface="Calibri" pitchFamily="34" charset="-122"/>
                          <a:cs typeface="Calibri" pitchFamily="34" charset="-120"/>
                        </a:rPr>
                        <a:t>  (1 of 2)</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CS101 (Treehouse)</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21m 11s</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78 / 254 (31%)</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b="1" dirty="0">
                          <a:solidFill>
                            <a:srgbClr val="2E9E5B"/>
                          </a:solidFill>
                          <a:latin typeface="Calibri" pitchFamily="34" charset="0"/>
                          <a:ea typeface="Calibri" pitchFamily="34" charset="-122"/>
                          <a:cs typeface="Calibri" pitchFamily="34" charset="-120"/>
                        </a:rPr>
                        <a:t>Coherent, cited</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384048">
                <a:tc>
                  <a:txBody>
                    <a:bodyPr/>
                    <a:lstStyle/>
                    <a:p>
                      <a:pPr indent="0" marL="0">
                        <a:buNone/>
                      </a:pPr>
                      <a:r>
                        <a:rPr lang="en-US" sz="1100" b="1" dirty="0">
                          <a:solidFill>
                            <a:srgbClr val="1A1D29"/>
                          </a:solidFill>
                          <a:latin typeface="Calibri" pitchFamily="34" charset="0"/>
                          <a:ea typeface="Calibri" pitchFamily="34" charset="-122"/>
                          <a:cs typeface="Calibri" pitchFamily="34" charset="-120"/>
                        </a:rPr>
                        <a:t>News / Interview</a:t>
                      </a:r>
                      <a:pPr indent="0" marL="0">
                        <a:buNone/>
                      </a:pPr>
                      <a:r>
                        <a:rPr lang="en-US" sz="900" i="1" dirty="0">
                          <a:solidFill>
                            <a:srgbClr val="5B6072"/>
                          </a:solidFill>
                          <a:latin typeface="Calibri" pitchFamily="34" charset="0"/>
                          <a:ea typeface="Calibri" pitchFamily="34" charset="-122"/>
                          <a:cs typeface="Calibri" pitchFamily="34" charset="-120"/>
                        </a:rPr>
                        <a:t>  (1 of 2)</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“Trump — Iran Update”</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1m 34s</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15 / 19 (79%)</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b="1" dirty="0">
                          <a:solidFill>
                            <a:srgbClr val="2E9E5B"/>
                          </a:solidFill>
                          <a:latin typeface="Calibri" pitchFamily="34" charset="0"/>
                          <a:ea typeface="Calibri" pitchFamily="34" charset="-122"/>
                          <a:cs typeface="Calibri" pitchFamily="34" charset="-120"/>
                        </a:rPr>
                        <a:t>Coherent, cited</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384048">
                <a:tc>
                  <a:txBody>
                    <a:bodyPr/>
                    <a:lstStyle/>
                    <a:p>
                      <a:pPr indent="0" marL="0">
                        <a:buNone/>
                      </a:pPr>
                      <a:r>
                        <a:rPr lang="en-US" sz="1100" b="1" dirty="0">
                          <a:solidFill>
                            <a:srgbClr val="1A1D29"/>
                          </a:solidFill>
                          <a:latin typeface="Calibri" pitchFamily="34" charset="0"/>
                          <a:ea typeface="Calibri" pitchFamily="34" charset="-122"/>
                          <a:cs typeface="Calibri" pitchFamily="34" charset="-120"/>
                        </a:rPr>
                        <a:t>Cooking / Tutorial</a:t>
                      </a:r>
                      <a:pPr indent="0" marL="0">
                        <a:buNone/>
                      </a:pPr>
                      <a:r>
                        <a:rPr lang="en-US" sz="900" i="1" dirty="0">
                          <a:solidFill>
                            <a:srgbClr val="5B6072"/>
                          </a:solidFill>
                          <a:latin typeface="Calibri" pitchFamily="34" charset="0"/>
                          <a:ea typeface="Calibri" pitchFamily="34" charset="-122"/>
                          <a:cs typeface="Calibri" pitchFamily="34" charset="-120"/>
                        </a:rPr>
                        <a:t>  (1 of 2)</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“Softest Coffee Cake”</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4m 40s</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55 / 56 (98%)</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b="1" dirty="0">
                          <a:solidFill>
                            <a:srgbClr val="2E9E5B"/>
                          </a:solidFill>
                          <a:latin typeface="Calibri" pitchFamily="34" charset="0"/>
                          <a:ea typeface="Calibri" pitchFamily="34" charset="-122"/>
                          <a:cs typeface="Calibri" pitchFamily="34" charset="-120"/>
                        </a:rPr>
                        <a:t>Coherent, cited</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384048">
                <a:tc>
                  <a:txBody>
                    <a:bodyPr/>
                    <a:lstStyle/>
                    <a:p>
                      <a:pPr indent="0" marL="0">
                        <a:buNone/>
                      </a:pPr>
                      <a:r>
                        <a:rPr lang="en-US" sz="1100" b="1" dirty="0">
                          <a:solidFill>
                            <a:srgbClr val="1A1D29"/>
                          </a:solidFill>
                          <a:latin typeface="Calibri" pitchFamily="34" charset="0"/>
                          <a:ea typeface="Calibri" pitchFamily="34" charset="-122"/>
                          <a:cs typeface="Calibri" pitchFamily="34" charset="-120"/>
                        </a:rPr>
                        <a:t>Vlog / Talking-Head</a:t>
                      </a:r>
                      <a:pPr indent="0" marL="0">
                        <a:buNone/>
                      </a:pPr>
                      <a:r>
                        <a:rPr lang="en-US" sz="900" i="1" dirty="0">
                          <a:solidFill>
                            <a:srgbClr val="5B6072"/>
                          </a:solidFill>
                          <a:latin typeface="Calibri" pitchFamily="34" charset="0"/>
                          <a:ea typeface="Calibri" pitchFamily="34" charset="-122"/>
                          <a:cs typeface="Calibri" pitchFamily="34" charset="-120"/>
                        </a:rPr>
                        <a:t>  (1 of 2)</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“What I Eat In a Day”</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13m 0s</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1A1D29"/>
                          </a:solidFill>
                          <a:latin typeface="Calibri" pitchFamily="34" charset="0"/>
                          <a:ea typeface="Calibri" pitchFamily="34" charset="-122"/>
                          <a:cs typeface="Calibri" pitchFamily="34" charset="-120"/>
                        </a:rPr>
                        <a:t>146 / 156 (94%)</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dirty="0">
                          <a:solidFill>
                            <a:srgbClr val="B8860B"/>
                          </a:solidFill>
                          <a:latin typeface="Calibri" pitchFamily="34" charset="0"/>
                          <a:ea typeface="Calibri" pitchFamily="34" charset="-122"/>
                          <a:cs typeface="Calibri" pitchFamily="34" charset="-120"/>
                        </a:rPr>
                        <a:t>Coherent, minor self-contradiction</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r h="384048">
                <a:tc>
                  <a:txBody>
                    <a:bodyPr/>
                    <a:lstStyle/>
                    <a:p>
                      <a:pPr indent="0" marL="0">
                        <a:buNone/>
                      </a:pPr>
                      <a:r>
                        <a:rPr lang="en-US" sz="1100" i="1" dirty="0">
                          <a:solidFill>
                            <a:srgbClr val="5B6072"/>
                          </a:solidFill>
                          <a:latin typeface="Calibri" pitchFamily="34" charset="0"/>
                          <a:ea typeface="Calibri" pitchFamily="34" charset="-122"/>
                          <a:cs typeface="Calibri" pitchFamily="34" charset="-120"/>
                        </a:rPr>
                        <a:t>Sports / Live Commentary</a:t>
                      </a:r>
                      <a:pPr indent="0" marL="0">
                        <a:buNone/>
                      </a:pPr>
                      <a:r>
                        <a:rPr lang="en-US" sz="900" i="1" dirty="0">
                          <a:solidFill>
                            <a:srgbClr val="5B6072"/>
                          </a:solidFill>
                          <a:latin typeface="Calibri" pitchFamily="34" charset="0"/>
                          <a:ea typeface="Calibri" pitchFamily="34" charset="-122"/>
                          <a:cs typeface="Calibri" pitchFamily="34" charset="-120"/>
                        </a:rPr>
                        <a:t>  (0 of 2)</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i="1" dirty="0">
                          <a:solidFill>
                            <a:srgbClr val="5B6072"/>
                          </a:solidFill>
                          <a:latin typeface="Calibri" pitchFamily="34" charset="0"/>
                          <a:ea typeface="Calibri" pitchFamily="34" charset="-122"/>
                          <a:cs typeface="Calibri" pitchFamily="34" charset="-120"/>
                        </a:rPr>
                        <a:t>— pending —</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i="1" dirty="0">
                          <a:solidFill>
                            <a:srgbClr val="5B607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i="1" dirty="0">
                          <a:solidFill>
                            <a:srgbClr val="5B607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c>
                  <a:txBody>
                    <a:bodyPr/>
                    <a:lstStyle/>
                    <a:p>
                      <a:pPr indent="0" marL="0">
                        <a:buNone/>
                      </a:pPr>
                      <a:r>
                        <a:rPr lang="en-US" sz="1050" i="1" dirty="0">
                          <a:solidFill>
                            <a:srgbClr val="5B6072"/>
                          </a:solidFill>
                          <a:latin typeface="Calibri" pitchFamily="34" charset="0"/>
                          <a:ea typeface="Calibri" pitchFamily="34" charset="-122"/>
                          <a:cs typeface="Calibri" pitchFamily="34" charset="-120"/>
                        </a:rPr>
                        <a:t>— pending —</a:t>
                      </a:r>
                      <a:endParaRPr lang="en-US" sz="1050" dirty="0">
                        <a:latin typeface="Calibri" charset="0"/>
                        <a:ea typeface="Calibri" charset="0"/>
                        <a:cs typeface="Calibri" charset="0"/>
                      </a:endParaRPr>
                    </a:p>
                  </a:txBody>
                  <a:tcPr marL="91440" marR="91440" marT="45720" marB="45720" anchor="ctr">
                    <a:lnL w="12700" cap="flat" cmpd="sng" algn="ctr">
                      <a:solidFill>
                        <a:srgbClr val="D8DCEC"/>
                      </a:solidFill>
                      <a:prstDash val="solid"/>
                      <a:round/>
                      <a:headEnd type="none" w="med" len="med"/>
                      <a:tailEnd type="none" w="med" len="med"/>
                    </a:lnL>
                    <a:lnR w="12700" cap="flat" cmpd="sng" algn="ctr">
                      <a:solidFill>
                        <a:srgbClr val="D8DCEC"/>
                      </a:solidFill>
                      <a:prstDash val="solid"/>
                      <a:round/>
                      <a:headEnd type="none" w="med" len="med"/>
                      <a:tailEnd type="none" w="med" len="med"/>
                    </a:lnR>
                    <a:lnT w="12700" cap="flat" cmpd="sng" algn="ctr">
                      <a:solidFill>
                        <a:srgbClr val="D8DCEC"/>
                      </a:solidFill>
                      <a:prstDash val="solid"/>
                      <a:round/>
                      <a:headEnd type="none" w="med" len="med"/>
                      <a:tailEnd type="none" w="med" len="med"/>
                    </a:lnT>
                    <a:lnB w="12700" cap="flat" cmpd="sng" algn="ctr">
                      <a:solidFill>
                        <a:srgbClr val="D8DCEC"/>
                      </a:solidFill>
                      <a:prstDash val="solid"/>
                      <a:round/>
                      <a:headEnd type="none" w="med" len="med"/>
                      <a:tailEnd type="none" w="med" len="med"/>
                    </a:lnB>
                  </a:tcPr>
                </a:tc>
              </a:tr>
            </a:tbl>
          </a:graphicData>
        </a:graphic>
      </p:graphicFrame>
      <p:sp>
        <p:nvSpPr>
          <p:cNvPr id="16" name="Text 13"/>
          <p:cNvSpPr txBox="1"/>
          <p:nvPr/>
        </p:nvSpPr>
        <p:spPr>
          <a:xfrm>
            <a:off x="548640" y="6053328"/>
            <a:ext cx="11064240" cy="365760"/>
          </a:xfrm>
          <a:prstGeom prst="rect">
            <a:avLst/>
          </a:prstGeom>
          <a:noFill/>
          <a:ln/>
        </p:spPr>
        <p:txBody>
          <a:bodyPr wrap="square" lIns="0" tIns="0" rIns="0" bIns="0" rtlCol="0" anchor="ctr"/>
          <a:lstStyle/>
          <a:p>
            <a:pPr indent="0" marL="0">
              <a:buNone/>
            </a:pPr>
            <a:r>
              <a:rPr lang="en-US" sz="950" i="1" dirty="0">
                <a:solidFill>
                  <a:srgbClr val="5B6072"/>
                </a:solidFill>
                <a:latin typeface="Calibri" pitchFamily="34" charset="0"/>
                <a:ea typeface="Calibri" pitchFamily="34" charset="-122"/>
                <a:cs typeface="Calibri" pitchFamily="34" charset="-120"/>
              </a:rPr>
              <a:t>Frame-dedup keep-rate tracks visual staticness: 31% on lecture slides vs. 79–98% on genres with camera motion — real evidence motivating content-boundary (SSIM) detection over raw pixel-difference (see Next Steps).</a:t>
            </a:r>
            <a:endParaRPr lang="en-US" sz="950" dirty="0"/>
          </a:p>
        </p:txBody>
      </p:sp>
      <p:sp>
        <p:nvSpPr>
          <p:cNvPr id="17" name="Text 1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5 · 2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REAL ENGINEERING CHALLENGES</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Problem-Solving &amp; Technical Refinement</a:t>
            </a:r>
            <a:endParaRPr lang="en-US" sz="3000" dirty="0"/>
          </a:p>
        </p:txBody>
      </p:sp>
      <p:sp>
        <p:nvSpPr>
          <p:cNvPr id="6" name="Shape 4"/>
          <p:cNvSpPr/>
          <p:nvPr/>
        </p:nvSpPr>
        <p:spPr>
          <a:xfrm>
            <a:off x="548640" y="1508760"/>
            <a:ext cx="3611880" cy="3749040"/>
          </a:xfrm>
          <a:prstGeom prst="roundRect">
            <a:avLst>
              <a:gd name="adj" fmla="val 1772"/>
            </a:avLst>
          </a:prstGeom>
          <a:solidFill>
            <a:srgbClr val="FFFFFF"/>
          </a:solidFill>
          <a:ln/>
          <a:effectLst>
            <a:outerShdw sx="100000" sy="100000" kx="0" ky="0" algn="bl" rotWithShape="0" blurRad="76200" dist="25400" dir="5400000">
              <a:srgbClr val="9AA3C2">
                <a:alpha val="30000"/>
              </a:srgbClr>
            </a:outerShdw>
          </a:effectLst>
        </p:spPr>
      </p:sp>
      <p:sp>
        <p:nvSpPr>
          <p:cNvPr id="7" name="Shape 5"/>
          <p:cNvSpPr/>
          <p:nvPr/>
        </p:nvSpPr>
        <p:spPr>
          <a:xfrm>
            <a:off x="777240" y="1737360"/>
            <a:ext cx="3154680" cy="411480"/>
          </a:xfrm>
          <a:prstGeom prst="roundRect">
            <a:avLst>
              <a:gd name="adj" fmla="val 13333"/>
            </a:avLst>
          </a:prstGeom>
          <a:solidFill>
            <a:srgbClr val="FDECEA"/>
          </a:solidFill>
          <a:ln/>
        </p:spPr>
      </p:sp>
      <p:sp>
        <p:nvSpPr>
          <p:cNvPr id="8" name="Text 6"/>
          <p:cNvSpPr txBox="1"/>
          <p:nvPr/>
        </p:nvSpPr>
        <p:spPr>
          <a:xfrm>
            <a:off x="868680" y="1737360"/>
            <a:ext cx="2971800" cy="41148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CHALLENGE</a:t>
            </a:r>
            <a:endParaRPr lang="en-US" sz="1000" dirty="0"/>
          </a:p>
        </p:txBody>
      </p:sp>
      <p:sp>
        <p:nvSpPr>
          <p:cNvPr id="9" name="Text 7"/>
          <p:cNvSpPr txBox="1"/>
          <p:nvPr/>
        </p:nvSpPr>
        <p:spPr>
          <a:xfrm>
            <a:off x="777240" y="2212848"/>
            <a:ext cx="3154680" cy="502920"/>
          </a:xfrm>
          <a:prstGeom prst="rect">
            <a:avLst/>
          </a:prstGeom>
          <a:noFill/>
          <a:ln/>
        </p:spPr>
        <p:txBody>
          <a:bodyPr wrap="square" lIns="0" tIns="0" rIns="0" bIns="0" rtlCol="0" anchor="ctr"/>
          <a:lstStyle/>
          <a:p>
            <a:pPr indent="0" marL="0">
              <a:buNone/>
            </a:pPr>
            <a:r>
              <a:rPr lang="en-US" sz="1350" b="1" dirty="0">
                <a:solidFill>
                  <a:srgbClr val="1A1D29"/>
                </a:solidFill>
                <a:latin typeface="Calibri" pitchFamily="34" charset="0"/>
                <a:ea typeface="Calibri" pitchFamily="34" charset="-122"/>
                <a:cs typeface="Calibri" pitchFamily="34" charset="-120"/>
              </a:rPr>
              <a:t>GPU crashed the local LLM</a:t>
            </a:r>
            <a:endParaRPr lang="en-US" sz="1350" dirty="0"/>
          </a:p>
        </p:txBody>
      </p:sp>
      <p:sp>
        <p:nvSpPr>
          <p:cNvPr id="10" name="Text 8"/>
          <p:cNvSpPr txBox="1"/>
          <p:nvPr/>
        </p:nvSpPr>
        <p:spPr>
          <a:xfrm>
            <a:off x="777240" y="2724912"/>
            <a:ext cx="3154680" cy="96012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Ollama defaulted to a Vulkan GPU backend; this machine's old GPU doesn't support 16-bit storage, crashing every request.</a:t>
            </a:r>
            <a:endParaRPr lang="en-US" sz="1100" dirty="0"/>
          </a:p>
        </p:txBody>
      </p:sp>
      <p:sp>
        <p:nvSpPr>
          <p:cNvPr id="11" name="Shape 9"/>
          <p:cNvSpPr/>
          <p:nvPr/>
        </p:nvSpPr>
        <p:spPr>
          <a:xfrm>
            <a:off x="777240" y="3794760"/>
            <a:ext cx="3154680" cy="411480"/>
          </a:xfrm>
          <a:prstGeom prst="roundRect">
            <a:avLst>
              <a:gd name="adj" fmla="val 13333"/>
            </a:avLst>
          </a:prstGeom>
          <a:solidFill>
            <a:srgbClr val="E4F5E9"/>
          </a:solidFill>
          <a:ln/>
        </p:spPr>
      </p:sp>
      <p:sp>
        <p:nvSpPr>
          <p:cNvPr id="12" name="Text 10"/>
          <p:cNvSpPr txBox="1"/>
          <p:nvPr/>
        </p:nvSpPr>
        <p:spPr>
          <a:xfrm>
            <a:off x="868680" y="3794760"/>
            <a:ext cx="2971800" cy="411480"/>
          </a:xfrm>
          <a:prstGeom prst="rect">
            <a:avLst/>
          </a:prstGeom>
          <a:noFill/>
          <a:ln/>
        </p:spPr>
        <p:txBody>
          <a:bodyPr wrap="square" lIns="0" tIns="0" rIns="0" bIns="0" rtlCol="0" anchor="ctr"/>
          <a:lstStyle/>
          <a:p>
            <a:pPr indent="0" marL="0">
              <a:buNone/>
            </a:pPr>
            <a:r>
              <a:rPr lang="en-US" sz="1000" b="1" spc="100" kern="0" dirty="0">
                <a:solidFill>
                  <a:srgbClr val="2E9E5B"/>
                </a:solidFill>
                <a:latin typeface="Calibri" pitchFamily="34" charset="0"/>
                <a:ea typeface="Calibri" pitchFamily="34" charset="-122"/>
                <a:cs typeface="Calibri" pitchFamily="34" charset="-120"/>
              </a:rPr>
              <a:t>FIX</a:t>
            </a:r>
            <a:endParaRPr lang="en-US" sz="1000" dirty="0"/>
          </a:p>
        </p:txBody>
      </p:sp>
      <p:sp>
        <p:nvSpPr>
          <p:cNvPr id="13" name="Text 11"/>
          <p:cNvSpPr txBox="1"/>
          <p:nvPr/>
        </p:nvSpPr>
        <p:spPr>
          <a:xfrm>
            <a:off x="777240" y="4279392"/>
            <a:ext cx="3154680" cy="91440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Diagnosed from the actual server log. Fixed by forcing CPU-only inference — documented as a reproducible setup step.</a:t>
            </a:r>
            <a:endParaRPr lang="en-US" sz="1100" dirty="0"/>
          </a:p>
        </p:txBody>
      </p:sp>
      <p:sp>
        <p:nvSpPr>
          <p:cNvPr id="14" name="Shape 12"/>
          <p:cNvSpPr/>
          <p:nvPr/>
        </p:nvSpPr>
        <p:spPr>
          <a:xfrm>
            <a:off x="4297680" y="1508760"/>
            <a:ext cx="3611880" cy="3749040"/>
          </a:xfrm>
          <a:prstGeom prst="roundRect">
            <a:avLst>
              <a:gd name="adj" fmla="val 1772"/>
            </a:avLst>
          </a:prstGeom>
          <a:solidFill>
            <a:srgbClr val="FFFFFF"/>
          </a:solidFill>
          <a:ln/>
          <a:effectLst>
            <a:outerShdw sx="100000" sy="100000" kx="0" ky="0" algn="bl" rotWithShape="0" blurRad="76200" dist="25400" dir="5400000">
              <a:srgbClr val="9AA3C2">
                <a:alpha val="30000"/>
              </a:srgbClr>
            </a:outerShdw>
          </a:effectLst>
        </p:spPr>
      </p:sp>
      <p:sp>
        <p:nvSpPr>
          <p:cNvPr id="15" name="Shape 13"/>
          <p:cNvSpPr/>
          <p:nvPr/>
        </p:nvSpPr>
        <p:spPr>
          <a:xfrm>
            <a:off x="4526280" y="1737360"/>
            <a:ext cx="3154680" cy="411480"/>
          </a:xfrm>
          <a:prstGeom prst="roundRect">
            <a:avLst>
              <a:gd name="adj" fmla="val 13333"/>
            </a:avLst>
          </a:prstGeom>
          <a:solidFill>
            <a:srgbClr val="FDECEA"/>
          </a:solidFill>
          <a:ln/>
        </p:spPr>
      </p:sp>
      <p:sp>
        <p:nvSpPr>
          <p:cNvPr id="16" name="Text 14"/>
          <p:cNvSpPr txBox="1"/>
          <p:nvPr/>
        </p:nvSpPr>
        <p:spPr>
          <a:xfrm>
            <a:off x="4617720" y="1737360"/>
            <a:ext cx="2971800" cy="41148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CHALLENGE</a:t>
            </a:r>
            <a:endParaRPr lang="en-US" sz="1000" dirty="0"/>
          </a:p>
        </p:txBody>
      </p:sp>
      <p:sp>
        <p:nvSpPr>
          <p:cNvPr id="17" name="Text 15"/>
          <p:cNvSpPr txBox="1"/>
          <p:nvPr/>
        </p:nvSpPr>
        <p:spPr>
          <a:xfrm>
            <a:off x="4526280" y="2212848"/>
            <a:ext cx="3154680" cy="502920"/>
          </a:xfrm>
          <a:prstGeom prst="rect">
            <a:avLst/>
          </a:prstGeom>
          <a:noFill/>
          <a:ln/>
        </p:spPr>
        <p:txBody>
          <a:bodyPr wrap="square" lIns="0" tIns="0" rIns="0" bIns="0" rtlCol="0" anchor="ctr"/>
          <a:lstStyle/>
          <a:p>
            <a:pPr indent="0" marL="0">
              <a:buNone/>
            </a:pPr>
            <a:r>
              <a:rPr lang="en-US" sz="1350" b="1" dirty="0">
                <a:solidFill>
                  <a:srgbClr val="1A1D29"/>
                </a:solidFill>
                <a:latin typeface="Calibri" pitchFamily="34" charset="0"/>
                <a:ea typeface="Calibri" pitchFamily="34" charset="-122"/>
                <a:cs typeface="Calibri" pitchFamily="34" charset="-120"/>
              </a:rPr>
              <a:t>Model downloads stalled</a:t>
            </a:r>
            <a:endParaRPr lang="en-US" sz="1350" dirty="0"/>
          </a:p>
        </p:txBody>
      </p:sp>
      <p:sp>
        <p:nvSpPr>
          <p:cNvPr id="18" name="Text 16"/>
          <p:cNvSpPr txBox="1"/>
          <p:nvPr/>
        </p:nvSpPr>
        <p:spPr>
          <a:xfrm>
            <a:off x="4526280" y="2724912"/>
            <a:ext cx="3154680" cy="96012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HuggingFace's newer transfer backend collapsed to a few KB/s with repeated retries mid-download.</a:t>
            </a:r>
            <a:endParaRPr lang="en-US" sz="1100" dirty="0"/>
          </a:p>
        </p:txBody>
      </p:sp>
      <p:sp>
        <p:nvSpPr>
          <p:cNvPr id="19" name="Shape 17"/>
          <p:cNvSpPr/>
          <p:nvPr/>
        </p:nvSpPr>
        <p:spPr>
          <a:xfrm>
            <a:off x="4526280" y="3794760"/>
            <a:ext cx="3154680" cy="411480"/>
          </a:xfrm>
          <a:prstGeom prst="roundRect">
            <a:avLst>
              <a:gd name="adj" fmla="val 13333"/>
            </a:avLst>
          </a:prstGeom>
          <a:solidFill>
            <a:srgbClr val="E4F5E9"/>
          </a:solidFill>
          <a:ln/>
        </p:spPr>
      </p:sp>
      <p:sp>
        <p:nvSpPr>
          <p:cNvPr id="20" name="Text 18"/>
          <p:cNvSpPr txBox="1"/>
          <p:nvPr/>
        </p:nvSpPr>
        <p:spPr>
          <a:xfrm>
            <a:off x="4617720" y="3794760"/>
            <a:ext cx="2971800" cy="411480"/>
          </a:xfrm>
          <a:prstGeom prst="rect">
            <a:avLst/>
          </a:prstGeom>
          <a:noFill/>
          <a:ln/>
        </p:spPr>
        <p:txBody>
          <a:bodyPr wrap="square" lIns="0" tIns="0" rIns="0" bIns="0" rtlCol="0" anchor="ctr"/>
          <a:lstStyle/>
          <a:p>
            <a:pPr indent="0" marL="0">
              <a:buNone/>
            </a:pPr>
            <a:r>
              <a:rPr lang="en-US" sz="1000" b="1" spc="100" kern="0" dirty="0">
                <a:solidFill>
                  <a:srgbClr val="2E9E5B"/>
                </a:solidFill>
                <a:latin typeface="Calibri" pitchFamily="34" charset="0"/>
                <a:ea typeface="Calibri" pitchFamily="34" charset="-122"/>
                <a:cs typeface="Calibri" pitchFamily="34" charset="-120"/>
              </a:rPr>
              <a:t>FIX</a:t>
            </a:r>
            <a:endParaRPr lang="en-US" sz="1000" dirty="0"/>
          </a:p>
        </p:txBody>
      </p:sp>
      <p:sp>
        <p:nvSpPr>
          <p:cNvPr id="21" name="Text 19"/>
          <p:cNvSpPr txBox="1"/>
          <p:nvPr/>
        </p:nvSpPr>
        <p:spPr>
          <a:xfrm>
            <a:off x="4526280" y="4279392"/>
            <a:ext cx="3154680" cy="91440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Diagnosed via transfer logs. Switched to the plain HTTP downloader — completed reliably.</a:t>
            </a:r>
            <a:endParaRPr lang="en-US" sz="1100" dirty="0"/>
          </a:p>
        </p:txBody>
      </p:sp>
      <p:sp>
        <p:nvSpPr>
          <p:cNvPr id="22" name="Shape 20"/>
          <p:cNvSpPr/>
          <p:nvPr/>
        </p:nvSpPr>
        <p:spPr>
          <a:xfrm>
            <a:off x="8046720" y="1508760"/>
            <a:ext cx="3611880" cy="3749040"/>
          </a:xfrm>
          <a:prstGeom prst="roundRect">
            <a:avLst>
              <a:gd name="adj" fmla="val 1772"/>
            </a:avLst>
          </a:prstGeom>
          <a:solidFill>
            <a:srgbClr val="FFFFFF"/>
          </a:solidFill>
          <a:ln/>
          <a:effectLst>
            <a:outerShdw sx="100000" sy="100000" kx="0" ky="0" algn="bl" rotWithShape="0" blurRad="76200" dist="25400" dir="5400000">
              <a:srgbClr val="9AA3C2">
                <a:alpha val="30000"/>
              </a:srgbClr>
            </a:outerShdw>
          </a:effectLst>
        </p:spPr>
      </p:sp>
      <p:sp>
        <p:nvSpPr>
          <p:cNvPr id="23" name="Shape 21"/>
          <p:cNvSpPr/>
          <p:nvPr/>
        </p:nvSpPr>
        <p:spPr>
          <a:xfrm>
            <a:off x="8275320" y="1737360"/>
            <a:ext cx="3154680" cy="411480"/>
          </a:xfrm>
          <a:prstGeom prst="roundRect">
            <a:avLst>
              <a:gd name="adj" fmla="val 13333"/>
            </a:avLst>
          </a:prstGeom>
          <a:solidFill>
            <a:srgbClr val="FDECEA"/>
          </a:solidFill>
          <a:ln/>
        </p:spPr>
      </p:sp>
      <p:sp>
        <p:nvSpPr>
          <p:cNvPr id="24" name="Text 22"/>
          <p:cNvSpPr txBox="1"/>
          <p:nvPr/>
        </p:nvSpPr>
        <p:spPr>
          <a:xfrm>
            <a:off x="8366760" y="1737360"/>
            <a:ext cx="2971800" cy="411480"/>
          </a:xfrm>
          <a:prstGeom prst="rect">
            <a:avLst/>
          </a:prstGeom>
          <a:noFill/>
          <a:ln/>
        </p:spPr>
        <p:txBody>
          <a:bodyPr wrap="square" lIns="0" tIns="0" rIns="0" bIns="0" rtlCol="0" anchor="ctr"/>
          <a:lstStyle/>
          <a:p>
            <a:pPr indent="0" marL="0">
              <a:buNone/>
            </a:pPr>
            <a:r>
              <a:rPr lang="en-US" sz="1000" b="1" spc="100" kern="0" dirty="0">
                <a:solidFill>
                  <a:srgbClr val="C0392B"/>
                </a:solidFill>
                <a:latin typeface="Calibri" pitchFamily="34" charset="0"/>
                <a:ea typeface="Calibri" pitchFamily="34" charset="-122"/>
                <a:cs typeface="Calibri" pitchFamily="34" charset="-120"/>
              </a:rPr>
              <a:t>CHALLENGE</a:t>
            </a:r>
            <a:endParaRPr lang="en-US" sz="1000" dirty="0"/>
          </a:p>
        </p:txBody>
      </p:sp>
      <p:sp>
        <p:nvSpPr>
          <p:cNvPr id="25" name="Text 23"/>
          <p:cNvSpPr txBox="1"/>
          <p:nvPr/>
        </p:nvSpPr>
        <p:spPr>
          <a:xfrm>
            <a:off x="8275320" y="2212848"/>
            <a:ext cx="3154680" cy="502920"/>
          </a:xfrm>
          <a:prstGeom prst="rect">
            <a:avLst/>
          </a:prstGeom>
          <a:noFill/>
          <a:ln/>
        </p:spPr>
        <p:txBody>
          <a:bodyPr wrap="square" lIns="0" tIns="0" rIns="0" bIns="0" rtlCol="0" anchor="ctr"/>
          <a:lstStyle/>
          <a:p>
            <a:pPr indent="0" marL="0">
              <a:buNone/>
            </a:pPr>
            <a:r>
              <a:rPr lang="en-US" sz="1350" b="1" dirty="0">
                <a:solidFill>
                  <a:srgbClr val="1A1D29"/>
                </a:solidFill>
                <a:latin typeface="Calibri" pitchFamily="34" charset="0"/>
                <a:ea typeface="Calibri" pitchFamily="34" charset="-122"/>
                <a:cs typeface="Calibri" pitchFamily="34" charset="-120"/>
              </a:rPr>
              <a:t>YouTube ingestion failed silently</a:t>
            </a:r>
            <a:endParaRPr lang="en-US" sz="1350" dirty="0"/>
          </a:p>
        </p:txBody>
      </p:sp>
      <p:sp>
        <p:nvSpPr>
          <p:cNvPr id="26" name="Text 24"/>
          <p:cNvSpPr txBox="1"/>
          <p:nvPr/>
        </p:nvSpPr>
        <p:spPr>
          <a:xfrm>
            <a:off x="8275320" y="2724912"/>
            <a:ext cx="3154680" cy="96012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yt-dlp's ffmpeg path option doesn't resolve a bare command name via PATH the way a shell does.</a:t>
            </a:r>
            <a:endParaRPr lang="en-US" sz="1100" dirty="0"/>
          </a:p>
        </p:txBody>
      </p:sp>
      <p:sp>
        <p:nvSpPr>
          <p:cNvPr id="27" name="Shape 25"/>
          <p:cNvSpPr/>
          <p:nvPr/>
        </p:nvSpPr>
        <p:spPr>
          <a:xfrm>
            <a:off x="8275320" y="3794760"/>
            <a:ext cx="3154680" cy="411480"/>
          </a:xfrm>
          <a:prstGeom prst="roundRect">
            <a:avLst>
              <a:gd name="adj" fmla="val 13333"/>
            </a:avLst>
          </a:prstGeom>
          <a:solidFill>
            <a:srgbClr val="E4F5E9"/>
          </a:solidFill>
          <a:ln/>
        </p:spPr>
      </p:sp>
      <p:sp>
        <p:nvSpPr>
          <p:cNvPr id="28" name="Text 26"/>
          <p:cNvSpPr txBox="1"/>
          <p:nvPr/>
        </p:nvSpPr>
        <p:spPr>
          <a:xfrm>
            <a:off x="8366760" y="3794760"/>
            <a:ext cx="2971800" cy="411480"/>
          </a:xfrm>
          <a:prstGeom prst="rect">
            <a:avLst/>
          </a:prstGeom>
          <a:noFill/>
          <a:ln/>
        </p:spPr>
        <p:txBody>
          <a:bodyPr wrap="square" lIns="0" tIns="0" rIns="0" bIns="0" rtlCol="0" anchor="ctr"/>
          <a:lstStyle/>
          <a:p>
            <a:pPr indent="0" marL="0">
              <a:buNone/>
            </a:pPr>
            <a:r>
              <a:rPr lang="en-US" sz="1000" b="1" spc="100" kern="0" dirty="0">
                <a:solidFill>
                  <a:srgbClr val="2E9E5B"/>
                </a:solidFill>
                <a:latin typeface="Calibri" pitchFamily="34" charset="0"/>
                <a:ea typeface="Calibri" pitchFamily="34" charset="-122"/>
                <a:cs typeface="Calibri" pitchFamily="34" charset="-120"/>
              </a:rPr>
              <a:t>FIX</a:t>
            </a:r>
            <a:endParaRPr lang="en-US" sz="1000" dirty="0"/>
          </a:p>
        </p:txBody>
      </p:sp>
      <p:sp>
        <p:nvSpPr>
          <p:cNvPr id="29" name="Text 27"/>
          <p:cNvSpPr txBox="1"/>
          <p:nvPr/>
        </p:nvSpPr>
        <p:spPr>
          <a:xfrm>
            <a:off x="8275320" y="4279392"/>
            <a:ext cx="3154680" cy="914400"/>
          </a:xfrm>
          <a:prstGeom prst="rect">
            <a:avLst/>
          </a:prstGeom>
          <a:noFill/>
          <a:ln/>
        </p:spPr>
        <p:txBody>
          <a:bodyPr wrap="square" lIns="0" tIns="0" rIns="0" bIns="0" rtlCol="0" anchor="ctr"/>
          <a:lstStyle/>
          <a:p>
            <a:pPr indent="0" marL="0">
              <a:buNone/>
            </a:pPr>
            <a:r>
              <a:rPr lang="en-US" sz="1100" dirty="0">
                <a:solidFill>
                  <a:srgbClr val="5B6072"/>
                </a:solidFill>
                <a:latin typeface="Calibri" pitchFamily="34" charset="0"/>
                <a:ea typeface="Calibri" pitchFamily="34" charset="-122"/>
                <a:cs typeface="Calibri" pitchFamily="34" charset="-120"/>
              </a:rPr>
              <a:t>Root-caused to a resolution difference between tools. Fixed by resolving the path explicitly before passing it through.</a:t>
            </a:r>
            <a:endParaRPr lang="en-US" sz="1100" dirty="0"/>
          </a:p>
        </p:txBody>
      </p:sp>
      <p:sp>
        <p:nvSpPr>
          <p:cNvPr id="30" name="Text 28"/>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6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WRITTEN RECORD</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Documentation Progress</a:t>
            </a:r>
            <a:endParaRPr lang="en-US" sz="3000" dirty="0"/>
          </a:p>
        </p:txBody>
      </p:sp>
      <p:sp>
        <p:nvSpPr>
          <p:cNvPr id="6" name="Shape 4"/>
          <p:cNvSpPr/>
          <p:nvPr/>
        </p:nvSpPr>
        <p:spPr>
          <a:xfrm>
            <a:off x="548640" y="1554480"/>
            <a:ext cx="3611880" cy="2377440"/>
          </a:xfrm>
          <a:prstGeom prst="roundRect">
            <a:avLst>
              <a:gd name="adj" fmla="val 2692"/>
            </a:avLst>
          </a:prstGeom>
          <a:solidFill>
            <a:srgbClr val="FFFFFF"/>
          </a:solidFill>
          <a:ln/>
          <a:effectLst>
            <a:outerShdw sx="100000" sy="100000" kx="0" ky="0" algn="bl" rotWithShape="0" blurRad="76200" dist="25400" dir="5400000">
              <a:srgbClr val="9AA3C2">
                <a:alpha val="30000"/>
              </a:srgbClr>
            </a:outerShdw>
          </a:effectLst>
        </p:spPr>
      </p:sp>
      <p:sp>
        <p:nvSpPr>
          <p:cNvPr id="7" name="Text 5"/>
          <p:cNvSpPr txBox="1"/>
          <p:nvPr/>
        </p:nvSpPr>
        <p:spPr>
          <a:xfrm>
            <a:off x="777240" y="1783080"/>
            <a:ext cx="3154680" cy="457200"/>
          </a:xfrm>
          <a:prstGeom prst="rect">
            <a:avLst/>
          </a:prstGeom>
          <a:noFill/>
          <a:ln/>
        </p:spPr>
        <p:txBody>
          <a:bodyPr wrap="square" lIns="0" tIns="0" rIns="0" bIns="0" rtlCol="0" anchor="ctr"/>
          <a:lstStyle/>
          <a:p>
            <a:pPr indent="0" marL="0">
              <a:buNone/>
            </a:pPr>
            <a:r>
              <a:rPr lang="en-US" sz="1500" b="1" dirty="0">
                <a:solidFill>
                  <a:srgbClr val="6D8DFF"/>
                </a:solidFill>
                <a:latin typeface="Calibri" pitchFamily="34" charset="0"/>
                <a:ea typeface="Calibri" pitchFamily="34" charset="-122"/>
                <a:cs typeface="Calibri" pitchFamily="34" charset="-120"/>
              </a:rPr>
              <a:t>architecture.md</a:t>
            </a:r>
            <a:endParaRPr lang="en-US" sz="1500" dirty="0"/>
          </a:p>
        </p:txBody>
      </p:sp>
      <p:sp>
        <p:nvSpPr>
          <p:cNvPr id="8" name="Text 6"/>
          <p:cNvSpPr txBox="1"/>
          <p:nvPr/>
        </p:nvSpPr>
        <p:spPr>
          <a:xfrm>
            <a:off x="777240" y="2286000"/>
            <a:ext cx="3154680" cy="146304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Build log: what exists, per file, per phase, with verification evidence for every claim.</a:t>
            </a:r>
            <a:endParaRPr lang="en-US" sz="1200" dirty="0"/>
          </a:p>
        </p:txBody>
      </p:sp>
      <p:sp>
        <p:nvSpPr>
          <p:cNvPr id="9" name="Shape 7"/>
          <p:cNvSpPr/>
          <p:nvPr/>
        </p:nvSpPr>
        <p:spPr>
          <a:xfrm>
            <a:off x="4297680" y="1554480"/>
            <a:ext cx="3611880" cy="2377440"/>
          </a:xfrm>
          <a:prstGeom prst="roundRect">
            <a:avLst>
              <a:gd name="adj" fmla="val 2692"/>
            </a:avLst>
          </a:prstGeom>
          <a:solidFill>
            <a:srgbClr val="FFFFFF"/>
          </a:solidFill>
          <a:ln/>
          <a:effectLst>
            <a:outerShdw sx="100000" sy="100000" kx="0" ky="0" algn="bl" rotWithShape="0" blurRad="76200" dist="25400" dir="5400000">
              <a:srgbClr val="9AA3C2">
                <a:alpha val="30000"/>
              </a:srgbClr>
            </a:outerShdw>
          </a:effectLst>
        </p:spPr>
      </p:sp>
      <p:sp>
        <p:nvSpPr>
          <p:cNvPr id="10" name="Text 8"/>
          <p:cNvSpPr txBox="1"/>
          <p:nvPr/>
        </p:nvSpPr>
        <p:spPr>
          <a:xfrm>
            <a:off x="4526280" y="1783080"/>
            <a:ext cx="3154680" cy="457200"/>
          </a:xfrm>
          <a:prstGeom prst="rect">
            <a:avLst/>
          </a:prstGeom>
          <a:noFill/>
          <a:ln/>
        </p:spPr>
        <p:txBody>
          <a:bodyPr wrap="square" lIns="0" tIns="0" rIns="0" bIns="0" rtlCol="0" anchor="ctr"/>
          <a:lstStyle/>
          <a:p>
            <a:pPr indent="0" marL="0">
              <a:buNone/>
            </a:pPr>
            <a:r>
              <a:rPr lang="en-US" sz="1500" b="1" dirty="0">
                <a:solidFill>
                  <a:srgbClr val="6D8DFF"/>
                </a:solidFill>
                <a:latin typeface="Calibri" pitchFamily="34" charset="0"/>
                <a:ea typeface="Calibri" pitchFamily="34" charset="-122"/>
                <a:cs typeface="Calibri" pitchFamily="34" charset="-120"/>
              </a:rPr>
              <a:t>concepts.md</a:t>
            </a:r>
            <a:endParaRPr lang="en-US" sz="1500" dirty="0"/>
          </a:p>
        </p:txBody>
      </p:sp>
      <p:sp>
        <p:nvSpPr>
          <p:cNvPr id="11" name="Text 9"/>
          <p:cNvSpPr txBox="1"/>
          <p:nvPr/>
        </p:nvSpPr>
        <p:spPr>
          <a:xfrm>
            <a:off x="4526280" y="2286000"/>
            <a:ext cx="3154680" cy="146304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In-depth knowledge reference: what each technology is, why it was chosen, alternatives, limitations, viva-style Q&amp;A.</a:t>
            </a:r>
            <a:endParaRPr lang="en-US" sz="1200" dirty="0"/>
          </a:p>
        </p:txBody>
      </p:sp>
      <p:sp>
        <p:nvSpPr>
          <p:cNvPr id="12" name="Shape 10"/>
          <p:cNvSpPr/>
          <p:nvPr/>
        </p:nvSpPr>
        <p:spPr>
          <a:xfrm>
            <a:off x="8046720" y="1554480"/>
            <a:ext cx="3611880" cy="2377440"/>
          </a:xfrm>
          <a:prstGeom prst="roundRect">
            <a:avLst>
              <a:gd name="adj" fmla="val 2692"/>
            </a:avLst>
          </a:prstGeom>
          <a:solidFill>
            <a:srgbClr val="FFFFFF"/>
          </a:solidFill>
          <a:ln/>
          <a:effectLst>
            <a:outerShdw sx="100000" sy="100000" kx="0" ky="0" algn="bl" rotWithShape="0" blurRad="76200" dist="25400" dir="5400000">
              <a:srgbClr val="9AA3C2">
                <a:alpha val="30000"/>
              </a:srgbClr>
            </a:outerShdw>
          </a:effectLst>
        </p:spPr>
      </p:sp>
      <p:sp>
        <p:nvSpPr>
          <p:cNvPr id="13" name="Text 11"/>
          <p:cNvSpPr txBox="1"/>
          <p:nvPr/>
        </p:nvSpPr>
        <p:spPr>
          <a:xfrm>
            <a:off x="8275320" y="1783080"/>
            <a:ext cx="3154680" cy="457200"/>
          </a:xfrm>
          <a:prstGeom prst="rect">
            <a:avLst/>
          </a:prstGeom>
          <a:noFill/>
          <a:ln/>
        </p:spPr>
        <p:txBody>
          <a:bodyPr wrap="square" lIns="0" tIns="0" rIns="0" bIns="0" rtlCol="0" anchor="ctr"/>
          <a:lstStyle/>
          <a:p>
            <a:pPr indent="0" marL="0">
              <a:buNone/>
            </a:pPr>
            <a:r>
              <a:rPr lang="en-US" sz="1500" b="1" dirty="0">
                <a:solidFill>
                  <a:srgbClr val="6D8DFF"/>
                </a:solidFill>
                <a:latin typeface="Calibri" pitchFamily="34" charset="0"/>
                <a:ea typeface="Calibri" pitchFamily="34" charset="-122"/>
                <a:cs typeface="Calibri" pitchFamily="34" charset="-120"/>
              </a:rPr>
              <a:t>Progress Report (.docx)</a:t>
            </a:r>
            <a:endParaRPr lang="en-US" sz="1500" dirty="0"/>
          </a:p>
        </p:txBody>
      </p:sp>
      <p:sp>
        <p:nvSpPr>
          <p:cNvPr id="14" name="Text 12"/>
          <p:cNvSpPr txBox="1"/>
          <p:nvPr/>
        </p:nvSpPr>
        <p:spPr>
          <a:xfrm>
            <a:off x="8275320" y="2286000"/>
            <a:ext cx="3154680" cy="146304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Formal write-up: executive summary, architecture, phase-by-phase status, verification methodology, interim results.</a:t>
            </a:r>
            <a:endParaRPr lang="en-US" sz="1200" dirty="0"/>
          </a:p>
        </p:txBody>
      </p:sp>
      <p:sp>
        <p:nvSpPr>
          <p:cNvPr id="15" name="Shape 13"/>
          <p:cNvSpPr/>
          <p:nvPr/>
        </p:nvSpPr>
        <p:spPr>
          <a:xfrm>
            <a:off x="548640" y="4160520"/>
            <a:ext cx="11064240" cy="640080"/>
          </a:xfrm>
          <a:prstGeom prst="roundRect">
            <a:avLst>
              <a:gd name="adj" fmla="val 8571"/>
            </a:avLst>
          </a:prstGeom>
          <a:solidFill>
            <a:srgbClr val="FFF6E0"/>
          </a:solidFill>
          <a:ln w="12700">
            <a:solidFill>
              <a:srgbClr val="B8860B"/>
            </a:solidFill>
            <a:prstDash val="solid"/>
          </a:ln>
        </p:spPr>
      </p:sp>
      <p:sp>
        <p:nvSpPr>
          <p:cNvPr id="16" name="Text 14"/>
          <p:cNvSpPr txBox="1"/>
          <p:nvPr/>
        </p:nvSpPr>
        <p:spPr>
          <a:xfrm>
            <a:off x="685800" y="4160520"/>
            <a:ext cx="10789920" cy="640080"/>
          </a:xfrm>
          <a:prstGeom prst="rect">
            <a:avLst/>
          </a:prstGeom>
          <a:noFill/>
          <a:ln/>
        </p:spPr>
        <p:txBody>
          <a:bodyPr wrap="square" lIns="0" tIns="0" rIns="0" bIns="0" rtlCol="0" anchor="ctr"/>
          <a:lstStyle/>
          <a:p>
            <a:pPr indent="0" marL="0">
              <a:buNone/>
            </a:pPr>
            <a:r>
              <a:rPr lang="en-US" sz="1150" i="1" dirty="0">
                <a:solidFill>
                  <a:srgbClr val="6B5100"/>
                </a:solidFill>
                <a:latin typeface="Calibri" pitchFamily="34" charset="0"/>
                <a:ea typeface="Calibri" pitchFamily="34" charset="-122"/>
                <a:cs typeface="Calibri" pitchFamily="34" charset="-120"/>
              </a:rPr>
              <a:t>Note: map the above onto your department's required chapter structure (e.g. Ch.1 Intro / Ch.2 Literature / Ch.3 Methodology / Ch.4 Implementation) before submission — confirm the exact template with your guide.</a:t>
            </a:r>
            <a:endParaRPr lang="en-US" sz="1150" dirty="0"/>
          </a:p>
        </p:txBody>
      </p:sp>
      <p:sp>
        <p:nvSpPr>
          <p:cNvPr id="17" name="Text 15"/>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A"/>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SELF-ASSESSMENT</a:t>
            </a:r>
            <a:endParaRPr lang="en-US" sz="13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Known Limitations</a:t>
            </a:r>
            <a:endParaRPr lang="en-US" sz="3000" dirty="0"/>
          </a:p>
        </p:txBody>
      </p:sp>
      <p:sp>
        <p:nvSpPr>
          <p:cNvPr id="4" name="Shape 2"/>
          <p:cNvSpPr/>
          <p:nvPr/>
        </p:nvSpPr>
        <p:spPr>
          <a:xfrm>
            <a:off x="548640" y="1673352"/>
            <a:ext cx="128016" cy="128016"/>
          </a:xfrm>
          <a:prstGeom prst="ellipse">
            <a:avLst/>
          </a:prstGeom>
          <a:solidFill>
            <a:srgbClr val="B8860B"/>
          </a:solidFill>
          <a:ln/>
        </p:spPr>
      </p:sp>
      <p:sp>
        <p:nvSpPr>
          <p:cNvPr id="5" name="Text 3"/>
          <p:cNvSpPr txBox="1"/>
          <p:nvPr/>
        </p:nvSpPr>
        <p:spPr>
          <a:xfrm>
            <a:off x="868680" y="1600200"/>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No conversation memory — each question is answered independently (by design, out of current scope)</a:t>
            </a:r>
            <a:endParaRPr lang="en-US" sz="1400" dirty="0"/>
          </a:p>
        </p:txBody>
      </p:sp>
      <p:sp>
        <p:nvSpPr>
          <p:cNvPr id="6" name="Shape 4"/>
          <p:cNvSpPr/>
          <p:nvPr/>
        </p:nvSpPr>
        <p:spPr>
          <a:xfrm>
            <a:off x="548640" y="2295144"/>
            <a:ext cx="128016" cy="128016"/>
          </a:xfrm>
          <a:prstGeom prst="ellipse">
            <a:avLst/>
          </a:prstGeom>
          <a:solidFill>
            <a:srgbClr val="B8860B"/>
          </a:solidFill>
          <a:ln/>
        </p:spPr>
      </p:sp>
      <p:sp>
        <p:nvSpPr>
          <p:cNvPr id="7" name="Text 5"/>
          <p:cNvSpPr txBox="1"/>
          <p:nvPr/>
        </p:nvSpPr>
        <p:spPr>
          <a:xfrm>
            <a:off x="868680" y="2221992"/>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Segment-level, not word-level, timestamps — accurate to a few seconds</a:t>
            </a:r>
            <a:endParaRPr lang="en-US" sz="1400" dirty="0"/>
          </a:p>
        </p:txBody>
      </p:sp>
      <p:sp>
        <p:nvSpPr>
          <p:cNvPr id="8" name="Shape 6"/>
          <p:cNvSpPr/>
          <p:nvPr/>
        </p:nvSpPr>
        <p:spPr>
          <a:xfrm>
            <a:off x="548640" y="2916936"/>
            <a:ext cx="128016" cy="128016"/>
          </a:xfrm>
          <a:prstGeom prst="ellipse">
            <a:avLst/>
          </a:prstGeom>
          <a:solidFill>
            <a:srgbClr val="B8860B"/>
          </a:solidFill>
          <a:ln/>
        </p:spPr>
      </p:sp>
      <p:sp>
        <p:nvSpPr>
          <p:cNvPr id="9" name="Text 7"/>
          <p:cNvSpPr txBox="1"/>
          <p:nvPr/>
        </p:nvSpPr>
        <p:spPr>
          <a:xfrm>
            <a:off x="868680" y="2843784"/>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No speaker diarization — knows what was said and when, not who said it</a:t>
            </a:r>
            <a:endParaRPr lang="en-US" sz="1400" dirty="0"/>
          </a:p>
        </p:txBody>
      </p:sp>
      <p:sp>
        <p:nvSpPr>
          <p:cNvPr id="10" name="Shape 8"/>
          <p:cNvSpPr/>
          <p:nvPr/>
        </p:nvSpPr>
        <p:spPr>
          <a:xfrm>
            <a:off x="548640" y="3538728"/>
            <a:ext cx="128016" cy="128016"/>
          </a:xfrm>
          <a:prstGeom prst="ellipse">
            <a:avLst/>
          </a:prstGeom>
          <a:solidFill>
            <a:srgbClr val="B8860B"/>
          </a:solidFill>
          <a:ln/>
        </p:spPr>
      </p:sp>
      <p:sp>
        <p:nvSpPr>
          <p:cNvPr id="11" name="Text 9"/>
          <p:cNvSpPr txBox="1"/>
          <p:nvPr/>
        </p:nvSpPr>
        <p:spPr>
          <a:xfrm>
            <a:off x="868680" y="3465576"/>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Local 3B-parameter LLM has a real quality ceiling vs. a larger hosted model</a:t>
            </a:r>
            <a:endParaRPr lang="en-US" sz="1400" dirty="0"/>
          </a:p>
        </p:txBody>
      </p:sp>
      <p:sp>
        <p:nvSpPr>
          <p:cNvPr id="12" name="Shape 10"/>
          <p:cNvSpPr/>
          <p:nvPr/>
        </p:nvSpPr>
        <p:spPr>
          <a:xfrm>
            <a:off x="548640" y="4160520"/>
            <a:ext cx="128016" cy="128016"/>
          </a:xfrm>
          <a:prstGeom prst="ellipse">
            <a:avLst/>
          </a:prstGeom>
          <a:solidFill>
            <a:srgbClr val="B8860B"/>
          </a:solidFill>
          <a:ln/>
        </p:spPr>
      </p:sp>
      <p:sp>
        <p:nvSpPr>
          <p:cNvPr id="13" name="Text 11"/>
          <p:cNvSpPr txBox="1"/>
          <p:nvPr/>
        </p:nvSpPr>
        <p:spPr>
          <a:xfrm>
            <a:off x="868680" y="4087368"/>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Text and visual similarity scores are on different numeric scales — fusion normalization planned, not yet implemented</a:t>
            </a:r>
            <a:endParaRPr lang="en-US" sz="1400" dirty="0"/>
          </a:p>
        </p:txBody>
      </p:sp>
      <p:sp>
        <p:nvSpPr>
          <p:cNvPr id="14" name="Shape 12"/>
          <p:cNvSpPr/>
          <p:nvPr/>
        </p:nvSpPr>
        <p:spPr>
          <a:xfrm>
            <a:off x="548640" y="4782312"/>
            <a:ext cx="128016" cy="128016"/>
          </a:xfrm>
          <a:prstGeom prst="ellipse">
            <a:avLst/>
          </a:prstGeom>
          <a:solidFill>
            <a:srgbClr val="B8860B"/>
          </a:solidFill>
          <a:ln/>
        </p:spPr>
      </p:sp>
      <p:sp>
        <p:nvSpPr>
          <p:cNvPr id="15" name="Text 13"/>
          <p:cNvSpPr txBox="1"/>
          <p:nvPr/>
        </p:nvSpPr>
        <p:spPr>
          <a:xfrm>
            <a:off x="868680" y="4709160"/>
            <a:ext cx="10607040" cy="548640"/>
          </a:xfrm>
          <a:prstGeom prst="rect">
            <a:avLst/>
          </a:prstGeom>
          <a:noFill/>
          <a:ln/>
        </p:spPr>
        <p:txBody>
          <a:bodyPr wrap="square" lIns="0" tIns="0" rIns="0" bIns="0" rtlCol="0" anchor="ctr"/>
          <a:lstStyle/>
          <a:p>
            <a:pPr indent="0" marL="0">
              <a:buNone/>
            </a:pPr>
            <a:r>
              <a:rPr lang="en-US" sz="1400" dirty="0">
                <a:solidFill>
                  <a:srgbClr val="1A1D29"/>
                </a:solidFill>
                <a:latin typeface="Calibri" pitchFamily="34" charset="0"/>
                <a:ea typeface="Calibri" pitchFamily="34" charset="-122"/>
                <a:cs typeface="Calibri" pitchFamily="34" charset="-120"/>
              </a:rPr>
              <a:t>No formal evaluation dataset yet (Precision@K, WER) — targeted testing only so far</a:t>
            </a:r>
            <a:endParaRPr lang="en-US" sz="1400" dirty="0"/>
          </a:p>
        </p:txBody>
      </p:sp>
      <p:sp>
        <p:nvSpPr>
          <p:cNvPr id="16" name="Text 1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7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REMAINING ROADMAP</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Next Steps</a:t>
            </a:r>
            <a:endParaRPr lang="en-US" sz="3000" dirty="0"/>
          </a:p>
        </p:txBody>
      </p:sp>
      <p:sp>
        <p:nvSpPr>
          <p:cNvPr id="6" name="Shape 4"/>
          <p:cNvSpPr/>
          <p:nvPr/>
        </p:nvSpPr>
        <p:spPr>
          <a:xfrm>
            <a:off x="548640" y="1600200"/>
            <a:ext cx="1371600" cy="594360"/>
          </a:xfrm>
          <a:prstGeom prst="roundRect">
            <a:avLst>
              <a:gd name="adj" fmla="val 9231"/>
            </a:avLst>
          </a:prstGeom>
          <a:solidFill>
            <a:srgbClr val="12163A"/>
          </a:solidFill>
          <a:ln/>
        </p:spPr>
      </p:sp>
      <p:sp>
        <p:nvSpPr>
          <p:cNvPr id="7" name="Text 5"/>
          <p:cNvSpPr txBox="1"/>
          <p:nvPr/>
        </p:nvSpPr>
        <p:spPr>
          <a:xfrm>
            <a:off x="548640" y="1600200"/>
            <a:ext cx="137160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6</a:t>
            </a:r>
            <a:endParaRPr lang="en-US" sz="1300" dirty="0"/>
          </a:p>
        </p:txBody>
      </p:sp>
      <p:sp>
        <p:nvSpPr>
          <p:cNvPr id="8" name="Shape 6"/>
          <p:cNvSpPr/>
          <p:nvPr/>
        </p:nvSpPr>
        <p:spPr>
          <a:xfrm>
            <a:off x="2057400" y="1600200"/>
            <a:ext cx="9555480" cy="594360"/>
          </a:xfrm>
          <a:prstGeom prst="roundRect">
            <a:avLst>
              <a:gd name="adj" fmla="val 10769"/>
            </a:avLst>
          </a:prstGeom>
          <a:solidFill>
            <a:srgbClr val="FFFFFF"/>
          </a:solidFill>
          <a:ln/>
          <a:effectLst>
            <a:outerShdw sx="100000" sy="100000" kx="0" ky="0" algn="bl" rotWithShape="0" blurRad="76200" dist="25400" dir="5400000">
              <a:srgbClr val="9AA3C2">
                <a:alpha val="30000"/>
              </a:srgbClr>
            </a:outerShdw>
          </a:effectLst>
        </p:spPr>
      </p:sp>
      <p:sp>
        <p:nvSpPr>
          <p:cNvPr id="9" name="Text 7"/>
          <p:cNvSpPr txBox="1"/>
          <p:nvPr/>
        </p:nvSpPr>
        <p:spPr>
          <a:xfrm>
            <a:off x="2286000" y="1600200"/>
            <a:ext cx="9144000" cy="594360"/>
          </a:xfrm>
          <a:prstGeom prst="rect">
            <a:avLst/>
          </a:prstGeom>
          <a:noFill/>
          <a:ln/>
        </p:spPr>
        <p:txBody>
          <a:bodyPr wrap="square" lIns="0" tIns="0" rIns="0" bIns="0" rtlCol="0" anchor="ctr"/>
          <a:lstStyle/>
          <a:p>
            <a:pPr indent="0" marL="0">
              <a:buNone/>
            </a:pPr>
            <a:r>
              <a:rPr lang="en-US" sz="1350" dirty="0">
                <a:solidFill>
                  <a:srgbClr val="1A1D29"/>
                </a:solidFill>
                <a:latin typeface="Calibri" pitchFamily="34" charset="0"/>
                <a:ea typeface="Calibri" pitchFamily="34" charset="-122"/>
                <a:cs typeface="Calibri" pitchFamily="34" charset="-120"/>
              </a:rPr>
              <a:t>Fuse text + visual retrieval into one ranked, weighted list of evidence</a:t>
            </a:r>
            <a:endParaRPr lang="en-US" sz="1350" dirty="0"/>
          </a:p>
        </p:txBody>
      </p:sp>
      <p:sp>
        <p:nvSpPr>
          <p:cNvPr id="10" name="Shape 8"/>
          <p:cNvSpPr/>
          <p:nvPr/>
        </p:nvSpPr>
        <p:spPr>
          <a:xfrm>
            <a:off x="548640" y="2377440"/>
            <a:ext cx="1371600" cy="594360"/>
          </a:xfrm>
          <a:prstGeom prst="roundRect">
            <a:avLst>
              <a:gd name="adj" fmla="val 9231"/>
            </a:avLst>
          </a:prstGeom>
          <a:solidFill>
            <a:srgbClr val="12163A"/>
          </a:solidFill>
          <a:ln/>
        </p:spPr>
      </p:sp>
      <p:sp>
        <p:nvSpPr>
          <p:cNvPr id="11" name="Text 9"/>
          <p:cNvSpPr txBox="1"/>
          <p:nvPr/>
        </p:nvSpPr>
        <p:spPr>
          <a:xfrm>
            <a:off x="548640" y="2377440"/>
            <a:ext cx="137160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7</a:t>
            </a:r>
            <a:endParaRPr lang="en-US" sz="1300" dirty="0"/>
          </a:p>
        </p:txBody>
      </p:sp>
      <p:sp>
        <p:nvSpPr>
          <p:cNvPr id="12" name="Shape 10"/>
          <p:cNvSpPr/>
          <p:nvPr/>
        </p:nvSpPr>
        <p:spPr>
          <a:xfrm>
            <a:off x="2057400" y="2377440"/>
            <a:ext cx="9555480" cy="594360"/>
          </a:xfrm>
          <a:prstGeom prst="roundRect">
            <a:avLst>
              <a:gd name="adj" fmla="val 10769"/>
            </a:avLst>
          </a:prstGeom>
          <a:solidFill>
            <a:srgbClr val="FFFFFF"/>
          </a:solidFill>
          <a:ln/>
          <a:effectLst>
            <a:outerShdw sx="100000" sy="100000" kx="0" ky="0" algn="bl" rotWithShape="0" blurRad="76200" dist="25400" dir="5400000">
              <a:srgbClr val="9AA3C2">
                <a:alpha val="30000"/>
              </a:srgbClr>
            </a:outerShdw>
          </a:effectLst>
        </p:spPr>
      </p:sp>
      <p:sp>
        <p:nvSpPr>
          <p:cNvPr id="13" name="Text 11"/>
          <p:cNvSpPr txBox="1"/>
          <p:nvPr/>
        </p:nvSpPr>
        <p:spPr>
          <a:xfrm>
            <a:off x="2286000" y="2377440"/>
            <a:ext cx="9144000" cy="594360"/>
          </a:xfrm>
          <a:prstGeom prst="rect">
            <a:avLst/>
          </a:prstGeom>
          <a:noFill/>
          <a:ln/>
        </p:spPr>
        <p:txBody>
          <a:bodyPr wrap="square" lIns="0" tIns="0" rIns="0" bIns="0" rtlCol="0" anchor="ctr"/>
          <a:lstStyle/>
          <a:p>
            <a:pPr indent="0" marL="0">
              <a:buNone/>
            </a:pPr>
            <a:r>
              <a:rPr lang="en-US" sz="1350" dirty="0">
                <a:solidFill>
                  <a:srgbClr val="1A1D29"/>
                </a:solidFill>
                <a:latin typeface="Calibri" pitchFamily="34" charset="0"/>
                <a:ea typeface="Calibri" pitchFamily="34" charset="-122"/>
                <a:cs typeface="Calibri" pitchFamily="34" charset="-120"/>
              </a:rPr>
              <a:t>Surface fused, timestamp-aware evidence directly in the chat UI</a:t>
            </a:r>
            <a:endParaRPr lang="en-US" sz="1350" dirty="0"/>
          </a:p>
        </p:txBody>
      </p:sp>
      <p:sp>
        <p:nvSpPr>
          <p:cNvPr id="14" name="Shape 12"/>
          <p:cNvSpPr/>
          <p:nvPr/>
        </p:nvSpPr>
        <p:spPr>
          <a:xfrm>
            <a:off x="548640" y="3154680"/>
            <a:ext cx="1371600" cy="594360"/>
          </a:xfrm>
          <a:prstGeom prst="roundRect">
            <a:avLst>
              <a:gd name="adj" fmla="val 9231"/>
            </a:avLst>
          </a:prstGeom>
          <a:solidFill>
            <a:srgbClr val="12163A"/>
          </a:solidFill>
          <a:ln/>
        </p:spPr>
      </p:sp>
      <p:sp>
        <p:nvSpPr>
          <p:cNvPr id="15" name="Text 13"/>
          <p:cNvSpPr txBox="1"/>
          <p:nvPr/>
        </p:nvSpPr>
        <p:spPr>
          <a:xfrm>
            <a:off x="548640" y="3154680"/>
            <a:ext cx="137160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9</a:t>
            </a:r>
            <a:endParaRPr lang="en-US" sz="1300" dirty="0"/>
          </a:p>
        </p:txBody>
      </p:sp>
      <p:sp>
        <p:nvSpPr>
          <p:cNvPr id="16" name="Shape 14"/>
          <p:cNvSpPr/>
          <p:nvPr/>
        </p:nvSpPr>
        <p:spPr>
          <a:xfrm>
            <a:off x="2057400" y="3154680"/>
            <a:ext cx="9555480" cy="594360"/>
          </a:xfrm>
          <a:prstGeom prst="roundRect">
            <a:avLst>
              <a:gd name="adj" fmla="val 10769"/>
            </a:avLst>
          </a:prstGeom>
          <a:solidFill>
            <a:srgbClr val="FFFFFF"/>
          </a:solidFill>
          <a:ln/>
          <a:effectLst>
            <a:outerShdw sx="100000" sy="100000" kx="0" ky="0" algn="bl" rotWithShape="0" blurRad="76200" dist="25400" dir="5400000">
              <a:srgbClr val="9AA3C2">
                <a:alpha val="30000"/>
              </a:srgbClr>
            </a:outerShdw>
          </a:effectLst>
        </p:spPr>
      </p:sp>
      <p:sp>
        <p:nvSpPr>
          <p:cNvPr id="17" name="Text 15"/>
          <p:cNvSpPr txBox="1"/>
          <p:nvPr/>
        </p:nvSpPr>
        <p:spPr>
          <a:xfrm>
            <a:off x="2286000" y="3154680"/>
            <a:ext cx="9144000" cy="594360"/>
          </a:xfrm>
          <a:prstGeom prst="rect">
            <a:avLst/>
          </a:prstGeom>
          <a:noFill/>
          <a:ln/>
        </p:spPr>
        <p:txBody>
          <a:bodyPr wrap="square" lIns="0" tIns="0" rIns="0" bIns="0" rtlCol="0" anchor="ctr"/>
          <a:lstStyle/>
          <a:p>
            <a:pPr indent="0" marL="0">
              <a:buNone/>
            </a:pPr>
            <a:r>
              <a:rPr lang="en-US" sz="1350" dirty="0">
                <a:solidFill>
                  <a:srgbClr val="1A1D29"/>
                </a:solidFill>
                <a:latin typeface="Calibri" pitchFamily="34" charset="0"/>
                <a:ea typeface="Calibri" pitchFamily="34" charset="-122"/>
                <a:cs typeface="Calibri" pitchFamily="34" charset="-120"/>
              </a:rPr>
              <a:t>Move to PostgreSQL + background job processing for longer videos</a:t>
            </a:r>
            <a:endParaRPr lang="en-US" sz="1350" dirty="0"/>
          </a:p>
        </p:txBody>
      </p:sp>
      <p:sp>
        <p:nvSpPr>
          <p:cNvPr id="18" name="Shape 16"/>
          <p:cNvSpPr/>
          <p:nvPr/>
        </p:nvSpPr>
        <p:spPr>
          <a:xfrm>
            <a:off x="548640" y="3931920"/>
            <a:ext cx="1371600" cy="594360"/>
          </a:xfrm>
          <a:prstGeom prst="roundRect">
            <a:avLst>
              <a:gd name="adj" fmla="val 9231"/>
            </a:avLst>
          </a:prstGeom>
          <a:solidFill>
            <a:srgbClr val="12163A"/>
          </a:solidFill>
          <a:ln/>
        </p:spPr>
      </p:sp>
      <p:sp>
        <p:nvSpPr>
          <p:cNvPr id="19" name="Text 17"/>
          <p:cNvSpPr txBox="1"/>
          <p:nvPr/>
        </p:nvSpPr>
        <p:spPr>
          <a:xfrm>
            <a:off x="548640" y="3931920"/>
            <a:ext cx="137160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10</a:t>
            </a:r>
            <a:endParaRPr lang="en-US" sz="1300" dirty="0"/>
          </a:p>
        </p:txBody>
      </p:sp>
      <p:sp>
        <p:nvSpPr>
          <p:cNvPr id="20" name="Shape 18"/>
          <p:cNvSpPr/>
          <p:nvPr/>
        </p:nvSpPr>
        <p:spPr>
          <a:xfrm>
            <a:off x="2057400" y="3931920"/>
            <a:ext cx="9555480" cy="594360"/>
          </a:xfrm>
          <a:prstGeom prst="roundRect">
            <a:avLst>
              <a:gd name="adj" fmla="val 10769"/>
            </a:avLst>
          </a:prstGeom>
          <a:solidFill>
            <a:srgbClr val="FFFFFF"/>
          </a:solidFill>
          <a:ln/>
          <a:effectLst>
            <a:outerShdw sx="100000" sy="100000" kx="0" ky="0" algn="bl" rotWithShape="0" blurRad="76200" dist="25400" dir="5400000">
              <a:srgbClr val="9AA3C2">
                <a:alpha val="30000"/>
              </a:srgbClr>
            </a:outerShdw>
          </a:effectLst>
        </p:spPr>
      </p:sp>
      <p:sp>
        <p:nvSpPr>
          <p:cNvPr id="21" name="Text 19"/>
          <p:cNvSpPr txBox="1"/>
          <p:nvPr/>
        </p:nvSpPr>
        <p:spPr>
          <a:xfrm>
            <a:off x="2286000" y="3931920"/>
            <a:ext cx="9144000" cy="594360"/>
          </a:xfrm>
          <a:prstGeom prst="rect">
            <a:avLst/>
          </a:prstGeom>
          <a:noFill/>
          <a:ln/>
        </p:spPr>
        <p:txBody>
          <a:bodyPr wrap="square" lIns="0" tIns="0" rIns="0" bIns="0" rtlCol="0" anchor="ctr"/>
          <a:lstStyle/>
          <a:p>
            <a:pPr indent="0" marL="0">
              <a:buNone/>
            </a:pPr>
            <a:r>
              <a:rPr lang="en-US" sz="1350" dirty="0">
                <a:solidFill>
                  <a:srgbClr val="1A1D29"/>
                </a:solidFill>
                <a:latin typeface="Calibri" pitchFamily="34" charset="0"/>
                <a:ea typeface="Calibri" pitchFamily="34" charset="-122"/>
                <a:cs typeface="Calibri" pitchFamily="34" charset="-120"/>
              </a:rPr>
              <a:t>Build a labeled evaluation set; report Precision@K / Recall@K / WER</a:t>
            </a:r>
            <a:endParaRPr lang="en-US" sz="1350" dirty="0"/>
          </a:p>
        </p:txBody>
      </p:sp>
      <p:sp>
        <p:nvSpPr>
          <p:cNvPr id="22" name="Shape 20"/>
          <p:cNvSpPr/>
          <p:nvPr/>
        </p:nvSpPr>
        <p:spPr>
          <a:xfrm>
            <a:off x="548640" y="4709160"/>
            <a:ext cx="1371600" cy="594360"/>
          </a:xfrm>
          <a:prstGeom prst="roundRect">
            <a:avLst>
              <a:gd name="adj" fmla="val 9231"/>
            </a:avLst>
          </a:prstGeom>
          <a:solidFill>
            <a:srgbClr val="12163A"/>
          </a:solidFill>
          <a:ln/>
        </p:spPr>
      </p:sp>
      <p:sp>
        <p:nvSpPr>
          <p:cNvPr id="23" name="Text 21"/>
          <p:cNvSpPr txBox="1"/>
          <p:nvPr/>
        </p:nvSpPr>
        <p:spPr>
          <a:xfrm>
            <a:off x="548640" y="4709160"/>
            <a:ext cx="137160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12</a:t>
            </a:r>
            <a:endParaRPr lang="en-US" sz="1300" dirty="0"/>
          </a:p>
        </p:txBody>
      </p:sp>
      <p:sp>
        <p:nvSpPr>
          <p:cNvPr id="24" name="Shape 22"/>
          <p:cNvSpPr/>
          <p:nvPr/>
        </p:nvSpPr>
        <p:spPr>
          <a:xfrm>
            <a:off x="2057400" y="4709160"/>
            <a:ext cx="9555480" cy="594360"/>
          </a:xfrm>
          <a:prstGeom prst="roundRect">
            <a:avLst>
              <a:gd name="adj" fmla="val 10769"/>
            </a:avLst>
          </a:prstGeom>
          <a:solidFill>
            <a:srgbClr val="FFFFFF"/>
          </a:solidFill>
          <a:ln/>
          <a:effectLst>
            <a:outerShdw sx="100000" sy="100000" kx="0" ky="0" algn="bl" rotWithShape="0" blurRad="76200" dist="25400" dir="5400000">
              <a:srgbClr val="9AA3C2">
                <a:alpha val="30000"/>
              </a:srgbClr>
            </a:outerShdw>
          </a:effectLst>
        </p:spPr>
      </p:sp>
      <p:sp>
        <p:nvSpPr>
          <p:cNvPr id="25" name="Text 23"/>
          <p:cNvSpPr txBox="1"/>
          <p:nvPr/>
        </p:nvSpPr>
        <p:spPr>
          <a:xfrm>
            <a:off x="2286000" y="4709160"/>
            <a:ext cx="9144000" cy="594360"/>
          </a:xfrm>
          <a:prstGeom prst="rect">
            <a:avLst/>
          </a:prstGeom>
          <a:noFill/>
          <a:ln/>
        </p:spPr>
        <p:txBody>
          <a:bodyPr wrap="square" lIns="0" tIns="0" rIns="0" bIns="0" rtlCol="0" anchor="ctr"/>
          <a:lstStyle/>
          <a:p>
            <a:pPr indent="0" marL="0">
              <a:buNone/>
            </a:pPr>
            <a:r>
              <a:rPr lang="en-US" sz="1350" dirty="0">
                <a:solidFill>
                  <a:srgbClr val="1A1D29"/>
                </a:solidFill>
                <a:latin typeface="Calibri" pitchFamily="34" charset="0"/>
                <a:ea typeface="Calibri" pitchFamily="34" charset="-122"/>
                <a:cs typeface="Calibri" pitchFamily="34" charset="-120"/>
              </a:rPr>
              <a:t>Containerize with Docker Compose for reproducible deployment</a:t>
            </a:r>
            <a:endParaRPr lang="en-US" sz="1350" dirty="0"/>
          </a:p>
        </p:txBody>
      </p:sp>
      <p:sp>
        <p:nvSpPr>
          <p:cNvPr id="26" name="Text 24"/>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2FA"/>
        </a:solidFill>
      </p:bgPr>
    </p:bg>
    <p:spTree>
      <p:nvGrpSpPr>
        <p:cNvPr id="1" name=""/>
        <p:cNvGrpSpPr/>
        <p:nvPr/>
      </p:nvGrpSpPr>
      <p:grpSpPr>
        <a:xfrm>
          <a:off x="0" y="0"/>
          <a:ext cx="0" cy="0"/>
          <a:chOff x="0" y="0"/>
          <a:chExt cx="0" cy="0"/>
        </a:xfrm>
      </p:grpSpPr>
      <p:sp>
        <p:nvSpPr>
          <p:cNvPr id="2" name="Shape 0"/>
          <p:cNvSpPr/>
          <p:nvPr/>
        </p:nvSpPr>
        <p:spPr>
          <a:xfrm>
            <a:off x="8869680" y="320040"/>
            <a:ext cx="2788920" cy="384048"/>
          </a:xfrm>
          <a:prstGeom prst="roundRect">
            <a:avLst>
              <a:gd name="adj" fmla="val 19048"/>
            </a:avLst>
          </a:prstGeom>
          <a:solidFill>
            <a:srgbClr val="12163A"/>
          </a:solidFill>
          <a:ln/>
        </p:spPr>
      </p:sp>
      <p:sp>
        <p:nvSpPr>
          <p:cNvPr id="3" name="Text 1"/>
          <p:cNvSpPr txBox="1"/>
          <p:nvPr/>
        </p:nvSpPr>
        <p:spPr>
          <a:xfrm>
            <a:off x="8869680" y="320040"/>
            <a:ext cx="27889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 7 · 3 MARKS</a:t>
            </a:r>
            <a:endParaRPr lang="en-US" sz="1100" dirty="0"/>
          </a:p>
        </p:txBody>
      </p:sp>
      <p:sp>
        <p:nvSpPr>
          <p:cNvPr id="4" name="Text 2"/>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6D8DFF"/>
                </a:solidFill>
                <a:latin typeface="Calibri" pitchFamily="34" charset="0"/>
                <a:ea typeface="Calibri" pitchFamily="34" charset="-122"/>
                <a:cs typeface="Calibri" pitchFamily="34" charset="-120"/>
              </a:rPr>
              <a:t>OWNERSHIP</a:t>
            </a:r>
            <a:endParaRPr lang="en-US" sz="1300" dirty="0"/>
          </a:p>
        </p:txBody>
      </p:sp>
      <p:sp>
        <p:nvSpPr>
          <p:cNvPr id="5" name="Text 3"/>
          <p:cNvSpPr txBox="1"/>
          <p:nvPr/>
        </p:nvSpPr>
        <p:spPr>
          <a:xfrm>
            <a:off x="548640" y="621792"/>
            <a:ext cx="10515600" cy="64008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Individual Contribution</a:t>
            </a:r>
            <a:endParaRPr lang="en-US" sz="3000" dirty="0"/>
          </a:p>
        </p:txBody>
      </p:sp>
      <p:sp>
        <p:nvSpPr>
          <p:cNvPr id="6" name="Shape 4"/>
          <p:cNvSpPr/>
          <p:nvPr/>
        </p:nvSpPr>
        <p:spPr>
          <a:xfrm>
            <a:off x="548640" y="1554480"/>
            <a:ext cx="11064240" cy="502920"/>
          </a:xfrm>
          <a:prstGeom prst="roundRect">
            <a:avLst>
              <a:gd name="adj" fmla="val 9091"/>
            </a:avLst>
          </a:prstGeom>
          <a:solidFill>
            <a:srgbClr val="FDECEA"/>
          </a:solidFill>
          <a:ln w="12700">
            <a:solidFill>
              <a:srgbClr val="C0392B"/>
            </a:solidFill>
            <a:prstDash val="solid"/>
          </a:ln>
        </p:spPr>
      </p:sp>
      <p:sp>
        <p:nvSpPr>
          <p:cNvPr id="7" name="Text 5"/>
          <p:cNvSpPr txBox="1"/>
          <p:nvPr/>
        </p:nvSpPr>
        <p:spPr>
          <a:xfrm>
            <a:off x="685800" y="1554480"/>
            <a:ext cx="10789920" cy="5029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  Replace with your real name(s) and a specific, honest breakdown of who did what.</a:t>
            </a:r>
            <a:endParaRPr lang="en-US" sz="1250" dirty="0"/>
          </a:p>
        </p:txBody>
      </p:sp>
      <p:sp>
        <p:nvSpPr>
          <p:cNvPr id="8" name="Shape 6"/>
          <p:cNvSpPr/>
          <p:nvPr/>
        </p:nvSpPr>
        <p:spPr>
          <a:xfrm>
            <a:off x="548640" y="2240280"/>
            <a:ext cx="11064240" cy="2926080"/>
          </a:xfrm>
          <a:prstGeom prst="roundRect">
            <a:avLst>
              <a:gd name="adj" fmla="val 2188"/>
            </a:avLst>
          </a:prstGeom>
          <a:solidFill>
            <a:srgbClr val="FFFFFF"/>
          </a:solidFill>
          <a:ln/>
          <a:effectLst>
            <a:outerShdw sx="100000" sy="100000" kx="0" ky="0" algn="bl" rotWithShape="0" blurRad="76200" dist="25400" dir="5400000">
              <a:srgbClr val="9AA3C2">
                <a:alpha val="30000"/>
              </a:srgbClr>
            </a:outerShdw>
          </a:effectLst>
        </p:spPr>
      </p:sp>
      <p:sp>
        <p:nvSpPr>
          <p:cNvPr id="9" name="Text 7"/>
          <p:cNvSpPr txBox="1"/>
          <p:nvPr/>
        </p:nvSpPr>
        <p:spPr>
          <a:xfrm>
            <a:off x="868680" y="2468880"/>
            <a:ext cx="10424160" cy="2468880"/>
          </a:xfrm>
          <a:prstGeom prst="rect">
            <a:avLst/>
          </a:prstGeom>
          <a:noFill/>
          <a:ln/>
        </p:spPr>
        <p:txBody>
          <a:bodyPr wrap="square" lIns="0" tIns="0" rIns="0" bIns="0" rtlCol="0" anchor="ctr"/>
          <a:lstStyle/>
          <a:p>
            <a:pPr indent="0" marL="0">
              <a:buNone/>
            </a:pPr>
            <a:r>
              <a:rPr lang="en-US" sz="1600" b="1" dirty="0">
                <a:solidFill>
                  <a:srgbClr val="1A1D29"/>
                </a:solidFill>
                <a:latin typeface="Calibri" pitchFamily="34" charset="0"/>
                <a:ea typeface="Calibri" pitchFamily="34" charset="-122"/>
                <a:cs typeface="Calibri" pitchFamily="34" charset="-120"/>
              </a:rPr>
              <a:t>[Your Name]
</a:t>
            </a:r>
            <a:endParaRPr lang="en-US" sz="1600" dirty="0"/>
          </a:p>
          <a:p>
            <a:pPr indent="0" marL="0">
              <a:buNone/>
            </a:pPr>
            <a:r>
              <a:rPr lang="en-US" sz="1300" i="1" dirty="0">
                <a:solidFill>
                  <a:srgbClr val="C0392B"/>
                </a:solidFill>
                <a:latin typeface="Calibri" pitchFamily="34" charset="0"/>
                <a:ea typeface="Calibri" pitchFamily="34" charset="-122"/>
                <a:cs typeface="Calibri" pitchFamily="34" charset="-120"/>
              </a:rPr>
              <a:t>[Describe exactly which phases/modules you personally designed, implemented, and tested — e.g. “Designed and implemented Phases 1–5: video ingestion, transcription, chunking, embeddings, vector search, RAG, and visual search, including all automated tests.”]</a:t>
            </a:r>
            <a:endParaRPr lang="en-US" sz="1600" dirty="0"/>
          </a:p>
        </p:txBody>
      </p:sp>
      <p:sp>
        <p:nvSpPr>
          <p:cNvPr id="10" name="Text 8"/>
          <p:cNvSpPr txBox="1"/>
          <p:nvPr/>
        </p:nvSpPr>
        <p:spPr>
          <a:xfrm>
            <a:off x="11658600" y="6473952"/>
            <a:ext cx="457200" cy="274320"/>
          </a:xfrm>
          <a:prstGeom prst="rect">
            <a:avLst/>
          </a:prstGeom>
          <a:noFill/>
          <a:ln/>
        </p:spPr>
        <p:txBody>
          <a:bodyPr wrap="square" lIns="0" tIns="0" rIns="0" bIns="0" rtlCol="0" anchor="ctr"/>
          <a:lstStyle/>
          <a:p>
            <a:pPr algn="r" indent="0" marL="0">
              <a:buNone/>
            </a:pPr>
            <a:r>
              <a:rPr lang="en-US" sz="1000" dirty="0">
                <a:solidFill>
                  <a:srgbClr val="5B60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3A"/>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B2050"/>
          </a:solidFill>
          <a:ln/>
        </p:spPr>
      </p:sp>
      <p:sp>
        <p:nvSpPr>
          <p:cNvPr id="3" name="Shape 1"/>
          <p:cNvSpPr/>
          <p:nvPr/>
        </p:nvSpPr>
        <p:spPr>
          <a:xfrm>
            <a:off x="8686800" y="3657600"/>
            <a:ext cx="4572000" cy="4572000"/>
          </a:xfrm>
          <a:prstGeom prst="ellipse">
            <a:avLst/>
          </a:prstGeom>
          <a:solidFill>
            <a:srgbClr val="1B2050"/>
          </a:solidFill>
          <a:ln/>
        </p:spPr>
      </p:sp>
      <p:sp>
        <p:nvSpPr>
          <p:cNvPr id="4" name="Text 2"/>
          <p:cNvSpPr txBox="1"/>
          <p:nvPr/>
        </p:nvSpPr>
        <p:spPr>
          <a:xfrm>
            <a:off x="822960" y="246888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txBox="1"/>
          <p:nvPr/>
        </p:nvSpPr>
        <p:spPr>
          <a:xfrm>
            <a:off x="868680" y="3337560"/>
            <a:ext cx="9144000" cy="502920"/>
          </a:xfrm>
          <a:prstGeom prst="rect">
            <a:avLst/>
          </a:prstGeom>
          <a:noFill/>
          <a:ln/>
        </p:spPr>
        <p:txBody>
          <a:bodyPr wrap="square" lIns="0" tIns="0" rIns="0" bIns="0" rtlCol="0" anchor="ctr"/>
          <a:lstStyle/>
          <a:p>
            <a:pPr indent="0" marL="0">
              <a:buNone/>
            </a:pPr>
            <a:r>
              <a:rPr lang="en-US" sz="2000" dirty="0">
                <a:solidFill>
                  <a:srgbClr val="C7D0F5"/>
                </a:solidFill>
                <a:latin typeface="Calibri" pitchFamily="34" charset="0"/>
                <a:ea typeface="Calibri" pitchFamily="34" charset="-122"/>
                <a:cs typeface="Calibri" pitchFamily="34" charset="-120"/>
              </a:rPr>
              <a:t>Questions &amp; Discussion</a:t>
            </a:r>
            <a:endParaRPr lang="en-US" sz="2000" dirty="0"/>
          </a:p>
        </p:txBody>
      </p:sp>
      <p:sp>
        <p:nvSpPr>
          <p:cNvPr id="6" name="Text 4"/>
          <p:cNvSpPr txBox="1"/>
          <p:nvPr/>
        </p:nvSpPr>
        <p:spPr>
          <a:xfrm>
            <a:off x="868680" y="3977640"/>
            <a:ext cx="9144000" cy="365760"/>
          </a:xfrm>
          <a:prstGeom prst="rect">
            <a:avLst/>
          </a:prstGeom>
          <a:noFill/>
          <a:ln/>
        </p:spPr>
        <p:txBody>
          <a:bodyPr wrap="square" lIns="0" tIns="0" rIns="0" bIns="0" rtlCol="0" anchor="ctr"/>
          <a:lstStyle/>
          <a:p>
            <a:pPr indent="0" marL="0">
              <a:buNone/>
            </a:pPr>
            <a:r>
              <a:rPr lang="en-US" sz="1300" dirty="0">
                <a:solidFill>
                  <a:srgbClr val="8891C4"/>
                </a:solidFill>
                <a:latin typeface="Calibri" pitchFamily="34" charset="0"/>
                <a:ea typeface="Calibri" pitchFamily="34" charset="-122"/>
                <a:cs typeface="Calibri" pitchFamily="34" charset="-120"/>
              </a:rPr>
              <a:t>VidSense AI  ·  Phases 1–5 complete and verified  ·  Phase 6 in progress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VidSense AI Project</dc:creator>
  <cp:lastModifiedBy>VidSense AI Project</cp:lastModifiedBy>
  <cp:revision>1</cp:revision>
  <dcterms:created xsi:type="dcterms:W3CDTF">2026-09-16T05:09:30Z</dcterms:created>
  <dcterms:modified xsi:type="dcterms:W3CDTF">2026-09-16T05:09:30Z</dcterms:modified>
</cp:coreProperties>
</file>